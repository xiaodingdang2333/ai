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pic>
        <p:nvPicPr>
          <p:cNvPr id="3" name="Picture 2" descr="image.jpg"/>
          <p:cNvPicPr>
            <a:picLocks noChangeAspect="1"/>
          </p:cNvPicPr>
          <p:nvPr/>
        </p:nvPicPr>
        <p:blipFill>
          <a:blip r:embed="rId3"/>
          <a:stretch>
            <a:fillRect/>
          </a:stretch>
        </p:blipFill>
        <p:spPr>
          <a:xfrm>
            <a:off x="0" y="0"/>
            <a:ext cx="12192000" cy="6858000"/>
          </a:xfrm>
          <a:prstGeom prst="rect">
            <a:avLst/>
          </a:prstGeom>
        </p:spPr>
      </p:pic>
      <p:pic>
        <p:nvPicPr>
          <p:cNvPr id="4" name="Picture 3" descr="image.jpg"/>
          <p:cNvPicPr>
            <a:picLocks noChangeAspect="1"/>
          </p:cNvPicPr>
          <p:nvPr/>
        </p:nvPicPr>
        <p:blipFill>
          <a:blip r:embed="rId4"/>
          <a:stretch>
            <a:fillRect/>
          </a:stretch>
        </p:blipFill>
        <p:spPr>
          <a:xfrm>
            <a:off x="9610343" y="230124"/>
            <a:ext cx="2581656" cy="557783"/>
          </a:xfrm>
          <a:prstGeom prst="rect">
            <a:avLst/>
          </a:prstGeom>
        </p:spPr>
      </p:pic>
      <p:pic>
        <p:nvPicPr>
          <p:cNvPr id="5" name="Picture 4" descr="image.jpg"/>
          <p:cNvPicPr>
            <a:picLocks noChangeAspect="1"/>
          </p:cNvPicPr>
          <p:nvPr/>
        </p:nvPicPr>
        <p:blipFill>
          <a:blip r:embed="rId5"/>
          <a:stretch>
            <a:fillRect/>
          </a:stretch>
        </p:blipFill>
        <p:spPr>
          <a:xfrm>
            <a:off x="10378440" y="384048"/>
            <a:ext cx="1559052" cy="251459"/>
          </a:xfrm>
          <a:prstGeom prst="rect">
            <a:avLst/>
          </a:prstGeom>
        </p:spPr>
      </p:pic>
      <p:sp>
        <p:nvSpPr>
          <p:cNvPr id="6" name="TextBox 5"/>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1</a:t>
            </a:r>
          </a:p>
        </p:txBody>
      </p:sp>
      <p:sp>
        <p:nvSpPr>
          <p:cNvPr id="7" name="TextBox 6"/>
          <p:cNvSpPr txBox="1"/>
          <p:nvPr/>
        </p:nvSpPr>
        <p:spPr>
          <a:xfrm>
            <a:off x="1421764" y="2366213"/>
            <a:ext cx="9397365" cy="899566"/>
          </a:xfrm>
          <a:prstGeom prst="rect">
            <a:avLst/>
          </a:prstGeom>
          <a:noFill/>
        </p:spPr>
        <p:txBody>
          <a:bodyPr wrap="none" lIns="0" rIns="0" tIns="0" bIns="0">
            <a:spAutoFit/>
          </a:bodyPr>
          <a:lstStyle/>
          <a:p>
            <a:pPr>
              <a:lnSpc>
                <a:spcPct val="100000"/>
              </a:lnSpc>
              <a:spcBef>
                <a:spcPts val="0"/>
              </a:spcBef>
              <a:spcAft>
                <a:spcPts val="0"/>
              </a:spcAft>
            </a:pPr>
            <a:r>
              <a:rPr sz="4800" b="1" i="0">
                <a:solidFill>
                  <a:srgbClr val="008CFF"/>
                </a:solidFill>
                <a:latin typeface="Microsoft YaHei"/>
              </a:rPr>
              <a:t>千里眼</a:t>
            </a:r>
            <a:r>
              <a:rPr sz="4800" b="1" i="0">
                <a:solidFill>
                  <a:srgbClr val="008CFF"/>
                </a:solidFill>
                <a:latin typeface="Microsoft YaHei"/>
              </a:rPr>
              <a:t>DICT</a:t>
            </a:r>
            <a:r>
              <a:rPr sz="4800" b="1" i="0">
                <a:solidFill>
                  <a:srgbClr val="008CFF"/>
                </a:solidFill>
                <a:latin typeface="Microsoft YaHei"/>
              </a:rPr>
              <a:t>集成服务细化管理方案</a:t>
            </a:r>
          </a:p>
        </p:txBody>
      </p:sp>
      <p:sp>
        <p:nvSpPr>
          <p:cNvPr id="8" name="TextBox 7"/>
          <p:cNvSpPr txBox="1"/>
          <p:nvPr/>
        </p:nvSpPr>
        <p:spPr>
          <a:xfrm>
            <a:off x="4512462" y="4839577"/>
            <a:ext cx="3489373" cy="372467"/>
          </a:xfrm>
          <a:prstGeom prst="rect">
            <a:avLst/>
          </a:prstGeom>
          <a:noFill/>
        </p:spPr>
        <p:txBody>
          <a:bodyPr wrap="none" lIns="0" rIns="0" tIns="0" bIns="0">
            <a:spAutoFit/>
          </a:bodyPr>
          <a:lstStyle/>
          <a:p>
            <a:pPr>
              <a:lnSpc>
                <a:spcPct val="100000"/>
              </a:lnSpc>
              <a:spcBef>
                <a:spcPts val="0"/>
              </a:spcBef>
              <a:spcAft>
                <a:spcPts val="0"/>
              </a:spcAft>
            </a:pPr>
            <a:r>
              <a:rPr sz="2005" b="0" i="0">
                <a:solidFill>
                  <a:srgbClr val="008CFF"/>
                </a:solidFill>
                <a:latin typeface="Microsoft YaHei"/>
              </a:rPr>
              <a:t>市场运营部</a:t>
            </a:r>
            <a:r>
              <a:rPr sz="2005" b="0" i="0">
                <a:solidFill>
                  <a:srgbClr val="008CFF"/>
                </a:solidFill>
                <a:latin typeface="Microsoft YaHei"/>
              </a:rPr>
              <a:t>|</a:t>
            </a:r>
            <a:r>
              <a:rPr sz="2005" b="0" i="0">
                <a:solidFill>
                  <a:srgbClr val="008CFF"/>
                </a:solidFill>
                <a:latin typeface="Microsoft YaHei"/>
              </a:rPr>
              <a:t>视频物联网产品部</a:t>
            </a:r>
            <a:r>
              <a:rPr sz="2005" b="0" i="0">
                <a:solidFill>
                  <a:srgbClr val="008CFF"/>
                </a:solidFill>
                <a:latin typeface="Microsoft YaHei"/>
              </a:rPr>
              <a:t> </a:t>
            </a:r>
          </a:p>
        </p:txBody>
      </p:sp>
      <p:sp>
        <p:nvSpPr>
          <p:cNvPr id="9" name="TextBox 8"/>
          <p:cNvSpPr txBox="1"/>
          <p:nvPr/>
        </p:nvSpPr>
        <p:spPr>
          <a:xfrm>
            <a:off x="5590057" y="5235817"/>
            <a:ext cx="1264284" cy="372467"/>
          </a:xfrm>
          <a:prstGeom prst="rect">
            <a:avLst/>
          </a:prstGeom>
          <a:noFill/>
        </p:spPr>
        <p:txBody>
          <a:bodyPr wrap="none" lIns="0" rIns="0" tIns="0" bIns="0">
            <a:spAutoFit/>
          </a:bodyPr>
          <a:lstStyle/>
          <a:p>
            <a:pPr>
              <a:lnSpc>
                <a:spcPct val="100000"/>
              </a:lnSpc>
              <a:spcBef>
                <a:spcPts val="0"/>
              </a:spcBef>
              <a:spcAft>
                <a:spcPts val="0"/>
              </a:spcAft>
            </a:pPr>
            <a:r>
              <a:rPr sz="2005" b="0" i="0">
                <a:solidFill>
                  <a:srgbClr val="008CFF"/>
                </a:solidFill>
                <a:latin typeface="Microsoft YaHei"/>
              </a:rPr>
              <a:t>2026</a:t>
            </a:r>
            <a:r>
              <a:rPr sz="2005" b="0" i="0">
                <a:solidFill>
                  <a:srgbClr val="008CFF"/>
                </a:solidFill>
                <a:latin typeface="Microsoft YaHei"/>
              </a:rPr>
              <a:t>年</a:t>
            </a:r>
            <a:r>
              <a:rPr sz="2005" b="0" i="0">
                <a:solidFill>
                  <a:srgbClr val="008CFF"/>
                </a:solidFill>
                <a:latin typeface="Microsoft YaHei"/>
              </a:rPr>
              <a:t>5</a:t>
            </a:r>
            <a:r>
              <a:rPr sz="2005" b="0" i="0">
                <a:solidFill>
                  <a:srgbClr val="008CFF"/>
                </a:solidFill>
                <a:latin typeface="Microsoft YaHei"/>
              </a:rPr>
              <a:t>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465810" y="2954782"/>
            <a:ext cx="635000" cy="0"/>
          </a:xfrm>
          <a:prstGeom prst="line">
            <a:avLst/>
          </a:prstGeom>
          <a:ln w="6095">
            <a:solidFill>
              <a:srgbClr val="008CF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65810" y="4825568"/>
            <a:ext cx="635000" cy="0"/>
          </a:xfrm>
          <a:prstGeom prst="line">
            <a:avLst/>
          </a:prstGeom>
          <a:ln w="6095">
            <a:solidFill>
              <a:srgbClr val="008CFF"/>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121082" y="1728012"/>
            <a:ext cx="5829935" cy="37550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33997" y="1722437"/>
            <a:ext cx="5829935" cy="376621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48383" y="1616963"/>
            <a:ext cx="2985516" cy="2453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48956" y="1616963"/>
            <a:ext cx="2985516" cy="2453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56940" y="2410460"/>
            <a:ext cx="2390140"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56940" y="2608579"/>
            <a:ext cx="2390140"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50590" y="2416810"/>
            <a:ext cx="12700" cy="13868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34484" y="2416810"/>
            <a:ext cx="12700" cy="13868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40729" y="2416810"/>
            <a:ext cx="12700" cy="13868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6940" y="3797300"/>
            <a:ext cx="2390140"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40834" y="2806700"/>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40834" y="3004820"/>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40834" y="320293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40834" y="340105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40834" y="359917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58514" y="4403178"/>
            <a:ext cx="239013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58514" y="4601298"/>
            <a:ext cx="239013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52164" y="4409528"/>
            <a:ext cx="12700" cy="99059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36059" y="4409528"/>
            <a:ext cx="12700" cy="99059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42304" y="4409528"/>
            <a:ext cx="12700" cy="99059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58514" y="5393778"/>
            <a:ext cx="239013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42409" y="479941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42409" y="4997538"/>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42409" y="5195658"/>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0933" y="3901808"/>
            <a:ext cx="5516879" cy="762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jpg"/>
          <p:cNvPicPr>
            <a:picLocks noChangeAspect="1"/>
          </p:cNvPicPr>
          <p:nvPr/>
        </p:nvPicPr>
        <p:blipFill>
          <a:blip r:embed="rId2"/>
          <a:stretch>
            <a:fillRect/>
          </a:stretch>
        </p:blipFill>
        <p:spPr>
          <a:xfrm>
            <a:off x="0" y="0"/>
            <a:ext cx="12192000" cy="6858000"/>
          </a:xfrm>
          <a:prstGeom prst="rect">
            <a:avLst/>
          </a:prstGeom>
        </p:spPr>
      </p:pic>
      <p:pic>
        <p:nvPicPr>
          <p:cNvPr id="31" name="Picture 30" descr="image.jpg"/>
          <p:cNvPicPr>
            <a:picLocks noChangeAspect="1"/>
          </p:cNvPicPr>
          <p:nvPr/>
        </p:nvPicPr>
        <p:blipFill>
          <a:blip r:embed="rId3"/>
          <a:stretch>
            <a:fillRect/>
          </a:stretch>
        </p:blipFill>
        <p:spPr>
          <a:xfrm>
            <a:off x="126492" y="277368"/>
            <a:ext cx="341376" cy="467868"/>
          </a:xfrm>
          <a:prstGeom prst="rect">
            <a:avLst/>
          </a:prstGeom>
        </p:spPr>
      </p:pic>
      <p:pic>
        <p:nvPicPr>
          <p:cNvPr id="32" name="Picture 31" descr="image.jpg"/>
          <p:cNvPicPr>
            <a:picLocks noChangeAspect="1"/>
          </p:cNvPicPr>
          <p:nvPr/>
        </p:nvPicPr>
        <p:blipFill>
          <a:blip r:embed="rId4"/>
          <a:stretch>
            <a:fillRect/>
          </a:stretch>
        </p:blipFill>
        <p:spPr>
          <a:xfrm>
            <a:off x="9610343" y="230124"/>
            <a:ext cx="2581656" cy="557783"/>
          </a:xfrm>
          <a:prstGeom prst="rect">
            <a:avLst/>
          </a:prstGeom>
        </p:spPr>
      </p:pic>
      <p:pic>
        <p:nvPicPr>
          <p:cNvPr id="33" name="Picture 32" descr="image.jpg"/>
          <p:cNvPicPr>
            <a:picLocks noChangeAspect="1"/>
          </p:cNvPicPr>
          <p:nvPr/>
        </p:nvPicPr>
        <p:blipFill>
          <a:blip r:embed="rId5"/>
          <a:stretch>
            <a:fillRect/>
          </a:stretch>
        </p:blipFill>
        <p:spPr>
          <a:xfrm>
            <a:off x="10216895" y="365759"/>
            <a:ext cx="1784604" cy="288036"/>
          </a:xfrm>
          <a:prstGeom prst="rect">
            <a:avLst/>
          </a:prstGeom>
        </p:spPr>
      </p:pic>
      <p:sp>
        <p:nvSpPr>
          <p:cNvPr id="34" name="TextBox 33"/>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2</a:t>
            </a:r>
          </a:p>
        </p:txBody>
      </p:sp>
      <p:sp>
        <p:nvSpPr>
          <p:cNvPr id="35" name="TextBox 34"/>
          <p:cNvSpPr txBox="1"/>
          <p:nvPr/>
        </p:nvSpPr>
        <p:spPr>
          <a:xfrm>
            <a:off x="706285" y="319647"/>
            <a:ext cx="6401422"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一、服务包分类管理，产品部门与产创中心按需规划建设</a:t>
            </a:r>
          </a:p>
        </p:txBody>
      </p:sp>
      <p:sp>
        <p:nvSpPr>
          <p:cNvPr id="36" name="TextBox 35"/>
          <p:cNvSpPr txBox="1"/>
          <p:nvPr/>
        </p:nvSpPr>
        <p:spPr>
          <a:xfrm>
            <a:off x="330200" y="941642"/>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37" name="TextBox 36"/>
          <p:cNvSpPr txBox="1"/>
          <p:nvPr/>
        </p:nvSpPr>
        <p:spPr>
          <a:xfrm>
            <a:off x="582294" y="938251"/>
            <a:ext cx="98304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公司内部对服务包细化管理，分成</a:t>
            </a:r>
            <a:r>
              <a:rPr sz="1405" b="1" i="0">
                <a:solidFill>
                  <a:srgbClr val="C00000"/>
                </a:solidFill>
                <a:latin typeface="Microsoft YaHei"/>
              </a:rPr>
              <a:t>“产品定制类”和“集成装维类”两类</a:t>
            </a:r>
            <a:r>
              <a:rPr sz="1405" b="1" i="0">
                <a:solidFill>
                  <a:srgbClr val="008CFF"/>
                </a:solidFill>
                <a:latin typeface="Microsoft YaHei"/>
              </a:rPr>
              <a:t>，由各产品部门、产创中心共同参与服务包立项建设</a:t>
            </a:r>
          </a:p>
        </p:txBody>
      </p:sp>
      <p:sp>
        <p:nvSpPr>
          <p:cNvPr id="38" name="TextBox 37"/>
          <p:cNvSpPr txBox="1"/>
          <p:nvPr/>
        </p:nvSpPr>
        <p:spPr>
          <a:xfrm>
            <a:off x="330200" y="1261682"/>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C00000"/>
                </a:solidFill>
                <a:latin typeface="Microsoft YaHei"/>
              </a:rPr>
              <a:t>•</a:t>
            </a:r>
          </a:p>
        </p:txBody>
      </p:sp>
      <p:sp>
        <p:nvSpPr>
          <p:cNvPr id="39" name="TextBox 38"/>
          <p:cNvSpPr txBox="1"/>
          <p:nvPr/>
        </p:nvSpPr>
        <p:spPr>
          <a:xfrm>
            <a:off x="582294" y="1258291"/>
            <a:ext cx="114306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C00000"/>
                </a:solidFill>
                <a:latin typeface="Microsoft YaHei"/>
              </a:rPr>
              <a:t>“产品定制类”</a:t>
            </a:r>
            <a:r>
              <a:rPr sz="1405" b="1" i="0">
                <a:solidFill>
                  <a:srgbClr val="008CFF"/>
                </a:solidFill>
                <a:latin typeface="Microsoft YaHei"/>
              </a:rPr>
              <a:t>服务包明确场景、明确应用，按行业产品功能形态、应用场景分类设计资费条目；</a:t>
            </a:r>
            <a:r>
              <a:rPr sz="1405" b="1" i="0">
                <a:solidFill>
                  <a:srgbClr val="C00000"/>
                </a:solidFill>
                <a:latin typeface="Microsoft YaHei"/>
              </a:rPr>
              <a:t>“集成装维类”服务包继续使用通用性资费条目</a:t>
            </a:r>
          </a:p>
        </p:txBody>
      </p:sp>
      <p:sp>
        <p:nvSpPr>
          <p:cNvPr id="40" name="TextBox 39"/>
          <p:cNvSpPr txBox="1"/>
          <p:nvPr/>
        </p:nvSpPr>
        <p:spPr>
          <a:xfrm>
            <a:off x="1369060" y="2492905"/>
            <a:ext cx="886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1、自研类产品</a:t>
            </a:r>
          </a:p>
        </p:txBody>
      </p:sp>
      <p:sp>
        <p:nvSpPr>
          <p:cNvPr id="41" name="TextBox 40"/>
          <p:cNvSpPr txBox="1"/>
          <p:nvPr/>
        </p:nvSpPr>
        <p:spPr>
          <a:xfrm>
            <a:off x="1369060" y="2721505"/>
            <a:ext cx="1013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2、融能生态产品</a:t>
            </a:r>
          </a:p>
        </p:txBody>
      </p:sp>
      <p:sp>
        <p:nvSpPr>
          <p:cNvPr id="42" name="TextBox 41"/>
          <p:cNvSpPr txBox="1"/>
          <p:nvPr/>
        </p:nvSpPr>
        <p:spPr>
          <a:xfrm>
            <a:off x="1369060" y="2950105"/>
            <a:ext cx="1648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3、行业场景化标准方案产品</a:t>
            </a:r>
          </a:p>
        </p:txBody>
      </p:sp>
      <p:sp>
        <p:nvSpPr>
          <p:cNvPr id="43" name="TextBox 42"/>
          <p:cNvSpPr txBox="1"/>
          <p:nvPr/>
        </p:nvSpPr>
        <p:spPr>
          <a:xfrm>
            <a:off x="1369060" y="3178705"/>
            <a:ext cx="195643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4、主流行业云化/入驻式标杆项目</a:t>
            </a:r>
          </a:p>
        </p:txBody>
      </p:sp>
      <p:sp>
        <p:nvSpPr>
          <p:cNvPr id="44" name="TextBox 43"/>
          <p:cNvSpPr txBox="1"/>
          <p:nvPr/>
        </p:nvSpPr>
        <p:spPr>
          <a:xfrm>
            <a:off x="1368425" y="4359170"/>
            <a:ext cx="1394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1、属地化简单集成项目</a:t>
            </a:r>
          </a:p>
        </p:txBody>
      </p:sp>
      <p:sp>
        <p:nvSpPr>
          <p:cNvPr id="45" name="TextBox 44"/>
          <p:cNvSpPr txBox="1"/>
          <p:nvPr/>
        </p:nvSpPr>
        <p:spPr>
          <a:xfrm>
            <a:off x="1368425" y="4587770"/>
            <a:ext cx="1267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2、属地化运维类项目</a:t>
            </a:r>
          </a:p>
        </p:txBody>
      </p:sp>
      <p:sp>
        <p:nvSpPr>
          <p:cNvPr id="46" name="TextBox 45"/>
          <p:cNvSpPr txBox="1"/>
          <p:nvPr/>
        </p:nvSpPr>
        <p:spPr>
          <a:xfrm>
            <a:off x="1368425" y="4816370"/>
            <a:ext cx="1267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3、属地化装维类项目</a:t>
            </a:r>
          </a:p>
        </p:txBody>
      </p:sp>
      <p:sp>
        <p:nvSpPr>
          <p:cNvPr id="47" name="TextBox 46"/>
          <p:cNvSpPr txBox="1"/>
          <p:nvPr/>
        </p:nvSpPr>
        <p:spPr>
          <a:xfrm>
            <a:off x="1368425" y="5044970"/>
            <a:ext cx="1648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4、属地化简单定制开发项目</a:t>
            </a:r>
          </a:p>
        </p:txBody>
      </p:sp>
      <p:sp>
        <p:nvSpPr>
          <p:cNvPr id="48" name="TextBox 47"/>
          <p:cNvSpPr txBox="1"/>
          <p:nvPr/>
        </p:nvSpPr>
        <p:spPr>
          <a:xfrm>
            <a:off x="465810" y="2784257"/>
            <a:ext cx="685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产品定制类</a:t>
            </a:r>
          </a:p>
        </p:txBody>
      </p:sp>
      <p:sp>
        <p:nvSpPr>
          <p:cNvPr id="49" name="TextBox 48"/>
          <p:cNvSpPr txBox="1"/>
          <p:nvPr/>
        </p:nvSpPr>
        <p:spPr>
          <a:xfrm>
            <a:off x="465810" y="4655044"/>
            <a:ext cx="685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集成装维类</a:t>
            </a:r>
          </a:p>
        </p:txBody>
      </p:sp>
      <p:sp>
        <p:nvSpPr>
          <p:cNvPr id="50" name="TextBox 49"/>
          <p:cNvSpPr txBox="1"/>
          <p:nvPr/>
        </p:nvSpPr>
        <p:spPr>
          <a:xfrm>
            <a:off x="2506992" y="1617230"/>
            <a:ext cx="111760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FFFFFF"/>
                </a:solidFill>
                <a:latin typeface="Microsoft YaHei"/>
              </a:rPr>
              <a:t>服务包分类发展</a:t>
            </a:r>
          </a:p>
        </p:txBody>
      </p:sp>
      <p:sp>
        <p:nvSpPr>
          <p:cNvPr id="51" name="TextBox 50"/>
          <p:cNvSpPr txBox="1"/>
          <p:nvPr/>
        </p:nvSpPr>
        <p:spPr>
          <a:xfrm>
            <a:off x="8455126" y="1617230"/>
            <a:ext cx="142240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FFFFFF"/>
                </a:solidFill>
                <a:latin typeface="Microsoft YaHei"/>
              </a:rPr>
              <a:t>服务包业务融能标准</a:t>
            </a:r>
          </a:p>
        </p:txBody>
      </p:sp>
      <p:sp>
        <p:nvSpPr>
          <p:cNvPr id="52" name="TextBox 51"/>
          <p:cNvSpPr txBox="1"/>
          <p:nvPr/>
        </p:nvSpPr>
        <p:spPr>
          <a:xfrm>
            <a:off x="276161" y="5782551"/>
            <a:ext cx="9061449" cy="2360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C00000"/>
                </a:solidFill>
                <a:latin typeface="Microsoft YaHei"/>
              </a:rPr>
              <a:t>•</a:t>
            </a:r>
            <a:r>
              <a:rPr sz="1200" b="1" i="0">
                <a:solidFill>
                  <a:srgbClr val="C00000"/>
                </a:solidFill>
                <a:latin typeface="Microsoft YaHei"/>
              </a:rPr>
              <a:t> </a:t>
            </a:r>
            <a:r>
              <a:rPr sz="1200" b="1" i="0">
                <a:solidFill>
                  <a:srgbClr val="C00000"/>
                </a:solidFill>
                <a:latin typeface="Microsoft YaHei"/>
              </a:rPr>
              <a:t>产品部门</a:t>
            </a:r>
            <a:r>
              <a:rPr sz="1200" b="1" i="0">
                <a:solidFill>
                  <a:srgbClr val="008CFF"/>
                </a:solidFill>
                <a:latin typeface="Microsoft YaHei"/>
              </a:rPr>
              <a:t>主要</a:t>
            </a:r>
            <a:r>
              <a:rPr sz="1200" b="1" i="0">
                <a:solidFill>
                  <a:srgbClr val="C00000"/>
                </a:solidFill>
                <a:latin typeface="Microsoft YaHei"/>
              </a:rPr>
              <a:t>发展“产品定制类”服务包，</a:t>
            </a:r>
            <a:r>
              <a:rPr sz="1200" b="1" i="0">
                <a:solidFill>
                  <a:srgbClr val="008CFF"/>
                </a:solidFill>
                <a:latin typeface="Microsoft YaHei"/>
              </a:rPr>
              <a:t>打造符合融能规范的标准化产品，按需通过“集成装维类”服务包支撑装维、集成类项目</a:t>
            </a:r>
          </a:p>
        </p:txBody>
      </p:sp>
      <p:sp>
        <p:nvSpPr>
          <p:cNvPr id="53" name="TextBox 52"/>
          <p:cNvSpPr txBox="1"/>
          <p:nvPr/>
        </p:nvSpPr>
        <p:spPr>
          <a:xfrm>
            <a:off x="276161" y="6056871"/>
            <a:ext cx="6927849" cy="2360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C00000"/>
                </a:solidFill>
                <a:latin typeface="Microsoft YaHei"/>
              </a:rPr>
              <a:t>•</a:t>
            </a:r>
            <a:r>
              <a:rPr sz="1200" b="1" i="0">
                <a:solidFill>
                  <a:srgbClr val="C00000"/>
                </a:solidFill>
                <a:latin typeface="Microsoft YaHei"/>
              </a:rPr>
              <a:t> </a:t>
            </a:r>
            <a:r>
              <a:rPr sz="1200" b="1" i="0">
                <a:solidFill>
                  <a:srgbClr val="C00000"/>
                </a:solidFill>
                <a:latin typeface="Microsoft YaHei"/>
              </a:rPr>
              <a:t>产创中心仅支持按需规划属地“集成装维类”服务包，</a:t>
            </a:r>
            <a:r>
              <a:rPr sz="1200" b="1" i="0">
                <a:solidFill>
                  <a:srgbClr val="008CFF"/>
                </a:solidFill>
                <a:latin typeface="Microsoft YaHei"/>
              </a:rPr>
              <a:t>支撑交付属地装维、属地简单集成交付的项目</a:t>
            </a:r>
          </a:p>
        </p:txBody>
      </p:sp>
      <p:sp>
        <p:nvSpPr>
          <p:cNvPr id="54" name="TextBox 53"/>
          <p:cNvSpPr txBox="1"/>
          <p:nvPr/>
        </p:nvSpPr>
        <p:spPr>
          <a:xfrm>
            <a:off x="276161" y="6331191"/>
            <a:ext cx="9279255" cy="2360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8CFF"/>
                </a:solidFill>
                <a:latin typeface="Microsoft YaHei"/>
              </a:rPr>
              <a:t>•</a:t>
            </a:r>
            <a:r>
              <a:rPr sz="1200" b="1" i="0">
                <a:solidFill>
                  <a:srgbClr val="008CFF"/>
                </a:solidFill>
                <a:latin typeface="Microsoft YaHei"/>
              </a:rPr>
              <a:t> </a:t>
            </a:r>
            <a:r>
              <a:rPr sz="1200" b="1" i="0">
                <a:solidFill>
                  <a:srgbClr val="008CFF"/>
                </a:solidFill>
                <a:latin typeface="Microsoft YaHei"/>
              </a:rPr>
              <a:t>原则上DICT服务包</a:t>
            </a:r>
            <a:r>
              <a:rPr sz="1200" b="1" i="0">
                <a:solidFill>
                  <a:srgbClr val="C00000"/>
                </a:solidFill>
                <a:latin typeface="Microsoft YaHei"/>
              </a:rPr>
              <a:t>谁规划设计，谁负责</a:t>
            </a:r>
            <a:r>
              <a:rPr sz="1200" b="1" i="0">
                <a:solidFill>
                  <a:srgbClr val="008CFF"/>
                </a:solidFill>
                <a:latin typeface="Microsoft YaHei"/>
              </a:rPr>
              <a:t>；产品线主责部门对全量服务包负管理责任（如：千里眼产品线服务包，视频部均负管理责任）</a:t>
            </a:r>
          </a:p>
        </p:txBody>
      </p:sp>
      <p:sp>
        <p:nvSpPr>
          <p:cNvPr id="55" name="TextBox 54"/>
          <p:cNvSpPr txBox="1"/>
          <p:nvPr/>
        </p:nvSpPr>
        <p:spPr>
          <a:xfrm>
            <a:off x="466356" y="1981490"/>
            <a:ext cx="685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服务包分类</a:t>
            </a:r>
          </a:p>
        </p:txBody>
      </p:sp>
      <p:sp>
        <p:nvSpPr>
          <p:cNvPr id="56" name="TextBox 55"/>
          <p:cNvSpPr txBox="1"/>
          <p:nvPr/>
        </p:nvSpPr>
        <p:spPr>
          <a:xfrm>
            <a:off x="2121916" y="1981490"/>
            <a:ext cx="558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业务范围</a:t>
            </a:r>
          </a:p>
        </p:txBody>
      </p:sp>
      <p:sp>
        <p:nvSpPr>
          <p:cNvPr id="57" name="TextBox 56"/>
          <p:cNvSpPr txBox="1"/>
          <p:nvPr/>
        </p:nvSpPr>
        <p:spPr>
          <a:xfrm>
            <a:off x="4566920" y="1981490"/>
            <a:ext cx="558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资费设计</a:t>
            </a:r>
          </a:p>
        </p:txBody>
      </p:sp>
      <p:sp>
        <p:nvSpPr>
          <p:cNvPr id="58" name="TextBox 57"/>
          <p:cNvSpPr txBox="1"/>
          <p:nvPr/>
        </p:nvSpPr>
        <p:spPr>
          <a:xfrm>
            <a:off x="3665220" y="2443440"/>
            <a:ext cx="316865" cy="1418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服务包</a:t>
            </a:r>
          </a:p>
        </p:txBody>
      </p:sp>
      <p:sp>
        <p:nvSpPr>
          <p:cNvPr id="59" name="TextBox 58"/>
          <p:cNvSpPr txBox="1"/>
          <p:nvPr/>
        </p:nvSpPr>
        <p:spPr>
          <a:xfrm>
            <a:off x="4904740" y="2443440"/>
            <a:ext cx="227965" cy="1418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条目</a:t>
            </a:r>
          </a:p>
        </p:txBody>
      </p:sp>
      <p:sp>
        <p:nvSpPr>
          <p:cNvPr id="60" name="TextBox 59"/>
          <p:cNvSpPr txBox="1"/>
          <p:nvPr/>
        </p:nvSpPr>
        <p:spPr>
          <a:xfrm>
            <a:off x="3620770" y="3138802"/>
            <a:ext cx="4057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a:t>
            </a:r>
          </a:p>
        </p:txBody>
      </p:sp>
      <p:sp>
        <p:nvSpPr>
          <p:cNvPr id="61" name="TextBox 60"/>
          <p:cNvSpPr txBox="1"/>
          <p:nvPr/>
        </p:nvSpPr>
        <p:spPr>
          <a:xfrm>
            <a:off x="4549140" y="2643502"/>
            <a:ext cx="9391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沿街商铺无人看店服务</a:t>
            </a:r>
          </a:p>
        </p:txBody>
      </p:sp>
      <p:sp>
        <p:nvSpPr>
          <p:cNvPr id="62" name="TextBox 61"/>
          <p:cNvSpPr txBox="1"/>
          <p:nvPr/>
        </p:nvSpPr>
        <p:spPr>
          <a:xfrm>
            <a:off x="4549140" y="2841622"/>
            <a:ext cx="9391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沿街商铺安全消防服务</a:t>
            </a:r>
          </a:p>
        </p:txBody>
      </p:sp>
      <p:sp>
        <p:nvSpPr>
          <p:cNvPr id="63" name="TextBox 62"/>
          <p:cNvSpPr txBox="1"/>
          <p:nvPr/>
        </p:nvSpPr>
        <p:spPr>
          <a:xfrm>
            <a:off x="4638040" y="3039742"/>
            <a:ext cx="7613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沿街商铺客流服务</a:t>
            </a:r>
          </a:p>
        </p:txBody>
      </p:sp>
      <p:sp>
        <p:nvSpPr>
          <p:cNvPr id="64" name="TextBox 63"/>
          <p:cNvSpPr txBox="1"/>
          <p:nvPr/>
        </p:nvSpPr>
        <p:spPr>
          <a:xfrm>
            <a:off x="4549140" y="3237862"/>
            <a:ext cx="9391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沿街商铺人脸识别服务</a:t>
            </a:r>
          </a:p>
        </p:txBody>
      </p:sp>
      <p:sp>
        <p:nvSpPr>
          <p:cNvPr id="65" name="TextBox 64"/>
          <p:cNvSpPr txBox="1"/>
          <p:nvPr/>
        </p:nvSpPr>
        <p:spPr>
          <a:xfrm>
            <a:off x="4504690" y="3435982"/>
            <a:ext cx="10280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沿街商铺平台定制化服务</a:t>
            </a:r>
          </a:p>
        </p:txBody>
      </p:sp>
      <p:sp>
        <p:nvSpPr>
          <p:cNvPr id="66" name="TextBox 65"/>
          <p:cNvSpPr txBox="1"/>
          <p:nvPr/>
        </p:nvSpPr>
        <p:spPr>
          <a:xfrm>
            <a:off x="4460240" y="3634102"/>
            <a:ext cx="11169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沿街商铺平台终端接入调试</a:t>
            </a:r>
          </a:p>
        </p:txBody>
      </p:sp>
      <p:sp>
        <p:nvSpPr>
          <p:cNvPr id="67" name="TextBox 66"/>
          <p:cNvSpPr txBox="1"/>
          <p:nvPr/>
        </p:nvSpPr>
        <p:spPr>
          <a:xfrm>
            <a:off x="3666794" y="4436159"/>
            <a:ext cx="316865" cy="1418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服务包</a:t>
            </a:r>
          </a:p>
        </p:txBody>
      </p:sp>
      <p:sp>
        <p:nvSpPr>
          <p:cNvPr id="68" name="TextBox 67"/>
          <p:cNvSpPr txBox="1"/>
          <p:nvPr/>
        </p:nvSpPr>
        <p:spPr>
          <a:xfrm>
            <a:off x="4906314" y="4436159"/>
            <a:ext cx="227965" cy="1418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条目</a:t>
            </a:r>
          </a:p>
        </p:txBody>
      </p:sp>
      <p:sp>
        <p:nvSpPr>
          <p:cNvPr id="69" name="TextBox 68"/>
          <p:cNvSpPr txBox="1"/>
          <p:nvPr/>
        </p:nvSpPr>
        <p:spPr>
          <a:xfrm>
            <a:off x="3577894" y="4880061"/>
            <a:ext cx="4946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a:t>
            </a:r>
          </a:p>
        </p:txBody>
      </p:sp>
      <p:sp>
        <p:nvSpPr>
          <p:cNvPr id="70" name="TextBox 69"/>
          <p:cNvSpPr txBox="1"/>
          <p:nvPr/>
        </p:nvSpPr>
        <p:spPr>
          <a:xfrm>
            <a:off x="4506264" y="4636221"/>
            <a:ext cx="10280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泛视频安防平台入驻部署</a:t>
            </a:r>
          </a:p>
        </p:txBody>
      </p:sp>
      <p:sp>
        <p:nvSpPr>
          <p:cNvPr id="71" name="TextBox 70"/>
          <p:cNvSpPr txBox="1"/>
          <p:nvPr/>
        </p:nvSpPr>
        <p:spPr>
          <a:xfrm>
            <a:off x="4461814" y="4834341"/>
            <a:ext cx="11169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泛视频安防平台的定制开发</a:t>
            </a:r>
          </a:p>
        </p:txBody>
      </p:sp>
      <p:sp>
        <p:nvSpPr>
          <p:cNvPr id="72" name="TextBox 71"/>
          <p:cNvSpPr txBox="1"/>
          <p:nvPr/>
        </p:nvSpPr>
        <p:spPr>
          <a:xfrm>
            <a:off x="4239564" y="5032461"/>
            <a:ext cx="15614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泛视频安防客户侧系统的对接集成开发</a:t>
            </a:r>
          </a:p>
        </p:txBody>
      </p:sp>
      <p:sp>
        <p:nvSpPr>
          <p:cNvPr id="73" name="TextBox 72"/>
          <p:cNvSpPr txBox="1"/>
          <p:nvPr/>
        </p:nvSpPr>
        <p:spPr>
          <a:xfrm>
            <a:off x="4417364" y="5230581"/>
            <a:ext cx="12058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泛视频安防平台终端接入调试</a:t>
            </a:r>
          </a:p>
        </p:txBody>
      </p:sp>
      <p:sp>
        <p:nvSpPr>
          <p:cNvPr id="74" name="TextBox 73"/>
          <p:cNvSpPr txBox="1"/>
          <p:nvPr/>
        </p:nvSpPr>
        <p:spPr>
          <a:xfrm>
            <a:off x="3507104" y="2191514"/>
            <a:ext cx="2489834" cy="157385"/>
          </a:xfrm>
          <a:prstGeom prst="rect">
            <a:avLst/>
          </a:prstGeom>
          <a:noFill/>
        </p:spPr>
        <p:txBody>
          <a:bodyPr wrap="none" lIns="0" rIns="0" tIns="0" bIns="0">
            <a:spAutoFit/>
          </a:bodyPr>
          <a:lstStyle/>
          <a:p>
            <a:pPr>
              <a:lnSpc>
                <a:spcPct val="100000"/>
              </a:lnSpc>
              <a:spcBef>
                <a:spcPts val="0"/>
              </a:spcBef>
              <a:spcAft>
                <a:spcPts val="0"/>
              </a:spcAft>
            </a:pPr>
            <a:r>
              <a:rPr sz="805" b="0" i="0">
                <a:solidFill>
                  <a:srgbClr val="000000"/>
                </a:solidFill>
                <a:latin typeface="Microsoft YaHei"/>
              </a:rPr>
              <a:t>主要按行业产品功能形态、应用场景分类设计资费条目</a:t>
            </a:r>
          </a:p>
        </p:txBody>
      </p:sp>
      <p:sp>
        <p:nvSpPr>
          <p:cNvPr id="75" name="TextBox 74"/>
          <p:cNvSpPr txBox="1"/>
          <p:nvPr/>
        </p:nvSpPr>
        <p:spPr>
          <a:xfrm>
            <a:off x="3555606" y="4201657"/>
            <a:ext cx="1677034" cy="157385"/>
          </a:xfrm>
          <a:prstGeom prst="rect">
            <a:avLst/>
          </a:prstGeom>
          <a:noFill/>
        </p:spPr>
        <p:txBody>
          <a:bodyPr wrap="none" lIns="0" rIns="0" tIns="0" bIns="0">
            <a:spAutoFit/>
          </a:bodyPr>
          <a:lstStyle/>
          <a:p>
            <a:pPr>
              <a:lnSpc>
                <a:spcPct val="100000"/>
              </a:lnSpc>
              <a:spcBef>
                <a:spcPts val="0"/>
              </a:spcBef>
              <a:spcAft>
                <a:spcPts val="0"/>
              </a:spcAft>
            </a:pPr>
            <a:r>
              <a:rPr sz="805" b="0" i="0">
                <a:solidFill>
                  <a:srgbClr val="000000"/>
                </a:solidFill>
                <a:latin typeface="Microsoft YaHei"/>
              </a:rPr>
              <a:t>延用系统集成、部署等通用资费条目</a:t>
            </a:r>
          </a:p>
        </p:txBody>
      </p:sp>
      <p:sp>
        <p:nvSpPr>
          <p:cNvPr id="76" name="TextBox 75"/>
          <p:cNvSpPr txBox="1"/>
          <p:nvPr/>
        </p:nvSpPr>
        <p:spPr>
          <a:xfrm>
            <a:off x="8165465" y="2020774"/>
            <a:ext cx="1993264" cy="2105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008CFF"/>
                </a:solidFill>
                <a:latin typeface="Microsoft YaHei"/>
              </a:rPr>
              <a:t>标准一：标准化服务/DICT项目</a:t>
            </a:r>
          </a:p>
        </p:txBody>
      </p:sp>
      <p:sp>
        <p:nvSpPr>
          <p:cNvPr id="77" name="TextBox 76"/>
          <p:cNvSpPr txBox="1"/>
          <p:nvPr/>
        </p:nvSpPr>
        <p:spPr>
          <a:xfrm>
            <a:off x="6636384" y="2317214"/>
            <a:ext cx="4151573"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1、生态硬件融合 AIoT 平台或自有 SaaS 能力：设备接入率不得低于10%</a:t>
            </a:r>
          </a:p>
        </p:txBody>
      </p:sp>
      <p:sp>
        <p:nvSpPr>
          <p:cNvPr id="78" name="TextBox 77"/>
          <p:cNvSpPr txBox="1"/>
          <p:nvPr/>
        </p:nvSpPr>
        <p:spPr>
          <a:xfrm>
            <a:off x="6636384" y="2545814"/>
            <a:ext cx="2156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2、生态硬件融合自研芯片、模组产品</a:t>
            </a:r>
          </a:p>
        </p:txBody>
      </p:sp>
      <p:sp>
        <p:nvSpPr>
          <p:cNvPr id="79" name="TextBox 78"/>
          <p:cNvSpPr txBox="1"/>
          <p:nvPr/>
        </p:nvSpPr>
        <p:spPr>
          <a:xfrm>
            <a:off x="6636384" y="2774414"/>
            <a:ext cx="285172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3、使用自研产品：自研产品金额占比不得低于5%</a:t>
            </a:r>
          </a:p>
        </p:txBody>
      </p:sp>
      <p:sp>
        <p:nvSpPr>
          <p:cNvPr id="80" name="TextBox 79"/>
          <p:cNvSpPr txBox="1"/>
          <p:nvPr/>
        </p:nvSpPr>
        <p:spPr>
          <a:xfrm>
            <a:off x="8547734" y="3095194"/>
            <a:ext cx="1228725" cy="210502"/>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008CFF"/>
                </a:solidFill>
                <a:latin typeface="Microsoft YaHei"/>
              </a:rPr>
              <a:t>标准二：DICT项目</a:t>
            </a:r>
          </a:p>
        </p:txBody>
      </p:sp>
      <p:sp>
        <p:nvSpPr>
          <p:cNvPr id="81" name="TextBox 80"/>
          <p:cNvSpPr txBox="1"/>
          <p:nvPr/>
        </p:nvSpPr>
        <p:spPr>
          <a:xfrm>
            <a:off x="6636384" y="3480330"/>
            <a:ext cx="271843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1、自主集成：我司作为总集成方中标/支撑项目</a:t>
            </a:r>
          </a:p>
        </p:txBody>
      </p:sp>
      <p:sp>
        <p:nvSpPr>
          <p:cNvPr id="82" name="TextBox 81"/>
          <p:cNvSpPr txBox="1"/>
          <p:nvPr/>
        </p:nvSpPr>
        <p:spPr>
          <a:xfrm>
            <a:off x="6636384" y="3708930"/>
            <a:ext cx="392049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2、自主交付：参照《中移物联网有限公司 DICT 项目关键文档清单》</a:t>
            </a:r>
          </a:p>
        </p:txBody>
      </p:sp>
      <p:sp>
        <p:nvSpPr>
          <p:cNvPr id="83" name="TextBox 82"/>
          <p:cNvSpPr txBox="1"/>
          <p:nvPr/>
        </p:nvSpPr>
        <p:spPr>
          <a:xfrm>
            <a:off x="6636384" y="3937530"/>
            <a:ext cx="2791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3、自主研发：体现自有或自控团队负责研发工作</a:t>
            </a:r>
          </a:p>
        </p:txBody>
      </p:sp>
      <p:sp>
        <p:nvSpPr>
          <p:cNvPr id="84" name="TextBox 83"/>
          <p:cNvSpPr txBox="1"/>
          <p:nvPr/>
        </p:nvSpPr>
        <p:spPr>
          <a:xfrm>
            <a:off x="6636384" y="4166130"/>
            <a:ext cx="3045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4、自主运维：体现自有或自控团队负责运维运营工作</a:t>
            </a:r>
          </a:p>
        </p:txBody>
      </p:sp>
      <p:sp>
        <p:nvSpPr>
          <p:cNvPr id="85" name="TextBox 84"/>
          <p:cNvSpPr txBox="1"/>
          <p:nvPr/>
        </p:nvSpPr>
        <p:spPr>
          <a:xfrm>
            <a:off x="6290309" y="4585169"/>
            <a:ext cx="101600"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C00000"/>
                </a:solidFill>
                <a:latin typeface="Microsoft YaHei"/>
              </a:rPr>
              <a:t>•</a:t>
            </a:r>
          </a:p>
        </p:txBody>
      </p:sp>
      <p:sp>
        <p:nvSpPr>
          <p:cNvPr id="86" name="TextBox 85"/>
          <p:cNvSpPr txBox="1"/>
          <p:nvPr/>
        </p:nvSpPr>
        <p:spPr>
          <a:xfrm>
            <a:off x="6461759" y="4582768"/>
            <a:ext cx="5438378"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“产品定制类”服务包，</a:t>
            </a:r>
            <a:r>
              <a:rPr sz="994" b="1" i="0">
                <a:solidFill>
                  <a:srgbClr val="008CFF"/>
                </a:solidFill>
                <a:latin typeface="Microsoft YaHei"/>
              </a:rPr>
              <a:t>主要按照标准一支撑省侧接入核心平台的融能产品项目；若前向为DICT</a:t>
            </a:r>
          </a:p>
        </p:txBody>
      </p:sp>
      <p:sp>
        <p:nvSpPr>
          <p:cNvPr id="87" name="TextBox 86"/>
          <p:cNvSpPr txBox="1"/>
          <p:nvPr/>
        </p:nvSpPr>
        <p:spPr>
          <a:xfrm>
            <a:off x="6461759" y="4811368"/>
            <a:ext cx="2971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项目，可按标准二“四个自主”方式满足融能要求；</a:t>
            </a:r>
          </a:p>
        </p:txBody>
      </p:sp>
      <p:sp>
        <p:nvSpPr>
          <p:cNvPr id="88" name="TextBox 87"/>
          <p:cNvSpPr txBox="1"/>
          <p:nvPr/>
        </p:nvSpPr>
        <p:spPr>
          <a:xfrm>
            <a:off x="6290309" y="5042369"/>
            <a:ext cx="101600"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C00000"/>
                </a:solidFill>
                <a:latin typeface="Microsoft YaHei"/>
              </a:rPr>
              <a:t>•</a:t>
            </a:r>
          </a:p>
        </p:txBody>
      </p:sp>
      <p:sp>
        <p:nvSpPr>
          <p:cNvPr id="89" name="TextBox 88"/>
          <p:cNvSpPr txBox="1"/>
          <p:nvPr/>
        </p:nvSpPr>
        <p:spPr>
          <a:xfrm>
            <a:off x="6461759" y="5039968"/>
            <a:ext cx="5257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“集成装维类”服务包，</a:t>
            </a:r>
            <a:r>
              <a:rPr sz="994" b="1" i="0">
                <a:solidFill>
                  <a:srgbClr val="008CFF"/>
                </a:solidFill>
                <a:latin typeface="Microsoft YaHei"/>
              </a:rPr>
              <a:t>支撑集成和装维类项目，按标准二“四个自主”方式满足融能要求；</a:t>
            </a:r>
          </a:p>
        </p:txBody>
      </p:sp>
      <p:sp>
        <p:nvSpPr>
          <p:cNvPr id="90" name="TextBox 89"/>
          <p:cNvSpPr txBox="1"/>
          <p:nvPr/>
        </p:nvSpPr>
        <p:spPr>
          <a:xfrm>
            <a:off x="466356" y="3945952"/>
            <a:ext cx="685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服务包分类</a:t>
            </a:r>
          </a:p>
        </p:txBody>
      </p:sp>
      <p:sp>
        <p:nvSpPr>
          <p:cNvPr id="91" name="TextBox 90"/>
          <p:cNvSpPr txBox="1"/>
          <p:nvPr/>
        </p:nvSpPr>
        <p:spPr>
          <a:xfrm>
            <a:off x="2121916" y="3945952"/>
            <a:ext cx="558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业务范围</a:t>
            </a:r>
          </a:p>
        </p:txBody>
      </p:sp>
      <p:sp>
        <p:nvSpPr>
          <p:cNvPr id="92" name="TextBox 91"/>
          <p:cNvSpPr txBox="1"/>
          <p:nvPr/>
        </p:nvSpPr>
        <p:spPr>
          <a:xfrm>
            <a:off x="4550955" y="3945952"/>
            <a:ext cx="558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资费设计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13788" y="1924811"/>
            <a:ext cx="2602992" cy="5638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113788" y="3741420"/>
            <a:ext cx="2598420" cy="435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13788" y="5618988"/>
            <a:ext cx="2598420" cy="6416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360670" y="1944497"/>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60670" y="2828417"/>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54320" y="1950847"/>
            <a:ext cx="12700" cy="235711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863069" y="1950847"/>
            <a:ext cx="12700" cy="235711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60670" y="3130676"/>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28740" y="2834767"/>
            <a:ext cx="12700" cy="147319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60670" y="3621532"/>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60670" y="4301616"/>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60670" y="461805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60670" y="530385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54320" y="4624400"/>
            <a:ext cx="12700" cy="180403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863069" y="4624400"/>
            <a:ext cx="12700" cy="180403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60670" y="556674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28740" y="5310200"/>
            <a:ext cx="12700" cy="111823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60670" y="599473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60670" y="6422085"/>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4819" y="1981199"/>
            <a:ext cx="1531619" cy="38709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8469" y="1974850"/>
            <a:ext cx="1543684" cy="399414"/>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80388" y="2366632"/>
            <a:ext cx="101536" cy="55563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4819" y="3863340"/>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8469" y="3857625"/>
            <a:ext cx="1543684" cy="399415"/>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79868" y="4251325"/>
            <a:ext cx="101523" cy="57721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4819" y="5747003"/>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8469" y="5741034"/>
            <a:ext cx="1543684" cy="399415"/>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64819" y="2923032"/>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9105" y="2916554"/>
            <a:ext cx="1543684" cy="399415"/>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79868" y="3309620"/>
            <a:ext cx="101523" cy="55498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4819" y="4805171"/>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9105" y="4799329"/>
            <a:ext cx="1543684" cy="399415"/>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79868" y="5193665"/>
            <a:ext cx="101523" cy="577214"/>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900193" y="2230501"/>
            <a:ext cx="373417" cy="1802891"/>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900193" y="5387568"/>
            <a:ext cx="373417" cy="78295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jpg"/>
          <p:cNvPicPr>
            <a:picLocks noChangeAspect="1"/>
          </p:cNvPicPr>
          <p:nvPr/>
        </p:nvPicPr>
        <p:blipFill>
          <a:blip r:embed="rId2"/>
          <a:stretch>
            <a:fillRect/>
          </a:stretch>
        </p:blipFill>
        <p:spPr>
          <a:xfrm>
            <a:off x="0" y="0"/>
            <a:ext cx="12192000" cy="6858000"/>
          </a:xfrm>
          <a:prstGeom prst="rect">
            <a:avLst/>
          </a:prstGeom>
        </p:spPr>
      </p:pic>
      <p:pic>
        <p:nvPicPr>
          <p:cNvPr id="39" name="Picture 38" descr="image.jpg"/>
          <p:cNvPicPr>
            <a:picLocks noChangeAspect="1"/>
          </p:cNvPicPr>
          <p:nvPr/>
        </p:nvPicPr>
        <p:blipFill>
          <a:blip r:embed="rId3"/>
          <a:stretch>
            <a:fillRect/>
          </a:stretch>
        </p:blipFill>
        <p:spPr>
          <a:xfrm>
            <a:off x="126492" y="277368"/>
            <a:ext cx="341376" cy="467868"/>
          </a:xfrm>
          <a:prstGeom prst="rect">
            <a:avLst/>
          </a:prstGeom>
        </p:spPr>
      </p:pic>
      <p:pic>
        <p:nvPicPr>
          <p:cNvPr id="40" name="Picture 39" descr="image.jpg"/>
          <p:cNvPicPr>
            <a:picLocks noChangeAspect="1"/>
          </p:cNvPicPr>
          <p:nvPr/>
        </p:nvPicPr>
        <p:blipFill>
          <a:blip r:embed="rId4"/>
          <a:stretch>
            <a:fillRect/>
          </a:stretch>
        </p:blipFill>
        <p:spPr>
          <a:xfrm>
            <a:off x="9610343" y="230124"/>
            <a:ext cx="2581656" cy="557783"/>
          </a:xfrm>
          <a:prstGeom prst="rect">
            <a:avLst/>
          </a:prstGeom>
        </p:spPr>
      </p:pic>
      <p:pic>
        <p:nvPicPr>
          <p:cNvPr id="41" name="Picture 40" descr="image.jpg"/>
          <p:cNvPicPr>
            <a:picLocks noChangeAspect="1"/>
          </p:cNvPicPr>
          <p:nvPr/>
        </p:nvPicPr>
        <p:blipFill>
          <a:blip r:embed="rId5"/>
          <a:stretch>
            <a:fillRect/>
          </a:stretch>
        </p:blipFill>
        <p:spPr>
          <a:xfrm>
            <a:off x="10216895" y="365759"/>
            <a:ext cx="1784604" cy="288036"/>
          </a:xfrm>
          <a:prstGeom prst="rect">
            <a:avLst/>
          </a:prstGeom>
        </p:spPr>
      </p:pic>
      <p:sp>
        <p:nvSpPr>
          <p:cNvPr id="42" name="TextBox 41"/>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3</a:t>
            </a:r>
          </a:p>
        </p:txBody>
      </p:sp>
      <p:sp>
        <p:nvSpPr>
          <p:cNvPr id="43" name="TextBox 42"/>
          <p:cNvSpPr txBox="1"/>
          <p:nvPr/>
        </p:nvSpPr>
        <p:spPr>
          <a:xfrm>
            <a:off x="706285" y="319711"/>
            <a:ext cx="6401422"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二、千里眼属地“集成装维类”服务包规划上架责任分工</a:t>
            </a:r>
          </a:p>
        </p:txBody>
      </p:sp>
      <p:sp>
        <p:nvSpPr>
          <p:cNvPr id="44" name="TextBox 43"/>
          <p:cNvSpPr txBox="1"/>
          <p:nvPr/>
        </p:nvSpPr>
        <p:spPr>
          <a:xfrm>
            <a:off x="797725" y="993724"/>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45" name="TextBox 44"/>
          <p:cNvSpPr txBox="1"/>
          <p:nvPr/>
        </p:nvSpPr>
        <p:spPr>
          <a:xfrm>
            <a:off x="1083475" y="990334"/>
            <a:ext cx="9551022"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视频部负责统筹管理千里眼产品线DICT服务包，根据属地业务需求，由</a:t>
            </a:r>
            <a:r>
              <a:rPr sz="1405" b="1" i="0">
                <a:solidFill>
                  <a:srgbClr val="C00000"/>
                </a:solidFill>
                <a:latin typeface="Microsoft YaHei"/>
              </a:rPr>
              <a:t>产创中心负责属地“集成装维类”服务包规划设计</a:t>
            </a:r>
          </a:p>
        </p:txBody>
      </p:sp>
      <p:sp>
        <p:nvSpPr>
          <p:cNvPr id="46" name="TextBox 45"/>
          <p:cNvSpPr txBox="1"/>
          <p:nvPr/>
        </p:nvSpPr>
        <p:spPr>
          <a:xfrm>
            <a:off x="797725" y="1313764"/>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47" name="TextBox 46"/>
          <p:cNvSpPr txBox="1"/>
          <p:nvPr/>
        </p:nvSpPr>
        <p:spPr>
          <a:xfrm>
            <a:off x="1083475" y="1310374"/>
            <a:ext cx="8408022"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上架阶段，产创中心负责需求立项上会、甄选属地合作伙伴，视频部负责评估上架需求、推进业支系统改造</a:t>
            </a:r>
          </a:p>
        </p:txBody>
      </p:sp>
      <p:sp>
        <p:nvSpPr>
          <p:cNvPr id="48" name="TextBox 47"/>
          <p:cNvSpPr txBox="1"/>
          <p:nvPr/>
        </p:nvSpPr>
        <p:spPr>
          <a:xfrm>
            <a:off x="2205354" y="1905925"/>
            <a:ext cx="2287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差异点1：产创中心按需规划千里眼属地</a:t>
            </a:r>
          </a:p>
        </p:txBody>
      </p:sp>
      <p:sp>
        <p:nvSpPr>
          <p:cNvPr id="49" name="TextBox 48"/>
          <p:cNvSpPr txBox="1"/>
          <p:nvPr/>
        </p:nvSpPr>
        <p:spPr>
          <a:xfrm>
            <a:off x="2205354" y="2134525"/>
            <a:ext cx="2463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“集成装维类”服务包，提交视频部进行初</a:t>
            </a:r>
          </a:p>
        </p:txBody>
      </p:sp>
      <p:sp>
        <p:nvSpPr>
          <p:cNvPr id="50" name="TextBox 49"/>
          <p:cNvSpPr txBox="1"/>
          <p:nvPr/>
        </p:nvSpPr>
        <p:spPr>
          <a:xfrm>
            <a:off x="2205354" y="2363125"/>
            <a:ext cx="177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审</a:t>
            </a:r>
          </a:p>
        </p:txBody>
      </p:sp>
      <p:sp>
        <p:nvSpPr>
          <p:cNvPr id="51" name="TextBox 50"/>
          <p:cNvSpPr txBox="1"/>
          <p:nvPr/>
        </p:nvSpPr>
        <p:spPr>
          <a:xfrm>
            <a:off x="2205354" y="3659160"/>
            <a:ext cx="2414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差异点2：千里眼属地“集成装维类”服务</a:t>
            </a:r>
          </a:p>
        </p:txBody>
      </p:sp>
      <p:sp>
        <p:nvSpPr>
          <p:cNvPr id="52" name="TextBox 51"/>
          <p:cNvSpPr txBox="1"/>
          <p:nvPr/>
        </p:nvSpPr>
        <p:spPr>
          <a:xfrm>
            <a:off x="2205354" y="3887760"/>
            <a:ext cx="2463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包由产创中心立项上会，形成甄选方案，视</a:t>
            </a:r>
          </a:p>
        </p:txBody>
      </p:sp>
      <p:sp>
        <p:nvSpPr>
          <p:cNvPr id="53" name="TextBox 52"/>
          <p:cNvSpPr txBox="1"/>
          <p:nvPr/>
        </p:nvSpPr>
        <p:spPr>
          <a:xfrm>
            <a:off x="2205354" y="4116360"/>
            <a:ext cx="1447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频部及相关管理部门列席</a:t>
            </a:r>
          </a:p>
        </p:txBody>
      </p:sp>
      <p:sp>
        <p:nvSpPr>
          <p:cNvPr id="54" name="TextBox 53"/>
          <p:cNvSpPr txBox="1"/>
          <p:nvPr/>
        </p:nvSpPr>
        <p:spPr>
          <a:xfrm>
            <a:off x="2205354" y="5639090"/>
            <a:ext cx="2414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差异点3：通过公司决策后，产创中心向视</a:t>
            </a:r>
          </a:p>
        </p:txBody>
      </p:sp>
      <p:sp>
        <p:nvSpPr>
          <p:cNvPr id="55" name="TextBox 54"/>
          <p:cNvSpPr txBox="1"/>
          <p:nvPr/>
        </p:nvSpPr>
        <p:spPr>
          <a:xfrm>
            <a:off x="2205354" y="5867690"/>
            <a:ext cx="2463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频部提交服务包上架需求，视频部统筹推进</a:t>
            </a:r>
          </a:p>
        </p:txBody>
      </p:sp>
      <p:sp>
        <p:nvSpPr>
          <p:cNvPr id="56" name="TextBox 55"/>
          <p:cNvSpPr txBox="1"/>
          <p:nvPr/>
        </p:nvSpPr>
        <p:spPr>
          <a:xfrm>
            <a:off x="2205354" y="6096290"/>
            <a:ext cx="558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业支改造</a:t>
            </a:r>
          </a:p>
        </p:txBody>
      </p:sp>
      <p:sp>
        <p:nvSpPr>
          <p:cNvPr id="57" name="TextBox 56"/>
          <p:cNvSpPr txBox="1"/>
          <p:nvPr/>
        </p:nvSpPr>
        <p:spPr>
          <a:xfrm>
            <a:off x="5452109" y="2012097"/>
            <a:ext cx="1701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千里眼服务包总体规划原则：</a:t>
            </a:r>
          </a:p>
        </p:txBody>
      </p:sp>
      <p:sp>
        <p:nvSpPr>
          <p:cNvPr id="58" name="TextBox 57"/>
          <p:cNvSpPr txBox="1"/>
          <p:nvPr/>
        </p:nvSpPr>
        <p:spPr>
          <a:xfrm>
            <a:off x="5452109" y="2210217"/>
            <a:ext cx="4696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1、产创中心属地</a:t>
            </a:r>
            <a:r>
              <a:rPr sz="994" b="1" i="0">
                <a:solidFill>
                  <a:srgbClr val="C00000"/>
                </a:solidFill>
                <a:latin typeface="Microsoft YaHei"/>
              </a:rPr>
              <a:t>“集成装维类”服务包仅可支撑属地化简单集成及属地装维类业务</a:t>
            </a:r>
          </a:p>
        </p:txBody>
      </p:sp>
      <p:sp>
        <p:nvSpPr>
          <p:cNvPr id="59" name="TextBox 58"/>
          <p:cNvSpPr txBox="1"/>
          <p:nvPr/>
        </p:nvSpPr>
        <p:spPr>
          <a:xfrm>
            <a:off x="5452109" y="2408337"/>
            <a:ext cx="6347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1" i="0">
                <a:solidFill>
                  <a:srgbClr val="C00000"/>
                </a:solidFill>
                <a:latin typeface="Microsoft YaHei"/>
              </a:rPr>
              <a:t>视频类核心产品</a:t>
            </a:r>
            <a:r>
              <a:rPr sz="994" b="0" i="0">
                <a:solidFill>
                  <a:srgbClr val="000000"/>
                </a:solidFill>
                <a:latin typeface="Microsoft YaHei"/>
              </a:rPr>
              <a:t>，如监控摄像头、视频存储设备等，属于视频部业务范围，客户有相关需求时，应优先使用视</a:t>
            </a:r>
          </a:p>
        </p:txBody>
      </p:sp>
      <p:sp>
        <p:nvSpPr>
          <p:cNvPr id="60" name="TextBox 59"/>
          <p:cNvSpPr txBox="1"/>
          <p:nvPr/>
        </p:nvSpPr>
        <p:spPr>
          <a:xfrm>
            <a:off x="5452109" y="2606457"/>
            <a:ext cx="6146165"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频部负责的服务包进行支撑，</a:t>
            </a:r>
            <a:r>
              <a:rPr sz="994" b="1" i="0">
                <a:solidFill>
                  <a:srgbClr val="C00000"/>
                </a:solidFill>
                <a:latin typeface="Microsoft YaHei"/>
              </a:rPr>
              <a:t>视频部邮件明确无法支撑的产品需求，使用属地“集成装维类”服务包进行交付</a:t>
            </a:r>
          </a:p>
        </p:txBody>
      </p:sp>
      <p:sp>
        <p:nvSpPr>
          <p:cNvPr id="61" name="TextBox 60"/>
          <p:cNvSpPr txBox="1"/>
          <p:nvPr/>
        </p:nvSpPr>
        <p:spPr>
          <a:xfrm>
            <a:off x="5770879" y="2887762"/>
            <a:ext cx="30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部门</a:t>
            </a:r>
          </a:p>
        </p:txBody>
      </p:sp>
      <p:sp>
        <p:nvSpPr>
          <p:cNvPr id="62" name="TextBox 61"/>
          <p:cNvSpPr txBox="1"/>
          <p:nvPr/>
        </p:nvSpPr>
        <p:spPr>
          <a:xfrm>
            <a:off x="8898255" y="2887762"/>
            <a:ext cx="558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责任分工</a:t>
            </a:r>
          </a:p>
        </p:txBody>
      </p:sp>
      <p:sp>
        <p:nvSpPr>
          <p:cNvPr id="63" name="TextBox 62"/>
          <p:cNvSpPr txBox="1"/>
          <p:nvPr/>
        </p:nvSpPr>
        <p:spPr>
          <a:xfrm>
            <a:off x="5452109" y="3286782"/>
            <a:ext cx="431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a:t>
            </a:r>
          </a:p>
        </p:txBody>
      </p:sp>
      <p:sp>
        <p:nvSpPr>
          <p:cNvPr id="64" name="TextBox 63"/>
          <p:cNvSpPr txBox="1"/>
          <p:nvPr/>
        </p:nvSpPr>
        <p:spPr>
          <a:xfrm>
            <a:off x="6526530" y="3207802"/>
            <a:ext cx="2664459"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1、评估</a:t>
            </a:r>
            <a:r>
              <a:rPr sz="994" b="1" i="0">
                <a:solidFill>
                  <a:srgbClr val="C00000"/>
                </a:solidFill>
                <a:latin typeface="Microsoft YaHei"/>
              </a:rPr>
              <a:t>服务包规划是否符合千里眼产品线规划</a:t>
            </a:r>
          </a:p>
        </p:txBody>
      </p:sp>
      <p:sp>
        <p:nvSpPr>
          <p:cNvPr id="65" name="TextBox 64"/>
          <p:cNvSpPr txBox="1"/>
          <p:nvPr/>
        </p:nvSpPr>
        <p:spPr>
          <a:xfrm>
            <a:off x="6526530" y="3362982"/>
            <a:ext cx="2918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2、评估服务包规划业务范围是否超出规划原则限制</a:t>
            </a:r>
          </a:p>
        </p:txBody>
      </p:sp>
      <p:sp>
        <p:nvSpPr>
          <p:cNvPr id="66" name="TextBox 65"/>
          <p:cNvSpPr txBox="1"/>
          <p:nvPr/>
        </p:nvSpPr>
        <p:spPr>
          <a:xfrm>
            <a:off x="5452109" y="3872252"/>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67" name="TextBox 66"/>
          <p:cNvSpPr txBox="1"/>
          <p:nvPr/>
        </p:nvSpPr>
        <p:spPr>
          <a:xfrm>
            <a:off x="6526530" y="3719852"/>
            <a:ext cx="5204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1、结合本部门业务发展及与千里眼产品业务关系，规划本部门需要上架的“集成装维类”服</a:t>
            </a:r>
          </a:p>
        </p:txBody>
      </p:sp>
      <p:sp>
        <p:nvSpPr>
          <p:cNvPr id="68" name="TextBox 67"/>
          <p:cNvSpPr txBox="1"/>
          <p:nvPr/>
        </p:nvSpPr>
        <p:spPr>
          <a:xfrm>
            <a:off x="6526530" y="3872252"/>
            <a:ext cx="304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务包</a:t>
            </a:r>
          </a:p>
        </p:txBody>
      </p:sp>
      <p:sp>
        <p:nvSpPr>
          <p:cNvPr id="69" name="TextBox 68"/>
          <p:cNvSpPr txBox="1"/>
          <p:nvPr/>
        </p:nvSpPr>
        <p:spPr>
          <a:xfrm>
            <a:off x="6526530" y="4024652"/>
            <a:ext cx="4442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2、与视频部沟通服务包业务规划合理性，视频部同意后方可进行后续工作推进</a:t>
            </a:r>
          </a:p>
        </p:txBody>
      </p:sp>
      <p:sp>
        <p:nvSpPr>
          <p:cNvPr id="70" name="TextBox 69"/>
          <p:cNvSpPr txBox="1"/>
          <p:nvPr/>
        </p:nvSpPr>
        <p:spPr>
          <a:xfrm>
            <a:off x="5452109" y="4685651"/>
            <a:ext cx="157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服务包业支上架管理说明：</a:t>
            </a:r>
          </a:p>
        </p:txBody>
      </p:sp>
      <p:sp>
        <p:nvSpPr>
          <p:cNvPr id="71" name="TextBox 70"/>
          <p:cNvSpPr txBox="1"/>
          <p:nvPr/>
        </p:nvSpPr>
        <p:spPr>
          <a:xfrm>
            <a:off x="5452109" y="4886171"/>
            <a:ext cx="6259195"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因集团</a:t>
            </a:r>
            <a:r>
              <a:rPr sz="994" b="0" i="0">
                <a:solidFill>
                  <a:srgbClr val="000000"/>
                </a:solidFill>
                <a:latin typeface="Microsoft YaHei"/>
              </a:rPr>
              <a:t>IT</a:t>
            </a:r>
            <a:r>
              <a:rPr sz="994" b="0" i="0">
                <a:solidFill>
                  <a:srgbClr val="000000"/>
                </a:solidFill>
                <a:latin typeface="Microsoft YaHei"/>
              </a:rPr>
              <a:t>需求管理变更，目前还未明确千里眼产品需求管理流程，各部门需提前计划报备上架需求，待流程确定</a:t>
            </a:r>
          </a:p>
        </p:txBody>
      </p:sp>
      <p:sp>
        <p:nvSpPr>
          <p:cNvPr id="72" name="TextBox 71"/>
          <p:cNvSpPr txBox="1"/>
          <p:nvPr/>
        </p:nvSpPr>
        <p:spPr>
          <a:xfrm>
            <a:off x="5452109" y="5084671"/>
            <a:ext cx="220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后，视频部将进一步明确相关机制流程</a:t>
            </a:r>
          </a:p>
        </p:txBody>
      </p:sp>
      <p:sp>
        <p:nvSpPr>
          <p:cNvPr id="73" name="TextBox 72"/>
          <p:cNvSpPr txBox="1"/>
          <p:nvPr/>
        </p:nvSpPr>
        <p:spPr>
          <a:xfrm>
            <a:off x="5770879" y="5333986"/>
            <a:ext cx="30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部门</a:t>
            </a:r>
          </a:p>
        </p:txBody>
      </p:sp>
      <p:sp>
        <p:nvSpPr>
          <p:cNvPr id="74" name="TextBox 73"/>
          <p:cNvSpPr txBox="1"/>
          <p:nvPr/>
        </p:nvSpPr>
        <p:spPr>
          <a:xfrm>
            <a:off x="8898255" y="5333986"/>
            <a:ext cx="558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责任分工</a:t>
            </a:r>
          </a:p>
        </p:txBody>
      </p:sp>
      <p:sp>
        <p:nvSpPr>
          <p:cNvPr id="75" name="TextBox 74"/>
          <p:cNvSpPr txBox="1"/>
          <p:nvPr/>
        </p:nvSpPr>
        <p:spPr>
          <a:xfrm>
            <a:off x="5452109" y="5691731"/>
            <a:ext cx="431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a:t>
            </a:r>
          </a:p>
        </p:txBody>
      </p:sp>
      <p:sp>
        <p:nvSpPr>
          <p:cNvPr id="76" name="TextBox 75"/>
          <p:cNvSpPr txBox="1"/>
          <p:nvPr/>
        </p:nvSpPr>
        <p:spPr>
          <a:xfrm>
            <a:off x="6526530" y="5596876"/>
            <a:ext cx="5073650" cy="200036"/>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0" i="0">
                <a:solidFill>
                  <a:srgbClr val="000000"/>
                </a:solidFill>
                <a:latin typeface="Microsoft YaHei"/>
              </a:rPr>
              <a:t>、收集各部门潜在服务包上架需求；</a:t>
            </a:r>
            <a:r>
              <a:rPr sz="994" b="1" i="0">
                <a:solidFill>
                  <a:srgbClr val="C00000"/>
                </a:solidFill>
                <a:latin typeface="Microsoft YaHei"/>
              </a:rPr>
              <a:t>向集团汇报千里眼服务包上架规划</a:t>
            </a:r>
            <a:r>
              <a:rPr sz="994" b="0" i="0">
                <a:solidFill>
                  <a:srgbClr val="000000"/>
                </a:solidFill>
                <a:latin typeface="Microsoft YaHei"/>
              </a:rPr>
              <a:t>，沟通相关流程；</a:t>
            </a:r>
          </a:p>
        </p:txBody>
      </p:sp>
      <p:sp>
        <p:nvSpPr>
          <p:cNvPr id="77" name="TextBox 76"/>
          <p:cNvSpPr txBox="1"/>
          <p:nvPr/>
        </p:nvSpPr>
        <p:spPr>
          <a:xfrm>
            <a:off x="6526530" y="5751677"/>
            <a:ext cx="2787650"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0" i="0">
                <a:solidFill>
                  <a:srgbClr val="000000"/>
                </a:solidFill>
                <a:latin typeface="Microsoft YaHei"/>
              </a:rPr>
              <a:t>、评估服务包上架时间，跟进服务包上架进度。</a:t>
            </a:r>
          </a:p>
        </p:txBody>
      </p:sp>
      <p:sp>
        <p:nvSpPr>
          <p:cNvPr id="78" name="TextBox 77"/>
          <p:cNvSpPr txBox="1"/>
          <p:nvPr/>
        </p:nvSpPr>
        <p:spPr>
          <a:xfrm>
            <a:off x="5452109" y="6119086"/>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79" name="TextBox 78"/>
          <p:cNvSpPr txBox="1"/>
          <p:nvPr/>
        </p:nvSpPr>
        <p:spPr>
          <a:xfrm>
            <a:off x="6526530" y="6027266"/>
            <a:ext cx="2533650"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0" i="0">
                <a:solidFill>
                  <a:srgbClr val="000000"/>
                </a:solidFill>
                <a:latin typeface="Microsoft YaHei"/>
              </a:rPr>
              <a:t>、提前规划服务包上架需求，上报视频部；</a:t>
            </a:r>
          </a:p>
        </p:txBody>
      </p:sp>
      <p:sp>
        <p:nvSpPr>
          <p:cNvPr id="80" name="TextBox 79"/>
          <p:cNvSpPr txBox="1"/>
          <p:nvPr/>
        </p:nvSpPr>
        <p:spPr>
          <a:xfrm>
            <a:off x="6526530" y="6179666"/>
            <a:ext cx="4184650"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0" i="0">
                <a:solidFill>
                  <a:srgbClr val="000000"/>
                </a:solidFill>
                <a:latin typeface="Microsoft YaHei"/>
              </a:rPr>
              <a:t>、配合视频部向集团大视频部汇报服务包上架需求，准备上架相关材料；</a:t>
            </a:r>
          </a:p>
        </p:txBody>
      </p:sp>
      <p:sp>
        <p:nvSpPr>
          <p:cNvPr id="81" name="TextBox 80"/>
          <p:cNvSpPr txBox="1"/>
          <p:nvPr/>
        </p:nvSpPr>
        <p:spPr>
          <a:xfrm>
            <a:off x="785494" y="2073805"/>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服务包规划设计</a:t>
            </a:r>
          </a:p>
        </p:txBody>
      </p:sp>
      <p:sp>
        <p:nvSpPr>
          <p:cNvPr id="82" name="TextBox 81"/>
          <p:cNvSpPr txBox="1"/>
          <p:nvPr/>
        </p:nvSpPr>
        <p:spPr>
          <a:xfrm>
            <a:off x="785494" y="3956580"/>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服务包甄选决策</a:t>
            </a:r>
          </a:p>
        </p:txBody>
      </p:sp>
      <p:sp>
        <p:nvSpPr>
          <p:cNvPr id="83" name="TextBox 82"/>
          <p:cNvSpPr txBox="1"/>
          <p:nvPr/>
        </p:nvSpPr>
        <p:spPr>
          <a:xfrm>
            <a:off x="975994" y="5839990"/>
            <a:ext cx="558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业支改造</a:t>
            </a:r>
          </a:p>
        </p:txBody>
      </p:sp>
      <p:sp>
        <p:nvSpPr>
          <p:cNvPr id="84" name="TextBox 83"/>
          <p:cNvSpPr txBox="1"/>
          <p:nvPr/>
        </p:nvSpPr>
        <p:spPr>
          <a:xfrm>
            <a:off x="595630" y="3015510"/>
            <a:ext cx="1320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市场部等职能部门审核</a:t>
            </a:r>
          </a:p>
        </p:txBody>
      </p:sp>
      <p:sp>
        <p:nvSpPr>
          <p:cNvPr id="85" name="TextBox 84"/>
          <p:cNvSpPr txBox="1"/>
          <p:nvPr/>
        </p:nvSpPr>
        <p:spPr>
          <a:xfrm>
            <a:off x="595630" y="4822720"/>
            <a:ext cx="1320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甄选结果及上架需求上</a:t>
            </a:r>
          </a:p>
        </p:txBody>
      </p:sp>
      <p:sp>
        <p:nvSpPr>
          <p:cNvPr id="86" name="TextBox 85"/>
          <p:cNvSpPr txBox="1"/>
          <p:nvPr/>
        </p:nvSpPr>
        <p:spPr>
          <a:xfrm>
            <a:off x="659130" y="4975120"/>
            <a:ext cx="1193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报集团政企管理部门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23516" y="1825751"/>
            <a:ext cx="2327148" cy="5654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183892" y="2849879"/>
            <a:ext cx="2331719" cy="3794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89779" y="181863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89779" y="206247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83429" y="1824989"/>
            <a:ext cx="12700" cy="792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73420" y="1824989"/>
            <a:ext cx="12700" cy="792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92584" y="1824989"/>
            <a:ext cx="12700" cy="792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89779" y="2611120"/>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89462" y="3895090"/>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89462" y="429132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83112" y="3901440"/>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75007" y="3901440"/>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792267" y="3901440"/>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09800" y="4914900"/>
            <a:ext cx="2327147" cy="3794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89462" y="473519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89462" y="5131434"/>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83112" y="4741545"/>
            <a:ext cx="12700" cy="79247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73102" y="4741545"/>
            <a:ext cx="12700" cy="79247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792267" y="4741545"/>
            <a:ext cx="12700" cy="79247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89462" y="552767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89779" y="5971540"/>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89779" y="630427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83429" y="5977890"/>
            <a:ext cx="12700" cy="3327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773420" y="5977890"/>
            <a:ext cx="12700" cy="3327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792584" y="5977890"/>
            <a:ext cx="12700" cy="3327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89462" y="305498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89462" y="345122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83112" y="3061335"/>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775007" y="3061335"/>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792267" y="3061335"/>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183892" y="3840479"/>
            <a:ext cx="2327148" cy="435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52272" y="1825751"/>
            <a:ext cx="1531619"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6430" y="1818639"/>
            <a:ext cx="1543684" cy="354444"/>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367828" y="2166734"/>
            <a:ext cx="101523" cy="68280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52272" y="2849879"/>
            <a:ext cx="1531619"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6430" y="2843187"/>
            <a:ext cx="1543684" cy="354431"/>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367828" y="5240363"/>
            <a:ext cx="101523" cy="68280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2272" y="5923788"/>
            <a:ext cx="1531619"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6430" y="5916815"/>
            <a:ext cx="1543684" cy="354444"/>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2272" y="4898135"/>
            <a:ext cx="1531619"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6430" y="4892281"/>
            <a:ext cx="1543684" cy="354431"/>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3795" y="3874008"/>
            <a:ext cx="1530096"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7065" y="3867734"/>
            <a:ext cx="1543684" cy="354431"/>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367193" y="3191268"/>
            <a:ext cx="101523" cy="68281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366558" y="4215815"/>
            <a:ext cx="101523" cy="68281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203704" y="5931408"/>
            <a:ext cx="2327148" cy="3794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jpg"/>
          <p:cNvPicPr>
            <a:picLocks noChangeAspect="1"/>
          </p:cNvPicPr>
          <p:nvPr/>
        </p:nvPicPr>
        <p:blipFill>
          <a:blip r:embed="rId2"/>
          <a:stretch>
            <a:fillRect/>
          </a:stretch>
        </p:blipFill>
        <p:spPr>
          <a:xfrm>
            <a:off x="0" y="0"/>
            <a:ext cx="12192000" cy="6858000"/>
          </a:xfrm>
          <a:prstGeom prst="rect">
            <a:avLst/>
          </a:prstGeom>
        </p:spPr>
      </p:pic>
      <p:pic>
        <p:nvPicPr>
          <p:cNvPr id="50" name="Picture 49" descr="image.jpg"/>
          <p:cNvPicPr>
            <a:picLocks noChangeAspect="1"/>
          </p:cNvPicPr>
          <p:nvPr/>
        </p:nvPicPr>
        <p:blipFill>
          <a:blip r:embed="rId3"/>
          <a:stretch>
            <a:fillRect/>
          </a:stretch>
        </p:blipFill>
        <p:spPr>
          <a:xfrm>
            <a:off x="126492" y="277368"/>
            <a:ext cx="341376" cy="467868"/>
          </a:xfrm>
          <a:prstGeom prst="rect">
            <a:avLst/>
          </a:prstGeom>
        </p:spPr>
      </p:pic>
      <p:pic>
        <p:nvPicPr>
          <p:cNvPr id="51" name="Picture 50" descr="image.jpg"/>
          <p:cNvPicPr>
            <a:picLocks noChangeAspect="1"/>
          </p:cNvPicPr>
          <p:nvPr/>
        </p:nvPicPr>
        <p:blipFill>
          <a:blip r:embed="rId4"/>
          <a:stretch>
            <a:fillRect/>
          </a:stretch>
        </p:blipFill>
        <p:spPr>
          <a:xfrm>
            <a:off x="9610343" y="230124"/>
            <a:ext cx="2581656" cy="557783"/>
          </a:xfrm>
          <a:prstGeom prst="rect">
            <a:avLst/>
          </a:prstGeom>
        </p:spPr>
      </p:pic>
      <p:pic>
        <p:nvPicPr>
          <p:cNvPr id="52" name="Picture 51" descr="image.jpg"/>
          <p:cNvPicPr>
            <a:picLocks noChangeAspect="1"/>
          </p:cNvPicPr>
          <p:nvPr/>
        </p:nvPicPr>
        <p:blipFill>
          <a:blip r:embed="rId5"/>
          <a:stretch>
            <a:fillRect/>
          </a:stretch>
        </p:blipFill>
        <p:spPr>
          <a:xfrm>
            <a:off x="10216895" y="365759"/>
            <a:ext cx="1784604" cy="288036"/>
          </a:xfrm>
          <a:prstGeom prst="rect">
            <a:avLst/>
          </a:prstGeom>
        </p:spPr>
      </p:pic>
      <p:sp>
        <p:nvSpPr>
          <p:cNvPr id="53" name="TextBox 52"/>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4</a:t>
            </a:r>
          </a:p>
        </p:txBody>
      </p:sp>
      <p:sp>
        <p:nvSpPr>
          <p:cNvPr id="54" name="TextBox 53"/>
          <p:cNvSpPr txBox="1"/>
          <p:nvPr/>
        </p:nvSpPr>
        <p:spPr>
          <a:xfrm>
            <a:off x="706285" y="319711"/>
            <a:ext cx="6401422"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三、千里眼属地“集成装维类”服务包业务交付责任分工</a:t>
            </a:r>
          </a:p>
        </p:txBody>
      </p:sp>
      <p:sp>
        <p:nvSpPr>
          <p:cNvPr id="55" name="TextBox 54"/>
          <p:cNvSpPr txBox="1"/>
          <p:nvPr/>
        </p:nvSpPr>
        <p:spPr>
          <a:xfrm>
            <a:off x="601395" y="974750"/>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56" name="TextBox 55"/>
          <p:cNvSpPr txBox="1"/>
          <p:nvPr/>
        </p:nvSpPr>
        <p:spPr>
          <a:xfrm>
            <a:off x="887145" y="971360"/>
            <a:ext cx="80524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产创中心负责属地</a:t>
            </a:r>
            <a:r>
              <a:rPr sz="1405" b="1" i="0">
                <a:solidFill>
                  <a:srgbClr val="C00000"/>
                </a:solidFill>
                <a:latin typeface="Microsoft YaHei"/>
              </a:rPr>
              <a:t>“集成装维类”服务包的业务真实性</a:t>
            </a:r>
            <a:r>
              <a:rPr sz="1405" b="1" i="0">
                <a:solidFill>
                  <a:srgbClr val="008CFF"/>
                </a:solidFill>
                <a:latin typeface="Microsoft YaHei"/>
              </a:rPr>
              <a:t>，完成售前沟通及项目交付；视频部</a:t>
            </a:r>
            <a:r>
              <a:rPr sz="1405" b="1" i="0">
                <a:solidFill>
                  <a:srgbClr val="C00000"/>
                </a:solidFill>
                <a:latin typeface="Microsoft YaHei"/>
              </a:rPr>
              <a:t>负管理职责</a:t>
            </a:r>
          </a:p>
        </p:txBody>
      </p:sp>
      <p:sp>
        <p:nvSpPr>
          <p:cNvPr id="57" name="TextBox 56"/>
          <p:cNvSpPr txBox="1"/>
          <p:nvPr/>
        </p:nvSpPr>
        <p:spPr>
          <a:xfrm>
            <a:off x="601395" y="1294791"/>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58" name="TextBox 57"/>
          <p:cNvSpPr txBox="1"/>
          <p:nvPr/>
        </p:nvSpPr>
        <p:spPr>
          <a:xfrm>
            <a:off x="887145" y="1291400"/>
            <a:ext cx="72396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视频部作为千里眼产品线管理部门，负责属地DICT服务包</a:t>
            </a:r>
            <a:r>
              <a:rPr sz="1405" b="1" i="0">
                <a:solidFill>
                  <a:srgbClr val="C00000"/>
                </a:solidFill>
                <a:latin typeface="Microsoft YaHei"/>
              </a:rPr>
              <a:t>交付确认审核，计入订单产品收入</a:t>
            </a:r>
          </a:p>
        </p:txBody>
      </p:sp>
      <p:sp>
        <p:nvSpPr>
          <p:cNvPr id="59" name="TextBox 58"/>
          <p:cNvSpPr txBox="1"/>
          <p:nvPr/>
        </p:nvSpPr>
        <p:spPr>
          <a:xfrm>
            <a:off x="2314575" y="1807500"/>
            <a:ext cx="2160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差异点1：通过“四个自主”标准实现</a:t>
            </a:r>
          </a:p>
        </p:txBody>
      </p:sp>
      <p:sp>
        <p:nvSpPr>
          <p:cNvPr id="60" name="TextBox 59"/>
          <p:cNvSpPr txBox="1"/>
          <p:nvPr/>
        </p:nvSpPr>
        <p:spPr>
          <a:xfrm>
            <a:off x="2314575" y="2036100"/>
            <a:ext cx="213614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融能的项目，产创中心按DICT项目管</a:t>
            </a:r>
          </a:p>
        </p:txBody>
      </p:sp>
      <p:sp>
        <p:nvSpPr>
          <p:cNvPr id="61" name="TextBox 60"/>
          <p:cNvSpPr txBox="1"/>
          <p:nvPr/>
        </p:nvSpPr>
        <p:spPr>
          <a:xfrm>
            <a:off x="2314575" y="2264700"/>
            <a:ext cx="1701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理要求执行，发起项目预决策</a:t>
            </a:r>
          </a:p>
        </p:txBody>
      </p:sp>
      <p:sp>
        <p:nvSpPr>
          <p:cNvPr id="62" name="TextBox 61"/>
          <p:cNvSpPr txBox="1"/>
          <p:nvPr/>
        </p:nvSpPr>
        <p:spPr>
          <a:xfrm>
            <a:off x="2275839" y="2852710"/>
            <a:ext cx="2160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差异点2：产创中心自行完成属地“集</a:t>
            </a:r>
          </a:p>
        </p:txBody>
      </p:sp>
      <p:sp>
        <p:nvSpPr>
          <p:cNvPr id="63" name="TextBox 62"/>
          <p:cNvSpPr txBox="1"/>
          <p:nvPr/>
        </p:nvSpPr>
        <p:spPr>
          <a:xfrm>
            <a:off x="2275839" y="3081310"/>
            <a:ext cx="157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成装维类”服务包接单审核</a:t>
            </a:r>
          </a:p>
        </p:txBody>
      </p:sp>
      <p:sp>
        <p:nvSpPr>
          <p:cNvPr id="64" name="TextBox 63"/>
          <p:cNvSpPr txBox="1"/>
          <p:nvPr/>
        </p:nvSpPr>
        <p:spPr>
          <a:xfrm>
            <a:off x="5057775" y="1848775"/>
            <a:ext cx="30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部门</a:t>
            </a:r>
          </a:p>
        </p:txBody>
      </p:sp>
      <p:sp>
        <p:nvSpPr>
          <p:cNvPr id="65" name="TextBox 64"/>
          <p:cNvSpPr txBox="1"/>
          <p:nvPr/>
        </p:nvSpPr>
        <p:spPr>
          <a:xfrm>
            <a:off x="8535034" y="1848775"/>
            <a:ext cx="558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责任分工</a:t>
            </a:r>
          </a:p>
        </p:txBody>
      </p:sp>
      <p:sp>
        <p:nvSpPr>
          <p:cNvPr id="66" name="TextBox 65"/>
          <p:cNvSpPr txBox="1"/>
          <p:nvPr/>
        </p:nvSpPr>
        <p:spPr>
          <a:xfrm>
            <a:off x="4930775" y="224779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67" name="TextBox 66"/>
          <p:cNvSpPr txBox="1"/>
          <p:nvPr/>
        </p:nvSpPr>
        <p:spPr>
          <a:xfrm>
            <a:off x="5871209" y="2092615"/>
            <a:ext cx="5839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1" i="0">
                <a:solidFill>
                  <a:srgbClr val="C00000"/>
                </a:solidFill>
                <a:latin typeface="Microsoft YaHei"/>
              </a:rPr>
              <a:t>对业务真实性负责</a:t>
            </a:r>
            <a:r>
              <a:rPr sz="994" b="0" i="0">
                <a:solidFill>
                  <a:srgbClr val="000000"/>
                </a:solidFill>
                <a:latin typeface="Microsoft YaHei"/>
              </a:rPr>
              <a:t>，搜集项目信息，包括交付实质内容、客户交付要求、服务包业务订购计划等，保</a:t>
            </a:r>
          </a:p>
        </p:txBody>
      </p:sp>
      <p:sp>
        <p:nvSpPr>
          <p:cNvPr id="68" name="TextBox 67"/>
          <p:cNvSpPr txBox="1"/>
          <p:nvPr/>
        </p:nvSpPr>
        <p:spPr>
          <a:xfrm>
            <a:off x="5871209" y="2247795"/>
            <a:ext cx="1701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证业务符合公司业务管理要求</a:t>
            </a:r>
          </a:p>
        </p:txBody>
      </p:sp>
      <p:sp>
        <p:nvSpPr>
          <p:cNvPr id="69" name="TextBox 68"/>
          <p:cNvSpPr txBox="1"/>
          <p:nvPr/>
        </p:nvSpPr>
        <p:spPr>
          <a:xfrm>
            <a:off x="5871209" y="2397415"/>
            <a:ext cx="5639435"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2、通过“四个自主”标准实现融能的项目，</a:t>
            </a:r>
            <a:r>
              <a:rPr sz="994" b="1" i="0">
                <a:solidFill>
                  <a:srgbClr val="C00000"/>
                </a:solidFill>
                <a:latin typeface="Microsoft YaHei"/>
              </a:rPr>
              <a:t>在售前阶段按DICT项目管理要求执行，发起项目预决策</a:t>
            </a:r>
          </a:p>
        </p:txBody>
      </p:sp>
      <p:sp>
        <p:nvSpPr>
          <p:cNvPr id="70" name="TextBox 69"/>
          <p:cNvSpPr txBox="1"/>
          <p:nvPr/>
        </p:nvSpPr>
        <p:spPr>
          <a:xfrm>
            <a:off x="4931092" y="400420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71" name="TextBox 70"/>
          <p:cNvSpPr txBox="1"/>
          <p:nvPr/>
        </p:nvSpPr>
        <p:spPr>
          <a:xfrm>
            <a:off x="5872797" y="3928005"/>
            <a:ext cx="3299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1、完成订单录入、选择物料进行报价封装、销售订单审批</a:t>
            </a:r>
          </a:p>
        </p:txBody>
      </p:sp>
      <p:sp>
        <p:nvSpPr>
          <p:cNvPr id="72" name="TextBox 71"/>
          <p:cNvSpPr txBox="1"/>
          <p:nvPr/>
        </p:nvSpPr>
        <p:spPr>
          <a:xfrm>
            <a:off x="5872797" y="4077625"/>
            <a:ext cx="2410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1" i="0">
                <a:solidFill>
                  <a:srgbClr val="C00000"/>
                </a:solidFill>
                <a:latin typeface="Microsoft YaHei"/>
              </a:rPr>
              <a:t>发起甄选委托单，完成甄选委托单审批</a:t>
            </a:r>
          </a:p>
        </p:txBody>
      </p:sp>
      <p:sp>
        <p:nvSpPr>
          <p:cNvPr id="73" name="TextBox 72"/>
          <p:cNvSpPr txBox="1"/>
          <p:nvPr/>
        </p:nvSpPr>
        <p:spPr>
          <a:xfrm>
            <a:off x="2300604" y="4803430"/>
            <a:ext cx="2160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差异点4：产创中心全面负责属地“集</a:t>
            </a:r>
          </a:p>
        </p:txBody>
      </p:sp>
      <p:sp>
        <p:nvSpPr>
          <p:cNvPr id="74" name="TextBox 73"/>
          <p:cNvSpPr txBox="1"/>
          <p:nvPr/>
        </p:nvSpPr>
        <p:spPr>
          <a:xfrm>
            <a:off x="2300604" y="5032030"/>
            <a:ext cx="208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成装维类”服务包交付阶段，组织项</a:t>
            </a:r>
          </a:p>
        </p:txBody>
      </p:sp>
      <p:sp>
        <p:nvSpPr>
          <p:cNvPr id="75" name="TextBox 74"/>
          <p:cNvSpPr txBox="1"/>
          <p:nvPr/>
        </p:nvSpPr>
        <p:spPr>
          <a:xfrm>
            <a:off x="2300604" y="5260630"/>
            <a:ext cx="431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目交付</a:t>
            </a:r>
          </a:p>
        </p:txBody>
      </p:sp>
      <p:sp>
        <p:nvSpPr>
          <p:cNvPr id="76" name="TextBox 75"/>
          <p:cNvSpPr txBox="1"/>
          <p:nvPr/>
        </p:nvSpPr>
        <p:spPr>
          <a:xfrm>
            <a:off x="4930457" y="4844310"/>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77" name="TextBox 76"/>
          <p:cNvSpPr txBox="1"/>
          <p:nvPr/>
        </p:nvSpPr>
        <p:spPr>
          <a:xfrm>
            <a:off x="5870892" y="4765330"/>
            <a:ext cx="4569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1" i="0">
                <a:solidFill>
                  <a:srgbClr val="C00000"/>
                </a:solidFill>
                <a:latin typeface="Microsoft YaHei"/>
              </a:rPr>
              <a:t>属地“集成装维类”服务包业务由产创中心全面支撑，负责组织合作伙伴交付</a:t>
            </a:r>
          </a:p>
        </p:txBody>
      </p:sp>
      <p:sp>
        <p:nvSpPr>
          <p:cNvPr id="78" name="TextBox 77"/>
          <p:cNvSpPr txBox="1"/>
          <p:nvPr/>
        </p:nvSpPr>
        <p:spPr>
          <a:xfrm>
            <a:off x="5870892" y="4920510"/>
            <a:ext cx="4315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2、交付完成后，对交付过程材料、验收材料进行审核，在交付确认环节审批</a:t>
            </a:r>
          </a:p>
        </p:txBody>
      </p:sp>
      <p:sp>
        <p:nvSpPr>
          <p:cNvPr id="79" name="TextBox 78"/>
          <p:cNvSpPr txBox="1"/>
          <p:nvPr/>
        </p:nvSpPr>
        <p:spPr>
          <a:xfrm>
            <a:off x="4993957" y="5240551"/>
            <a:ext cx="431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a:t>
            </a:r>
          </a:p>
        </p:txBody>
      </p:sp>
      <p:sp>
        <p:nvSpPr>
          <p:cNvPr id="80" name="TextBox 79"/>
          <p:cNvSpPr txBox="1"/>
          <p:nvPr/>
        </p:nvSpPr>
        <p:spPr>
          <a:xfrm>
            <a:off x="5870892" y="5161570"/>
            <a:ext cx="5712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1、在产创中心审批后，视频部</a:t>
            </a:r>
            <a:r>
              <a:rPr sz="994" b="1" i="0">
                <a:solidFill>
                  <a:srgbClr val="C00000"/>
                </a:solidFill>
                <a:latin typeface="Microsoft YaHei"/>
              </a:rPr>
              <a:t>对交付过程材料、验收材料进行审核，并在集客大厅完成交付确认审批</a:t>
            </a:r>
          </a:p>
        </p:txBody>
      </p:sp>
      <p:sp>
        <p:nvSpPr>
          <p:cNvPr id="81" name="TextBox 80"/>
          <p:cNvSpPr txBox="1"/>
          <p:nvPr/>
        </p:nvSpPr>
        <p:spPr>
          <a:xfrm>
            <a:off x="5870892" y="5313970"/>
            <a:ext cx="5003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（若遇特殊情况，材料未及时反馈，订单需要视频部审核，需产创中心一把手邮件确认）</a:t>
            </a:r>
          </a:p>
        </p:txBody>
      </p:sp>
      <p:sp>
        <p:nvSpPr>
          <p:cNvPr id="82" name="TextBox 81"/>
          <p:cNvSpPr txBox="1"/>
          <p:nvPr/>
        </p:nvSpPr>
        <p:spPr>
          <a:xfrm>
            <a:off x="4930775" y="604890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83" name="TextBox 82"/>
          <p:cNvSpPr txBox="1"/>
          <p:nvPr/>
        </p:nvSpPr>
        <p:spPr>
          <a:xfrm>
            <a:off x="5871209" y="6046125"/>
            <a:ext cx="4442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1、在系统提交项目材料，</a:t>
            </a:r>
            <a:r>
              <a:rPr sz="994" b="1" i="0">
                <a:solidFill>
                  <a:srgbClr val="C00000"/>
                </a:solidFill>
                <a:latin typeface="Microsoft YaHei"/>
              </a:rPr>
              <a:t>发起订单计收</a:t>
            </a:r>
            <a:r>
              <a:rPr sz="994" b="0" i="0">
                <a:solidFill>
                  <a:srgbClr val="000000"/>
                </a:solidFill>
                <a:latin typeface="Microsoft YaHei"/>
              </a:rPr>
              <a:t>，对业务真实性及交付材料真实性负责</a:t>
            </a:r>
          </a:p>
        </p:txBody>
      </p:sp>
      <p:sp>
        <p:nvSpPr>
          <p:cNvPr id="84" name="TextBox 83"/>
          <p:cNvSpPr txBox="1"/>
          <p:nvPr/>
        </p:nvSpPr>
        <p:spPr>
          <a:xfrm>
            <a:off x="4931092" y="3164101"/>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85" name="TextBox 84"/>
          <p:cNvSpPr txBox="1"/>
          <p:nvPr/>
        </p:nvSpPr>
        <p:spPr>
          <a:xfrm>
            <a:off x="5872797" y="3087900"/>
            <a:ext cx="3299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1、核实业务订单信息与材料，需与售前沟通情况保持一致</a:t>
            </a:r>
          </a:p>
        </p:txBody>
      </p:sp>
      <p:sp>
        <p:nvSpPr>
          <p:cNvPr id="86" name="TextBox 85"/>
          <p:cNvSpPr txBox="1"/>
          <p:nvPr/>
        </p:nvSpPr>
        <p:spPr>
          <a:xfrm>
            <a:off x="5872797" y="3237520"/>
            <a:ext cx="3553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2、根据订单情况对服务包进行额度分配，</a:t>
            </a:r>
            <a:r>
              <a:rPr sz="994" b="1" i="0">
                <a:solidFill>
                  <a:srgbClr val="C00000"/>
                </a:solidFill>
                <a:latin typeface="Microsoft YaHei"/>
              </a:rPr>
              <a:t>审核项目内容并接单</a:t>
            </a:r>
          </a:p>
        </p:txBody>
      </p:sp>
      <p:sp>
        <p:nvSpPr>
          <p:cNvPr id="87" name="TextBox 86"/>
          <p:cNvSpPr txBox="1"/>
          <p:nvPr/>
        </p:nvSpPr>
        <p:spPr>
          <a:xfrm>
            <a:off x="2275839" y="3872520"/>
            <a:ext cx="2160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差异点3：产创中心发起属地“集成装</a:t>
            </a:r>
          </a:p>
        </p:txBody>
      </p:sp>
      <p:sp>
        <p:nvSpPr>
          <p:cNvPr id="88" name="TextBox 87"/>
          <p:cNvSpPr txBox="1"/>
          <p:nvPr/>
        </p:nvSpPr>
        <p:spPr>
          <a:xfrm>
            <a:off x="2275839" y="4101120"/>
            <a:ext cx="1447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维类”服务包甄选委托单</a:t>
            </a:r>
          </a:p>
        </p:txBody>
      </p:sp>
      <p:sp>
        <p:nvSpPr>
          <p:cNvPr id="89" name="TextBox 88"/>
          <p:cNvSpPr txBox="1"/>
          <p:nvPr/>
        </p:nvSpPr>
        <p:spPr>
          <a:xfrm>
            <a:off x="1163955" y="189473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售前沟通</a:t>
            </a:r>
          </a:p>
        </p:txBody>
      </p:sp>
      <p:sp>
        <p:nvSpPr>
          <p:cNvPr id="90" name="TextBox 89"/>
          <p:cNvSpPr txBox="1"/>
          <p:nvPr/>
        </p:nvSpPr>
        <p:spPr>
          <a:xfrm>
            <a:off x="1036955" y="2919283"/>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集客大厅接单</a:t>
            </a:r>
          </a:p>
        </p:txBody>
      </p:sp>
      <p:sp>
        <p:nvSpPr>
          <p:cNvPr id="91" name="TextBox 90"/>
          <p:cNvSpPr txBox="1"/>
          <p:nvPr/>
        </p:nvSpPr>
        <p:spPr>
          <a:xfrm>
            <a:off x="1290955" y="5992911"/>
            <a:ext cx="304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计收</a:t>
            </a:r>
          </a:p>
        </p:txBody>
      </p:sp>
      <p:sp>
        <p:nvSpPr>
          <p:cNvPr id="92" name="TextBox 91"/>
          <p:cNvSpPr txBox="1"/>
          <p:nvPr/>
        </p:nvSpPr>
        <p:spPr>
          <a:xfrm>
            <a:off x="1163955" y="4968377"/>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项目交付</a:t>
            </a:r>
          </a:p>
        </p:txBody>
      </p:sp>
      <p:sp>
        <p:nvSpPr>
          <p:cNvPr id="93" name="TextBox 92"/>
          <p:cNvSpPr txBox="1"/>
          <p:nvPr/>
        </p:nvSpPr>
        <p:spPr>
          <a:xfrm>
            <a:off x="783590" y="3943830"/>
            <a:ext cx="1320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市场销售支撑系统下单</a:t>
            </a:r>
          </a:p>
        </p:txBody>
      </p:sp>
      <p:sp>
        <p:nvSpPr>
          <p:cNvPr id="94" name="TextBox 93"/>
          <p:cNvSpPr txBox="1"/>
          <p:nvPr/>
        </p:nvSpPr>
        <p:spPr>
          <a:xfrm>
            <a:off x="2295525" y="5935000"/>
            <a:ext cx="2160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差异点5：产创中心对属地“集成装维</a:t>
            </a:r>
          </a:p>
        </p:txBody>
      </p:sp>
      <p:sp>
        <p:nvSpPr>
          <p:cNvPr id="95" name="TextBox 94"/>
          <p:cNvSpPr txBox="1"/>
          <p:nvPr/>
        </p:nvSpPr>
        <p:spPr>
          <a:xfrm>
            <a:off x="2295525" y="6163600"/>
            <a:ext cx="1955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类”服务包项目交付过程材料负责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8300" y="3473450"/>
            <a:ext cx="11430000" cy="327596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846576" y="3270503"/>
            <a:ext cx="4514088" cy="429767"/>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7904" y="4304665"/>
            <a:ext cx="7620" cy="1524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jpg"/>
          <p:cNvPicPr>
            <a:picLocks noChangeAspect="1"/>
          </p:cNvPicPr>
          <p:nvPr/>
        </p:nvPicPr>
        <p:blipFill>
          <a:blip r:embed="rId2"/>
          <a:stretch>
            <a:fillRect/>
          </a:stretch>
        </p:blipFill>
        <p:spPr>
          <a:xfrm>
            <a:off x="0" y="0"/>
            <a:ext cx="12192000" cy="6858000"/>
          </a:xfrm>
          <a:prstGeom prst="rect">
            <a:avLst/>
          </a:prstGeom>
        </p:spPr>
      </p:pic>
      <p:pic>
        <p:nvPicPr>
          <p:cNvPr id="7" name="Picture 6" descr="image.jpg"/>
          <p:cNvPicPr>
            <a:picLocks noChangeAspect="1"/>
          </p:cNvPicPr>
          <p:nvPr/>
        </p:nvPicPr>
        <p:blipFill>
          <a:blip r:embed="rId3"/>
          <a:stretch>
            <a:fillRect/>
          </a:stretch>
        </p:blipFill>
        <p:spPr>
          <a:xfrm>
            <a:off x="126492" y="277368"/>
            <a:ext cx="341376" cy="467868"/>
          </a:xfrm>
          <a:prstGeom prst="rect">
            <a:avLst/>
          </a:prstGeom>
        </p:spPr>
      </p:pic>
      <p:pic>
        <p:nvPicPr>
          <p:cNvPr id="8" name="Picture 7" descr="image.jpg"/>
          <p:cNvPicPr>
            <a:picLocks noChangeAspect="1"/>
          </p:cNvPicPr>
          <p:nvPr/>
        </p:nvPicPr>
        <p:blipFill>
          <a:blip r:embed="rId4"/>
          <a:stretch>
            <a:fillRect/>
          </a:stretch>
        </p:blipFill>
        <p:spPr>
          <a:xfrm>
            <a:off x="9610343" y="230124"/>
            <a:ext cx="2581656" cy="557783"/>
          </a:xfrm>
          <a:prstGeom prst="rect">
            <a:avLst/>
          </a:prstGeom>
        </p:spPr>
      </p:pic>
      <p:pic>
        <p:nvPicPr>
          <p:cNvPr id="9" name="Picture 8" descr="image.jpg"/>
          <p:cNvPicPr>
            <a:picLocks noChangeAspect="1"/>
          </p:cNvPicPr>
          <p:nvPr/>
        </p:nvPicPr>
        <p:blipFill>
          <a:blip r:embed="rId5"/>
          <a:stretch>
            <a:fillRect/>
          </a:stretch>
        </p:blipFill>
        <p:spPr>
          <a:xfrm>
            <a:off x="10216895" y="365759"/>
            <a:ext cx="1784604" cy="288036"/>
          </a:xfrm>
          <a:prstGeom prst="rect">
            <a:avLst/>
          </a:prstGeom>
        </p:spPr>
      </p:pic>
      <p:sp>
        <p:nvSpPr>
          <p:cNvPr id="10" name="TextBox 9"/>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5</a:t>
            </a:r>
          </a:p>
        </p:txBody>
      </p:sp>
      <p:sp>
        <p:nvSpPr>
          <p:cNvPr id="11" name="TextBox 10"/>
          <p:cNvSpPr txBox="1"/>
          <p:nvPr/>
        </p:nvSpPr>
        <p:spPr>
          <a:xfrm>
            <a:off x="706285" y="319711"/>
            <a:ext cx="5385422"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四、千里眼属地“集成装维类”服务包执行方案</a:t>
            </a:r>
          </a:p>
        </p:txBody>
      </p:sp>
      <p:sp>
        <p:nvSpPr>
          <p:cNvPr id="12" name="TextBox 11"/>
          <p:cNvSpPr txBox="1"/>
          <p:nvPr/>
        </p:nvSpPr>
        <p:spPr>
          <a:xfrm>
            <a:off x="263525" y="882369"/>
            <a:ext cx="1066164" cy="2925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008CFF"/>
                </a:solidFill>
                <a:latin typeface="Microsoft YaHei"/>
              </a:rPr>
              <a:t>背景说明：</a:t>
            </a:r>
          </a:p>
        </p:txBody>
      </p:sp>
      <p:sp>
        <p:nvSpPr>
          <p:cNvPr id="13" name="TextBox 12"/>
          <p:cNvSpPr txBox="1"/>
          <p:nvPr/>
        </p:nvSpPr>
        <p:spPr>
          <a:xfrm>
            <a:off x="463550" y="1223695"/>
            <a:ext cx="701548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①26年1月完成</a:t>
            </a:r>
            <a:r>
              <a:rPr sz="1200" b="1" i="0">
                <a:solidFill>
                  <a:srgbClr val="C00000"/>
                </a:solidFill>
                <a:latin typeface="Microsoft YaHei"/>
              </a:rPr>
              <a:t>首批25个“产品定制类”服务包</a:t>
            </a:r>
            <a:r>
              <a:rPr sz="1200" b="1" i="0">
                <a:solidFill>
                  <a:srgbClr val="008CFF"/>
                </a:solidFill>
                <a:latin typeface="Microsoft YaHei"/>
              </a:rPr>
              <a:t>立项，已于3月下旬完成集客大厅上架，</a:t>
            </a:r>
            <a:r>
              <a:rPr sz="1200" b="1" i="0">
                <a:solidFill>
                  <a:srgbClr val="C00000"/>
                </a:solidFill>
                <a:latin typeface="Microsoft YaHei"/>
              </a:rPr>
              <a:t>目前已开放订购</a:t>
            </a:r>
          </a:p>
        </p:txBody>
      </p:sp>
      <p:sp>
        <p:nvSpPr>
          <p:cNvPr id="14" name="TextBox 13"/>
          <p:cNvSpPr txBox="1"/>
          <p:nvPr/>
        </p:nvSpPr>
        <p:spPr>
          <a:xfrm>
            <a:off x="463550" y="1498015"/>
            <a:ext cx="6700519"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②26年3月31日，数智安防等</a:t>
            </a:r>
            <a:r>
              <a:rPr sz="1200" b="1" i="0">
                <a:solidFill>
                  <a:srgbClr val="C00000"/>
                </a:solidFill>
                <a:latin typeface="Microsoft YaHei"/>
              </a:rPr>
              <a:t>2025年及之前上架的21个存量服务包已冻结</a:t>
            </a:r>
            <a:r>
              <a:rPr sz="1200" b="1" i="0">
                <a:solidFill>
                  <a:srgbClr val="008CFF"/>
                </a:solidFill>
                <a:latin typeface="Microsoft YaHei"/>
              </a:rPr>
              <a:t>，自3月31日起</a:t>
            </a:r>
            <a:r>
              <a:rPr sz="1200" b="1" i="0">
                <a:solidFill>
                  <a:srgbClr val="C00000"/>
                </a:solidFill>
                <a:latin typeface="Microsoft YaHei"/>
              </a:rPr>
              <a:t>暂停订购</a:t>
            </a:r>
          </a:p>
        </p:txBody>
      </p:sp>
      <p:sp>
        <p:nvSpPr>
          <p:cNvPr id="15" name="TextBox 14"/>
          <p:cNvSpPr txBox="1"/>
          <p:nvPr/>
        </p:nvSpPr>
        <p:spPr>
          <a:xfrm>
            <a:off x="463550" y="1772335"/>
            <a:ext cx="591312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③以上46个服务包均已沟通</a:t>
            </a:r>
            <a:r>
              <a:rPr sz="1200" b="1" i="0">
                <a:solidFill>
                  <a:srgbClr val="C00000"/>
                </a:solidFill>
                <a:latin typeface="Microsoft YaHei"/>
              </a:rPr>
              <a:t>省侧签署结算合同</a:t>
            </a:r>
            <a:r>
              <a:rPr sz="1200" b="1" i="0">
                <a:solidFill>
                  <a:srgbClr val="008CFF"/>
                </a:solidFill>
                <a:latin typeface="Microsoft YaHei"/>
              </a:rPr>
              <a:t>，目前已完成20省签约，其他省份已立项</a:t>
            </a:r>
          </a:p>
        </p:txBody>
      </p:sp>
      <p:sp>
        <p:nvSpPr>
          <p:cNvPr id="16" name="TextBox 15"/>
          <p:cNvSpPr txBox="1"/>
          <p:nvPr/>
        </p:nvSpPr>
        <p:spPr>
          <a:xfrm>
            <a:off x="263525" y="2151099"/>
            <a:ext cx="1066164" cy="2925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008CFF"/>
                </a:solidFill>
                <a:latin typeface="Microsoft YaHei"/>
              </a:rPr>
              <a:t>存在问题：</a:t>
            </a:r>
          </a:p>
        </p:txBody>
      </p:sp>
      <p:sp>
        <p:nvSpPr>
          <p:cNvPr id="17" name="TextBox 16"/>
          <p:cNvSpPr txBox="1"/>
          <p:nvPr/>
        </p:nvSpPr>
        <p:spPr>
          <a:xfrm>
            <a:off x="463550" y="2492425"/>
            <a:ext cx="9297034"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①产创中心新规划属地“集成装维类”服务包，甄选合作伙伴并进行资费上架，因目前</a:t>
            </a:r>
            <a:r>
              <a:rPr sz="1200" b="1" i="0">
                <a:solidFill>
                  <a:srgbClr val="C00000"/>
                </a:solidFill>
                <a:latin typeface="Microsoft YaHei"/>
              </a:rPr>
              <a:t>业支系统改造困难，新服务包上架预计耗时3-4个月</a:t>
            </a:r>
          </a:p>
        </p:txBody>
      </p:sp>
      <p:sp>
        <p:nvSpPr>
          <p:cNvPr id="18" name="TextBox 17"/>
          <p:cNvSpPr txBox="1"/>
          <p:nvPr/>
        </p:nvSpPr>
        <p:spPr>
          <a:xfrm>
            <a:off x="463550" y="2766745"/>
            <a:ext cx="867918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②属地</a:t>
            </a:r>
            <a:r>
              <a:rPr sz="1200" b="1" i="0">
                <a:solidFill>
                  <a:srgbClr val="C00000"/>
                </a:solidFill>
                <a:latin typeface="Microsoft YaHei"/>
              </a:rPr>
              <a:t>新服务包上架</a:t>
            </a:r>
            <a:r>
              <a:rPr sz="1200" b="1" i="0">
                <a:solidFill>
                  <a:srgbClr val="008CFF"/>
                </a:solidFill>
                <a:latin typeface="Microsoft YaHei"/>
              </a:rPr>
              <a:t>，</a:t>
            </a:r>
            <a:r>
              <a:rPr sz="1200" b="1" i="0">
                <a:solidFill>
                  <a:srgbClr val="C00000"/>
                </a:solidFill>
                <a:latin typeface="Microsoft YaHei"/>
              </a:rPr>
              <a:t>需产创中心沟通省公司签署结算补充协议</a:t>
            </a:r>
            <a:r>
              <a:rPr sz="1200" b="0" i="0">
                <a:solidFill>
                  <a:srgbClr val="000000"/>
                </a:solidFill>
                <a:latin typeface="Microsoft YaHei"/>
              </a:rPr>
              <a:t>，</a:t>
            </a:r>
            <a:r>
              <a:rPr sz="1200" b="1" i="0">
                <a:solidFill>
                  <a:srgbClr val="008CFF"/>
                </a:solidFill>
                <a:latin typeface="Microsoft YaHei"/>
              </a:rPr>
              <a:t>将新服务包资费纳入结算合同后方可发展业务，预计耗时3个月</a:t>
            </a:r>
          </a:p>
        </p:txBody>
      </p:sp>
      <p:sp>
        <p:nvSpPr>
          <p:cNvPr id="19" name="TextBox 18"/>
          <p:cNvSpPr txBox="1"/>
          <p:nvPr/>
        </p:nvSpPr>
        <p:spPr>
          <a:xfrm>
            <a:off x="4579620" y="3326446"/>
            <a:ext cx="3098164" cy="2925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FFFFFF"/>
                </a:solidFill>
                <a:latin typeface="Microsoft YaHei"/>
              </a:rPr>
              <a:t>建议：设置千里眼存量包划转方案</a:t>
            </a:r>
          </a:p>
        </p:txBody>
      </p:sp>
      <p:sp>
        <p:nvSpPr>
          <p:cNvPr id="20" name="TextBox 19"/>
          <p:cNvSpPr txBox="1"/>
          <p:nvPr/>
        </p:nvSpPr>
        <p:spPr>
          <a:xfrm>
            <a:off x="602615" y="4756900"/>
            <a:ext cx="4324349" cy="2105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1、产创中心提交属地服务包规划，</a:t>
            </a:r>
            <a:r>
              <a:rPr sz="1105" b="1" i="0">
                <a:solidFill>
                  <a:srgbClr val="C00000"/>
                </a:solidFill>
                <a:latin typeface="Microsoft YaHei"/>
              </a:rPr>
              <a:t>划转千里眼存量包</a:t>
            </a:r>
            <a:r>
              <a:rPr sz="1105" b="0" i="0">
                <a:solidFill>
                  <a:srgbClr val="000000"/>
                </a:solidFill>
                <a:latin typeface="Microsoft YaHei"/>
              </a:rPr>
              <a:t>；视频部审核；</a:t>
            </a:r>
          </a:p>
        </p:txBody>
      </p:sp>
      <p:sp>
        <p:nvSpPr>
          <p:cNvPr id="21" name="TextBox 20"/>
          <p:cNvSpPr txBox="1"/>
          <p:nvPr/>
        </p:nvSpPr>
        <p:spPr>
          <a:xfrm>
            <a:off x="602615" y="5008360"/>
            <a:ext cx="3486149" cy="2105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2、产创中心上会决策</a:t>
            </a:r>
            <a:r>
              <a:rPr sz="1105" b="1" i="0">
                <a:solidFill>
                  <a:srgbClr val="C00000"/>
                </a:solidFill>
                <a:latin typeface="Microsoft YaHei"/>
              </a:rPr>
              <a:t>甄选属地合作伙伴</a:t>
            </a:r>
            <a:r>
              <a:rPr sz="1105" b="0" i="0">
                <a:solidFill>
                  <a:srgbClr val="000000"/>
                </a:solidFill>
                <a:latin typeface="Microsoft YaHei"/>
              </a:rPr>
              <a:t>；视频部列席；</a:t>
            </a:r>
          </a:p>
        </p:txBody>
      </p:sp>
      <p:sp>
        <p:nvSpPr>
          <p:cNvPr id="22" name="TextBox 21"/>
          <p:cNvSpPr txBox="1"/>
          <p:nvPr/>
        </p:nvSpPr>
        <p:spPr>
          <a:xfrm>
            <a:off x="602615" y="5262907"/>
            <a:ext cx="2787649" cy="2065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3、产创中心甄选属地合作伙伴，签约引入；</a:t>
            </a:r>
          </a:p>
        </p:txBody>
      </p:sp>
      <p:sp>
        <p:nvSpPr>
          <p:cNvPr id="23" name="TextBox 22"/>
          <p:cNvSpPr txBox="1"/>
          <p:nvPr/>
        </p:nvSpPr>
        <p:spPr>
          <a:xfrm>
            <a:off x="602615" y="5514367"/>
            <a:ext cx="3067049" cy="2065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4、视频部负责配置集客大厅属地合作伙伴账号；</a:t>
            </a:r>
          </a:p>
        </p:txBody>
      </p:sp>
      <p:sp>
        <p:nvSpPr>
          <p:cNvPr id="24" name="TextBox 23"/>
          <p:cNvSpPr txBox="1"/>
          <p:nvPr/>
        </p:nvSpPr>
        <p:spPr>
          <a:xfrm>
            <a:off x="2970529" y="4110405"/>
            <a:ext cx="50800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方案一</a:t>
            </a:r>
          </a:p>
        </p:txBody>
      </p:sp>
      <p:sp>
        <p:nvSpPr>
          <p:cNvPr id="25" name="TextBox 24"/>
          <p:cNvSpPr txBox="1"/>
          <p:nvPr/>
        </p:nvSpPr>
        <p:spPr>
          <a:xfrm>
            <a:off x="8707119" y="4110405"/>
            <a:ext cx="50800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方案二</a:t>
            </a:r>
          </a:p>
        </p:txBody>
      </p:sp>
      <p:sp>
        <p:nvSpPr>
          <p:cNvPr id="26" name="TextBox 25"/>
          <p:cNvSpPr txBox="1"/>
          <p:nvPr/>
        </p:nvSpPr>
        <p:spPr>
          <a:xfrm>
            <a:off x="904875" y="4410126"/>
            <a:ext cx="477520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产创中心上会决策，</a:t>
            </a:r>
            <a:r>
              <a:rPr sz="1200" b="1" i="0">
                <a:solidFill>
                  <a:srgbClr val="C00000"/>
                </a:solidFill>
                <a:latin typeface="Microsoft YaHei"/>
              </a:rPr>
              <a:t>划转存量服务包资费</a:t>
            </a:r>
            <a:r>
              <a:rPr sz="1200" b="1" i="0">
                <a:solidFill>
                  <a:srgbClr val="008CFF"/>
                </a:solidFill>
                <a:latin typeface="Microsoft YaHei"/>
              </a:rPr>
              <a:t>，甄选属地合作伙伴支撑业务</a:t>
            </a:r>
          </a:p>
        </p:txBody>
      </p:sp>
      <p:sp>
        <p:nvSpPr>
          <p:cNvPr id="27" name="TextBox 26"/>
          <p:cNvSpPr txBox="1"/>
          <p:nvPr/>
        </p:nvSpPr>
        <p:spPr>
          <a:xfrm>
            <a:off x="6497320" y="4410126"/>
            <a:ext cx="4927599"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产创中心上会决策，</a:t>
            </a:r>
            <a:r>
              <a:rPr sz="1200" b="1" i="0">
                <a:solidFill>
                  <a:srgbClr val="C00000"/>
                </a:solidFill>
                <a:latin typeface="Microsoft YaHei"/>
              </a:rPr>
              <a:t>划转存量服务包资费，划转存量服务包剩余合同额度</a:t>
            </a:r>
          </a:p>
        </p:txBody>
      </p:sp>
      <p:sp>
        <p:nvSpPr>
          <p:cNvPr id="28" name="TextBox 27"/>
          <p:cNvSpPr txBox="1"/>
          <p:nvPr/>
        </p:nvSpPr>
        <p:spPr>
          <a:xfrm>
            <a:off x="2663825" y="5751310"/>
            <a:ext cx="1115694" cy="2105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C00000"/>
                </a:solidFill>
                <a:latin typeface="Microsoft YaHei"/>
              </a:rPr>
              <a:t>预计耗时：2个月</a:t>
            </a:r>
          </a:p>
        </p:txBody>
      </p:sp>
      <p:sp>
        <p:nvSpPr>
          <p:cNvPr id="29" name="TextBox 28"/>
          <p:cNvSpPr txBox="1"/>
          <p:nvPr/>
        </p:nvSpPr>
        <p:spPr>
          <a:xfrm>
            <a:off x="6336029" y="4756900"/>
            <a:ext cx="4324349" cy="2105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1、产创中心提交属地服务包规划，</a:t>
            </a:r>
            <a:r>
              <a:rPr sz="1105" b="1" i="0">
                <a:solidFill>
                  <a:srgbClr val="C00000"/>
                </a:solidFill>
                <a:latin typeface="Microsoft YaHei"/>
              </a:rPr>
              <a:t>划转千里眼存量包</a:t>
            </a:r>
            <a:r>
              <a:rPr sz="1105" b="0" i="0">
                <a:solidFill>
                  <a:srgbClr val="000000"/>
                </a:solidFill>
                <a:latin typeface="Microsoft YaHei"/>
              </a:rPr>
              <a:t>；视频部审核；</a:t>
            </a:r>
          </a:p>
        </p:txBody>
      </p:sp>
      <p:sp>
        <p:nvSpPr>
          <p:cNvPr id="30" name="TextBox 29"/>
          <p:cNvSpPr txBox="1"/>
          <p:nvPr/>
        </p:nvSpPr>
        <p:spPr>
          <a:xfrm>
            <a:off x="6336029" y="5008360"/>
            <a:ext cx="5441949" cy="2105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2、产创中心上会决策</a:t>
            </a:r>
            <a:r>
              <a:rPr sz="1105" b="1" i="0">
                <a:solidFill>
                  <a:srgbClr val="C00000"/>
                </a:solidFill>
                <a:latin typeface="Microsoft YaHei"/>
              </a:rPr>
              <a:t>划转存量服务包剩余合同额度（相关物料同步划转至产创中心）</a:t>
            </a:r>
            <a:r>
              <a:rPr sz="1105" b="0" i="0">
                <a:solidFill>
                  <a:srgbClr val="000000"/>
                </a:solidFill>
                <a:latin typeface="Microsoft YaHei"/>
              </a:rPr>
              <a:t>；</a:t>
            </a:r>
          </a:p>
        </p:txBody>
      </p:sp>
      <p:sp>
        <p:nvSpPr>
          <p:cNvPr id="31" name="TextBox 30"/>
          <p:cNvSpPr txBox="1"/>
          <p:nvPr/>
        </p:nvSpPr>
        <p:spPr>
          <a:xfrm>
            <a:off x="6336029" y="5262907"/>
            <a:ext cx="889635" cy="2065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视频部列席；</a:t>
            </a:r>
          </a:p>
        </p:txBody>
      </p:sp>
      <p:sp>
        <p:nvSpPr>
          <p:cNvPr id="32" name="TextBox 31"/>
          <p:cNvSpPr txBox="1"/>
          <p:nvPr/>
        </p:nvSpPr>
        <p:spPr>
          <a:xfrm>
            <a:off x="8468359" y="5710670"/>
            <a:ext cx="1115694" cy="2105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C00000"/>
                </a:solidFill>
                <a:latin typeface="Microsoft YaHei"/>
              </a:rPr>
              <a:t>预计耗时：1个月</a:t>
            </a:r>
          </a:p>
        </p:txBody>
      </p:sp>
      <p:sp>
        <p:nvSpPr>
          <p:cNvPr id="33" name="TextBox 32"/>
          <p:cNvSpPr txBox="1"/>
          <p:nvPr/>
        </p:nvSpPr>
        <p:spPr>
          <a:xfrm>
            <a:off x="508634" y="3809810"/>
            <a:ext cx="112528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产创中心可根据属地供应商的情况选择方案一或者方案二开展存量服务包划转工作；划转后，主体责任同步划转给产创中心，视频部负管理责任</a:t>
            </a:r>
          </a:p>
        </p:txBody>
      </p:sp>
      <p:sp>
        <p:nvSpPr>
          <p:cNvPr id="34" name="TextBox 33"/>
          <p:cNvSpPr txBox="1"/>
          <p:nvPr/>
        </p:nvSpPr>
        <p:spPr>
          <a:xfrm>
            <a:off x="2621914" y="6174395"/>
            <a:ext cx="703008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因集团暂停受理IT改造需求，存量包划转初期，新订单由视频部代产创中心接单，业务责任归属产创中心，视频部负管理责任</a:t>
            </a:r>
          </a:p>
        </p:txBody>
      </p:sp>
      <p:sp>
        <p:nvSpPr>
          <p:cNvPr id="35" name="TextBox 34"/>
          <p:cNvSpPr txBox="1"/>
          <p:nvPr/>
        </p:nvSpPr>
        <p:spPr>
          <a:xfrm>
            <a:off x="1725929" y="6402995"/>
            <a:ext cx="882269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视频部负责完成存量服务包在途订单的闭环并负业务责任；在途订单：省侧前期已下单或能提供早于26年3月31日的省客合同或决策纪要，且由视频部接单的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pic>
        <p:nvPicPr>
          <p:cNvPr id="4" name="Picture 3" descr="image.jpg"/>
          <p:cNvPicPr>
            <a:picLocks noChangeAspect="1"/>
          </p:cNvPicPr>
          <p:nvPr/>
        </p:nvPicPr>
        <p:blipFill>
          <a:blip r:embed="rId3"/>
          <a:stretch>
            <a:fillRect/>
          </a:stretch>
        </p:blipFill>
        <p:spPr>
          <a:xfrm>
            <a:off x="126492" y="277368"/>
            <a:ext cx="341376" cy="467868"/>
          </a:xfrm>
          <a:prstGeom prst="rect">
            <a:avLst/>
          </a:prstGeom>
        </p:spPr>
      </p:pic>
      <p:pic>
        <p:nvPicPr>
          <p:cNvPr id="5" name="Picture 4" descr="image.jpg"/>
          <p:cNvPicPr>
            <a:picLocks noChangeAspect="1"/>
          </p:cNvPicPr>
          <p:nvPr/>
        </p:nvPicPr>
        <p:blipFill>
          <a:blip r:embed="rId4"/>
          <a:stretch>
            <a:fillRect/>
          </a:stretch>
        </p:blipFill>
        <p:spPr>
          <a:xfrm>
            <a:off x="9610343" y="230124"/>
            <a:ext cx="2581656" cy="557783"/>
          </a:xfrm>
          <a:prstGeom prst="rect">
            <a:avLst/>
          </a:prstGeom>
        </p:spPr>
      </p:pic>
      <p:pic>
        <p:nvPicPr>
          <p:cNvPr id="6" name="Picture 5" descr="image.jpg"/>
          <p:cNvPicPr>
            <a:picLocks noChangeAspect="1"/>
          </p:cNvPicPr>
          <p:nvPr/>
        </p:nvPicPr>
        <p:blipFill>
          <a:blip r:embed="rId5"/>
          <a:stretch>
            <a:fillRect/>
          </a:stretch>
        </p:blipFill>
        <p:spPr>
          <a:xfrm>
            <a:off x="10216895" y="365759"/>
            <a:ext cx="1784604" cy="288036"/>
          </a:xfrm>
          <a:prstGeom prst="rect">
            <a:avLst/>
          </a:prstGeom>
        </p:spPr>
      </p:pic>
      <p:sp>
        <p:nvSpPr>
          <p:cNvPr id="7" name="TextBox 6"/>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6</a:t>
            </a:r>
          </a:p>
        </p:txBody>
      </p:sp>
      <p:sp>
        <p:nvSpPr>
          <p:cNvPr id="8" name="TextBox 7"/>
          <p:cNvSpPr txBox="1"/>
          <p:nvPr/>
        </p:nvSpPr>
        <p:spPr>
          <a:xfrm>
            <a:off x="706285" y="319711"/>
            <a:ext cx="1829435"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五、下一步工作</a:t>
            </a:r>
          </a:p>
        </p:txBody>
      </p:sp>
      <p:sp>
        <p:nvSpPr>
          <p:cNvPr id="9" name="TextBox 8"/>
          <p:cNvSpPr txBox="1"/>
          <p:nvPr/>
        </p:nvSpPr>
        <p:spPr>
          <a:xfrm>
            <a:off x="263525" y="892289"/>
            <a:ext cx="1193800" cy="3269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solidFill>
                <a:latin typeface="Microsoft YaHei"/>
              </a:rPr>
              <a:t>产创中心：</a:t>
            </a:r>
          </a:p>
        </p:txBody>
      </p:sp>
      <p:sp>
        <p:nvSpPr>
          <p:cNvPr id="10" name="TextBox 9"/>
          <p:cNvSpPr txBox="1"/>
          <p:nvPr/>
        </p:nvSpPr>
        <p:spPr>
          <a:xfrm>
            <a:off x="463550" y="1233615"/>
            <a:ext cx="564705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①26年6月中旬前</a:t>
            </a:r>
            <a:r>
              <a:rPr sz="1405" b="1" i="0">
                <a:solidFill>
                  <a:srgbClr val="C00000"/>
                </a:solidFill>
                <a:latin typeface="Microsoft YaHei"/>
              </a:rPr>
              <a:t>按需完成属地服务包需求</a:t>
            </a:r>
            <a:r>
              <a:rPr sz="1405" b="1" i="0">
                <a:solidFill>
                  <a:srgbClr val="008CFF"/>
                </a:solidFill>
                <a:latin typeface="Microsoft YaHei"/>
              </a:rPr>
              <a:t>立项，6月底前完成上会决策</a:t>
            </a:r>
          </a:p>
        </p:txBody>
      </p:sp>
      <p:sp>
        <p:nvSpPr>
          <p:cNvPr id="11" name="TextBox 10"/>
          <p:cNvSpPr txBox="1"/>
          <p:nvPr/>
        </p:nvSpPr>
        <p:spPr>
          <a:xfrm>
            <a:off x="463550" y="1553655"/>
            <a:ext cx="39630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②更新属地合作伙伴库，招募满足条件的合作伙伴</a:t>
            </a:r>
          </a:p>
        </p:txBody>
      </p:sp>
      <p:sp>
        <p:nvSpPr>
          <p:cNvPr id="12" name="TextBox 11"/>
          <p:cNvSpPr txBox="1"/>
          <p:nvPr/>
        </p:nvSpPr>
        <p:spPr>
          <a:xfrm>
            <a:off x="463550" y="1873695"/>
            <a:ext cx="64522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③组建属地服务包团队，对于订单审核、交付管理、供应链支付环节配置专业人员</a:t>
            </a:r>
          </a:p>
        </p:txBody>
      </p:sp>
      <p:sp>
        <p:nvSpPr>
          <p:cNvPr id="13" name="TextBox 12"/>
          <p:cNvSpPr txBox="1"/>
          <p:nvPr/>
        </p:nvSpPr>
        <p:spPr>
          <a:xfrm>
            <a:off x="263525" y="2478519"/>
            <a:ext cx="965200" cy="3269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solidFill>
                <a:latin typeface="Microsoft YaHei"/>
              </a:rPr>
              <a:t>视频部：</a:t>
            </a:r>
          </a:p>
        </p:txBody>
      </p:sp>
      <p:sp>
        <p:nvSpPr>
          <p:cNvPr id="14" name="TextBox 13"/>
          <p:cNvSpPr txBox="1"/>
          <p:nvPr/>
        </p:nvSpPr>
        <p:spPr>
          <a:xfrm>
            <a:off x="463550" y="2819845"/>
            <a:ext cx="46742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①支撑产创中心</a:t>
            </a:r>
            <a:r>
              <a:rPr sz="1405" b="1" i="0">
                <a:solidFill>
                  <a:srgbClr val="C00000"/>
                </a:solidFill>
                <a:latin typeface="Microsoft YaHei"/>
              </a:rPr>
              <a:t>属地服务包规划，做好存量服务包划转计划</a:t>
            </a:r>
          </a:p>
        </p:txBody>
      </p:sp>
      <p:sp>
        <p:nvSpPr>
          <p:cNvPr id="15" name="TextBox 14"/>
          <p:cNvSpPr txBox="1"/>
          <p:nvPr/>
        </p:nvSpPr>
        <p:spPr>
          <a:xfrm>
            <a:off x="463550" y="3139885"/>
            <a:ext cx="1651635"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②完成在途项目闭环</a:t>
            </a:r>
          </a:p>
        </p:txBody>
      </p:sp>
      <p:sp>
        <p:nvSpPr>
          <p:cNvPr id="16" name="TextBox 15"/>
          <p:cNvSpPr txBox="1"/>
          <p:nvPr/>
        </p:nvSpPr>
        <p:spPr>
          <a:xfrm>
            <a:off x="463550" y="3459925"/>
            <a:ext cx="50298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③支撑产创中心相关业支系统账号配置，按需推动业支系统改造</a:t>
            </a:r>
          </a:p>
        </p:txBody>
      </p:sp>
      <p:sp>
        <p:nvSpPr>
          <p:cNvPr id="17" name="TextBox 16"/>
          <p:cNvSpPr txBox="1"/>
          <p:nvPr/>
        </p:nvSpPr>
        <p:spPr>
          <a:xfrm>
            <a:off x="264159" y="4178414"/>
            <a:ext cx="1422400" cy="3269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solidFill>
                <a:latin typeface="Microsoft YaHei"/>
              </a:rPr>
              <a:t>市场运营部：</a:t>
            </a:r>
          </a:p>
        </p:txBody>
      </p:sp>
      <p:sp>
        <p:nvSpPr>
          <p:cNvPr id="18" name="TextBox 17"/>
          <p:cNvSpPr txBox="1"/>
          <p:nvPr/>
        </p:nvSpPr>
        <p:spPr>
          <a:xfrm>
            <a:off x="464184" y="4519740"/>
            <a:ext cx="2185035"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①负责服务包规划整体规则</a:t>
            </a:r>
          </a:p>
        </p:txBody>
      </p:sp>
      <p:sp>
        <p:nvSpPr>
          <p:cNvPr id="19" name="TextBox 18"/>
          <p:cNvSpPr txBox="1"/>
          <p:nvPr/>
        </p:nvSpPr>
        <p:spPr>
          <a:xfrm>
            <a:off x="464184" y="4839780"/>
            <a:ext cx="43186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②支撑内部合同划转和物料划转（负责沟通数智化部）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33372" y="1127760"/>
            <a:ext cx="1994916"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6260" y="1122044"/>
            <a:ext cx="2007869" cy="35941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084832" y="1751076"/>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78354" y="1744979"/>
            <a:ext cx="1543685" cy="336702"/>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99753" y="2079624"/>
            <a:ext cx="101523" cy="27177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84832" y="2351532"/>
            <a:ext cx="1531620"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78354" y="234520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01035" y="2675216"/>
            <a:ext cx="101536" cy="27626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86355" y="2951988"/>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80260" y="2945282"/>
            <a:ext cx="1543685" cy="336549"/>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01226" y="3275317"/>
            <a:ext cx="101536" cy="27623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86355" y="3552444"/>
            <a:ext cx="1530096" cy="3230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79624" y="3545357"/>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00159" y="3875379"/>
            <a:ext cx="101536" cy="27625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84832" y="4151376"/>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8354" y="4145432"/>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00184" y="4469752"/>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84832" y="4751832"/>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78989" y="474550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988223" y="5075554"/>
            <a:ext cx="869276" cy="30162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06652" y="5376671"/>
            <a:ext cx="1264919"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00175" y="5370829"/>
            <a:ext cx="1276985" cy="336702"/>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044951" y="5829300"/>
            <a:ext cx="1264919"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038475" y="5822950"/>
            <a:ext cx="1276984" cy="336702"/>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844800" y="5075554"/>
            <a:ext cx="883246" cy="75374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406652" y="6435852"/>
            <a:ext cx="2962656" cy="3230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00175" y="6428740"/>
            <a:ext cx="297497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986546" y="5701017"/>
            <a:ext cx="101536" cy="74359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26954" y="6153137"/>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85432" y="1182052"/>
            <a:ext cx="1219199"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64037" y="118205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866888" y="1127760"/>
            <a:ext cx="1994916"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860665" y="1122044"/>
            <a:ext cx="2007869" cy="35941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19837" y="118205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398442" y="118205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25184" y="1090930"/>
            <a:ext cx="12700" cy="514349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98535" y="1770888"/>
            <a:ext cx="1674876"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92440" y="1764664"/>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85580" y="2099310"/>
            <a:ext cx="101536" cy="27177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98535" y="2371344"/>
            <a:ext cx="167487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092440" y="2364739"/>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886876" y="2694901"/>
            <a:ext cx="101536" cy="27626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100059" y="2971800"/>
            <a:ext cx="167487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094344" y="2964814"/>
            <a:ext cx="1686560"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887066" y="3295002"/>
            <a:ext cx="101536" cy="27623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100059" y="3570732"/>
            <a:ext cx="1673352"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093709" y="3564890"/>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885999" y="3895064"/>
            <a:ext cx="101536" cy="27625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098535" y="4171188"/>
            <a:ext cx="1674876"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92440" y="4164965"/>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885390" y="4489437"/>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100059" y="4771644"/>
            <a:ext cx="1673352"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093075" y="4765040"/>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098535" y="5376671"/>
            <a:ext cx="1674876"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092440" y="5370829"/>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885275" y="5100320"/>
            <a:ext cx="101524" cy="27685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image.jpg"/>
          <p:cNvPicPr>
            <a:picLocks noChangeAspect="1"/>
          </p:cNvPicPr>
          <p:nvPr/>
        </p:nvPicPr>
        <p:blipFill>
          <a:blip r:embed="rId2"/>
          <a:stretch>
            <a:fillRect/>
          </a:stretch>
        </p:blipFill>
        <p:spPr>
          <a:xfrm>
            <a:off x="0" y="0"/>
            <a:ext cx="12192000" cy="6858000"/>
          </a:xfrm>
          <a:prstGeom prst="rect">
            <a:avLst/>
          </a:prstGeom>
        </p:spPr>
      </p:pic>
      <p:pic>
        <p:nvPicPr>
          <p:cNvPr id="60" name="Picture 59" descr="image.jpg"/>
          <p:cNvPicPr>
            <a:picLocks noChangeAspect="1"/>
          </p:cNvPicPr>
          <p:nvPr/>
        </p:nvPicPr>
        <p:blipFill>
          <a:blip r:embed="rId3"/>
          <a:stretch>
            <a:fillRect/>
          </a:stretch>
        </p:blipFill>
        <p:spPr>
          <a:xfrm>
            <a:off x="126492" y="277368"/>
            <a:ext cx="341376" cy="467868"/>
          </a:xfrm>
          <a:prstGeom prst="rect">
            <a:avLst/>
          </a:prstGeom>
        </p:spPr>
      </p:pic>
      <p:pic>
        <p:nvPicPr>
          <p:cNvPr id="61" name="Picture 60" descr="image.jpg"/>
          <p:cNvPicPr>
            <a:picLocks noChangeAspect="1"/>
          </p:cNvPicPr>
          <p:nvPr/>
        </p:nvPicPr>
        <p:blipFill>
          <a:blip r:embed="rId4"/>
          <a:stretch>
            <a:fillRect/>
          </a:stretch>
        </p:blipFill>
        <p:spPr>
          <a:xfrm>
            <a:off x="9610343" y="230124"/>
            <a:ext cx="2581656" cy="557783"/>
          </a:xfrm>
          <a:prstGeom prst="rect">
            <a:avLst/>
          </a:prstGeom>
        </p:spPr>
      </p:pic>
      <p:pic>
        <p:nvPicPr>
          <p:cNvPr id="62" name="Picture 61" descr="image.jpg"/>
          <p:cNvPicPr>
            <a:picLocks noChangeAspect="1"/>
          </p:cNvPicPr>
          <p:nvPr/>
        </p:nvPicPr>
        <p:blipFill>
          <a:blip r:embed="rId5"/>
          <a:stretch>
            <a:fillRect/>
          </a:stretch>
        </p:blipFill>
        <p:spPr>
          <a:xfrm>
            <a:off x="10216895" y="365759"/>
            <a:ext cx="1784604" cy="288036"/>
          </a:xfrm>
          <a:prstGeom prst="rect">
            <a:avLst/>
          </a:prstGeom>
        </p:spPr>
      </p:pic>
      <p:sp>
        <p:nvSpPr>
          <p:cNvPr id="63" name="TextBox 62"/>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7</a:t>
            </a:r>
          </a:p>
        </p:txBody>
      </p:sp>
      <p:sp>
        <p:nvSpPr>
          <p:cNvPr id="64" name="TextBox 63"/>
          <p:cNvSpPr txBox="1"/>
          <p:nvPr/>
        </p:nvSpPr>
        <p:spPr>
          <a:xfrm>
            <a:off x="2207895" y="1159955"/>
            <a:ext cx="12960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服务包上架流程</a:t>
            </a:r>
          </a:p>
        </p:txBody>
      </p:sp>
      <p:sp>
        <p:nvSpPr>
          <p:cNvPr id="65" name="TextBox 64"/>
          <p:cNvSpPr txBox="1"/>
          <p:nvPr/>
        </p:nvSpPr>
        <p:spPr>
          <a:xfrm>
            <a:off x="2532379" y="1812185"/>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设计服务包</a:t>
            </a:r>
          </a:p>
        </p:txBody>
      </p:sp>
      <p:sp>
        <p:nvSpPr>
          <p:cNvPr id="66" name="TextBox 65"/>
          <p:cNvSpPr txBox="1"/>
          <p:nvPr/>
        </p:nvSpPr>
        <p:spPr>
          <a:xfrm>
            <a:off x="2214879" y="2336848"/>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市场部等职能部门审核</a:t>
            </a:r>
          </a:p>
        </p:txBody>
      </p:sp>
      <p:sp>
        <p:nvSpPr>
          <p:cNvPr id="67" name="TextBox 66"/>
          <p:cNvSpPr txBox="1"/>
          <p:nvPr/>
        </p:nvSpPr>
        <p:spPr>
          <a:xfrm>
            <a:off x="2532379" y="2489248"/>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服务包规划</a:t>
            </a:r>
          </a:p>
        </p:txBody>
      </p:sp>
      <p:sp>
        <p:nvSpPr>
          <p:cNvPr id="68" name="TextBox 67"/>
          <p:cNvSpPr txBox="1"/>
          <p:nvPr/>
        </p:nvSpPr>
        <p:spPr>
          <a:xfrm>
            <a:off x="2407285" y="3012488"/>
            <a:ext cx="939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公司领导决策会</a:t>
            </a:r>
          </a:p>
        </p:txBody>
      </p:sp>
      <p:sp>
        <p:nvSpPr>
          <p:cNvPr id="69" name="TextBox 68"/>
          <p:cNvSpPr txBox="1"/>
          <p:nvPr/>
        </p:nvSpPr>
        <p:spPr>
          <a:xfrm>
            <a:off x="2470150" y="3612563"/>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甄选合作伙伴</a:t>
            </a:r>
          </a:p>
        </p:txBody>
      </p:sp>
      <p:sp>
        <p:nvSpPr>
          <p:cNvPr id="70" name="TextBox 69"/>
          <p:cNvSpPr txBox="1"/>
          <p:nvPr/>
        </p:nvSpPr>
        <p:spPr>
          <a:xfrm>
            <a:off x="2214879" y="4137073"/>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上架需求及甄选结果报</a:t>
            </a:r>
          </a:p>
        </p:txBody>
      </p:sp>
      <p:sp>
        <p:nvSpPr>
          <p:cNvPr id="71" name="TextBox 70"/>
          <p:cNvSpPr txBox="1"/>
          <p:nvPr/>
        </p:nvSpPr>
        <p:spPr>
          <a:xfrm>
            <a:off x="2468879" y="4289473"/>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集团政企审核</a:t>
            </a:r>
          </a:p>
        </p:txBody>
      </p:sp>
      <p:sp>
        <p:nvSpPr>
          <p:cNvPr id="72" name="TextBox 71"/>
          <p:cNvSpPr txBox="1"/>
          <p:nvPr/>
        </p:nvSpPr>
        <p:spPr>
          <a:xfrm>
            <a:off x="2279014" y="4737148"/>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甄选结果及政企意见</a:t>
            </a:r>
          </a:p>
        </p:txBody>
      </p:sp>
      <p:sp>
        <p:nvSpPr>
          <p:cNvPr id="73" name="TextBox 72"/>
          <p:cNvSpPr txBox="1"/>
          <p:nvPr/>
        </p:nvSpPr>
        <p:spPr>
          <a:xfrm>
            <a:off x="2406014" y="4889548"/>
            <a:ext cx="939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报公司领导决策</a:t>
            </a:r>
          </a:p>
        </p:txBody>
      </p:sp>
      <p:sp>
        <p:nvSpPr>
          <p:cNvPr id="74" name="TextBox 73"/>
          <p:cNvSpPr txBox="1"/>
          <p:nvPr/>
        </p:nvSpPr>
        <p:spPr>
          <a:xfrm>
            <a:off x="1657350" y="5438035"/>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签署结算合同</a:t>
            </a:r>
          </a:p>
        </p:txBody>
      </p:sp>
      <p:sp>
        <p:nvSpPr>
          <p:cNvPr id="75" name="TextBox 74"/>
          <p:cNvSpPr txBox="1"/>
          <p:nvPr/>
        </p:nvSpPr>
        <p:spPr>
          <a:xfrm>
            <a:off x="3168650" y="5814590"/>
            <a:ext cx="1066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业支改造，服务包</a:t>
            </a:r>
          </a:p>
        </p:txBody>
      </p:sp>
      <p:sp>
        <p:nvSpPr>
          <p:cNvPr id="76" name="TextBox 75"/>
          <p:cNvSpPr txBox="1"/>
          <p:nvPr/>
        </p:nvSpPr>
        <p:spPr>
          <a:xfrm>
            <a:off x="3422650" y="5966990"/>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资费上架</a:t>
            </a:r>
          </a:p>
        </p:txBody>
      </p:sp>
      <p:sp>
        <p:nvSpPr>
          <p:cNvPr id="77" name="TextBox 76"/>
          <p:cNvSpPr txBox="1"/>
          <p:nvPr/>
        </p:nvSpPr>
        <p:spPr>
          <a:xfrm>
            <a:off x="2315845" y="6495945"/>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服务包具备销售条件</a:t>
            </a:r>
          </a:p>
        </p:txBody>
      </p:sp>
      <p:sp>
        <p:nvSpPr>
          <p:cNvPr id="78" name="TextBox 77"/>
          <p:cNvSpPr txBox="1"/>
          <p:nvPr/>
        </p:nvSpPr>
        <p:spPr>
          <a:xfrm>
            <a:off x="706285" y="319723"/>
            <a:ext cx="4115434"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附件：千里眼服务包业务责任对照表</a:t>
            </a:r>
          </a:p>
        </p:txBody>
      </p:sp>
      <p:sp>
        <p:nvSpPr>
          <p:cNvPr id="79" name="TextBox 78"/>
          <p:cNvSpPr txBox="1"/>
          <p:nvPr/>
        </p:nvSpPr>
        <p:spPr>
          <a:xfrm>
            <a:off x="480059" y="184647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80" name="TextBox 79"/>
          <p:cNvSpPr txBox="1"/>
          <p:nvPr/>
        </p:nvSpPr>
        <p:spPr>
          <a:xfrm>
            <a:off x="4547870" y="1719870"/>
            <a:ext cx="939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81" name="TextBox 80"/>
          <p:cNvSpPr txBox="1"/>
          <p:nvPr/>
        </p:nvSpPr>
        <p:spPr>
          <a:xfrm>
            <a:off x="4674870" y="1872270"/>
            <a:ext cx="685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视频部支撑</a:t>
            </a:r>
          </a:p>
        </p:txBody>
      </p:sp>
      <p:sp>
        <p:nvSpPr>
          <p:cNvPr id="82" name="TextBox 81"/>
          <p:cNvSpPr txBox="1"/>
          <p:nvPr/>
        </p:nvSpPr>
        <p:spPr>
          <a:xfrm>
            <a:off x="4547870" y="2975265"/>
            <a:ext cx="939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83" name="TextBox 82"/>
          <p:cNvSpPr txBox="1"/>
          <p:nvPr/>
        </p:nvSpPr>
        <p:spPr>
          <a:xfrm>
            <a:off x="4674870" y="3127665"/>
            <a:ext cx="685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视频部列席</a:t>
            </a:r>
          </a:p>
        </p:txBody>
      </p:sp>
      <p:sp>
        <p:nvSpPr>
          <p:cNvPr id="84" name="TextBox 83"/>
          <p:cNvSpPr txBox="1"/>
          <p:nvPr/>
        </p:nvSpPr>
        <p:spPr>
          <a:xfrm>
            <a:off x="480059" y="301741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85" name="TextBox 84"/>
          <p:cNvSpPr txBox="1"/>
          <p:nvPr/>
        </p:nvSpPr>
        <p:spPr>
          <a:xfrm>
            <a:off x="480059" y="418835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86" name="TextBox 85"/>
          <p:cNvSpPr txBox="1"/>
          <p:nvPr/>
        </p:nvSpPr>
        <p:spPr>
          <a:xfrm>
            <a:off x="480059" y="483034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87" name="TextBox 86"/>
          <p:cNvSpPr txBox="1"/>
          <p:nvPr/>
        </p:nvSpPr>
        <p:spPr>
          <a:xfrm>
            <a:off x="4623434" y="418835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88" name="TextBox 87"/>
          <p:cNvSpPr txBox="1"/>
          <p:nvPr/>
        </p:nvSpPr>
        <p:spPr>
          <a:xfrm>
            <a:off x="4547870" y="4750725"/>
            <a:ext cx="939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89" name="TextBox 88"/>
          <p:cNvSpPr txBox="1"/>
          <p:nvPr/>
        </p:nvSpPr>
        <p:spPr>
          <a:xfrm>
            <a:off x="4674870" y="4903125"/>
            <a:ext cx="685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视频部列席</a:t>
            </a:r>
          </a:p>
        </p:txBody>
      </p:sp>
      <p:sp>
        <p:nvSpPr>
          <p:cNvPr id="90" name="TextBox 89"/>
          <p:cNvSpPr txBox="1"/>
          <p:nvPr/>
        </p:nvSpPr>
        <p:spPr>
          <a:xfrm>
            <a:off x="480059" y="541581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91" name="TextBox 90"/>
          <p:cNvSpPr txBox="1"/>
          <p:nvPr/>
        </p:nvSpPr>
        <p:spPr>
          <a:xfrm>
            <a:off x="480059" y="587047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92" name="TextBox 91"/>
          <p:cNvSpPr txBox="1"/>
          <p:nvPr/>
        </p:nvSpPr>
        <p:spPr>
          <a:xfrm>
            <a:off x="437515" y="1211173"/>
            <a:ext cx="965199"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93" name="TextBox 92"/>
          <p:cNvSpPr txBox="1"/>
          <p:nvPr/>
        </p:nvSpPr>
        <p:spPr>
          <a:xfrm>
            <a:off x="4592320" y="121117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94" name="TextBox 93"/>
          <p:cNvSpPr txBox="1"/>
          <p:nvPr/>
        </p:nvSpPr>
        <p:spPr>
          <a:xfrm>
            <a:off x="7975599" y="1159955"/>
            <a:ext cx="18294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集客大厅订单受理流程</a:t>
            </a:r>
          </a:p>
        </p:txBody>
      </p:sp>
      <p:sp>
        <p:nvSpPr>
          <p:cNvPr id="95" name="TextBox 94"/>
          <p:cNvSpPr txBox="1"/>
          <p:nvPr/>
        </p:nvSpPr>
        <p:spPr>
          <a:xfrm>
            <a:off x="6471920" y="1211173"/>
            <a:ext cx="965199"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96" name="TextBox 95"/>
          <p:cNvSpPr txBox="1"/>
          <p:nvPr/>
        </p:nvSpPr>
        <p:spPr>
          <a:xfrm>
            <a:off x="10626725" y="121117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97" name="TextBox 96"/>
          <p:cNvSpPr txBox="1"/>
          <p:nvPr/>
        </p:nvSpPr>
        <p:spPr>
          <a:xfrm>
            <a:off x="8300719" y="1756305"/>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网格售前：客户商机获</a:t>
            </a:r>
          </a:p>
        </p:txBody>
      </p:sp>
      <p:sp>
        <p:nvSpPr>
          <p:cNvPr id="98" name="TextBox 97"/>
          <p:cNvSpPr txBox="1"/>
          <p:nvPr/>
        </p:nvSpPr>
        <p:spPr>
          <a:xfrm>
            <a:off x="8872219" y="1908705"/>
            <a:ext cx="17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取</a:t>
            </a:r>
          </a:p>
        </p:txBody>
      </p:sp>
      <p:sp>
        <p:nvSpPr>
          <p:cNvPr id="99" name="TextBox 98"/>
          <p:cNvSpPr txBox="1"/>
          <p:nvPr/>
        </p:nvSpPr>
        <p:spPr>
          <a:xfrm>
            <a:off x="8237219" y="2356380"/>
            <a:ext cx="144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网格销售经理和产品售前</a:t>
            </a:r>
          </a:p>
        </p:txBody>
      </p:sp>
      <p:sp>
        <p:nvSpPr>
          <p:cNvPr id="100" name="TextBox 99"/>
          <p:cNvSpPr txBox="1"/>
          <p:nvPr/>
        </p:nvSpPr>
        <p:spPr>
          <a:xfrm>
            <a:off x="8427719" y="2508780"/>
            <a:ext cx="1066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经理进行售前支撑</a:t>
            </a:r>
          </a:p>
        </p:txBody>
      </p:sp>
      <p:sp>
        <p:nvSpPr>
          <p:cNvPr id="101" name="TextBox 100"/>
          <p:cNvSpPr txBox="1"/>
          <p:nvPr/>
        </p:nvSpPr>
        <p:spPr>
          <a:xfrm>
            <a:off x="8366125" y="3032020"/>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签署售前沟通确认书</a:t>
            </a:r>
          </a:p>
        </p:txBody>
      </p:sp>
      <p:sp>
        <p:nvSpPr>
          <p:cNvPr id="102" name="TextBox 101"/>
          <p:cNvSpPr txBox="1"/>
          <p:nvPr/>
        </p:nvSpPr>
        <p:spPr>
          <a:xfrm>
            <a:off x="8201025" y="3556530"/>
            <a:ext cx="152209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  客户经理订购标品资费和</a:t>
            </a:r>
          </a:p>
        </p:txBody>
      </p:sp>
      <p:sp>
        <p:nvSpPr>
          <p:cNvPr id="103" name="TextBox 102"/>
          <p:cNvSpPr txBox="1"/>
          <p:nvPr/>
        </p:nvSpPr>
        <p:spPr>
          <a:xfrm>
            <a:off x="8238490" y="3708930"/>
            <a:ext cx="144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服务包资费（集客大厅）</a:t>
            </a:r>
          </a:p>
        </p:txBody>
      </p:sp>
      <p:sp>
        <p:nvSpPr>
          <p:cNvPr id="104" name="TextBox 103"/>
          <p:cNvSpPr txBox="1"/>
          <p:nvPr/>
        </p:nvSpPr>
        <p:spPr>
          <a:xfrm>
            <a:off x="8237219" y="4156605"/>
            <a:ext cx="144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合作伙伴、地市业管、省</a:t>
            </a:r>
          </a:p>
        </p:txBody>
      </p:sp>
      <p:sp>
        <p:nvSpPr>
          <p:cNvPr id="105" name="TextBox 104"/>
          <p:cNvSpPr txBox="1"/>
          <p:nvPr/>
        </p:nvSpPr>
        <p:spPr>
          <a:xfrm>
            <a:off x="8618219" y="430900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侧业管审批</a:t>
            </a:r>
          </a:p>
        </p:txBody>
      </p:sp>
      <p:sp>
        <p:nvSpPr>
          <p:cNvPr id="106" name="TextBox 105"/>
          <p:cNvSpPr txBox="1"/>
          <p:nvPr/>
        </p:nvSpPr>
        <p:spPr>
          <a:xfrm>
            <a:off x="8491855" y="4832245"/>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物联网公司审批</a:t>
            </a:r>
          </a:p>
        </p:txBody>
      </p:sp>
      <p:sp>
        <p:nvSpPr>
          <p:cNvPr id="107" name="TextBox 106"/>
          <p:cNvSpPr txBox="1"/>
          <p:nvPr/>
        </p:nvSpPr>
        <p:spPr>
          <a:xfrm>
            <a:off x="8681719" y="543803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订单生效</a:t>
            </a:r>
          </a:p>
        </p:txBody>
      </p:sp>
      <p:sp>
        <p:nvSpPr>
          <p:cNvPr id="108" name="TextBox 107"/>
          <p:cNvSpPr txBox="1"/>
          <p:nvPr/>
        </p:nvSpPr>
        <p:spPr>
          <a:xfrm>
            <a:off x="6611619" y="483034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09" name="TextBox 108"/>
          <p:cNvSpPr txBox="1"/>
          <p:nvPr/>
        </p:nvSpPr>
        <p:spPr>
          <a:xfrm>
            <a:off x="6548119" y="184647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0" name="TextBox 109"/>
          <p:cNvSpPr txBox="1"/>
          <p:nvPr/>
        </p:nvSpPr>
        <p:spPr>
          <a:xfrm>
            <a:off x="6484620" y="2397655"/>
            <a:ext cx="939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1" name="TextBox 110"/>
          <p:cNvSpPr txBox="1"/>
          <p:nvPr/>
        </p:nvSpPr>
        <p:spPr>
          <a:xfrm>
            <a:off x="6611619" y="255005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视频部支撑</a:t>
            </a:r>
          </a:p>
        </p:txBody>
      </p:sp>
      <p:sp>
        <p:nvSpPr>
          <p:cNvPr id="112" name="TextBox 111"/>
          <p:cNvSpPr txBox="1"/>
          <p:nvPr/>
        </p:nvSpPr>
        <p:spPr>
          <a:xfrm>
            <a:off x="6548119" y="299773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3" name="TextBox 112"/>
          <p:cNvSpPr txBox="1"/>
          <p:nvPr/>
        </p:nvSpPr>
        <p:spPr>
          <a:xfrm>
            <a:off x="10626725" y="184647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4" name="TextBox 113"/>
          <p:cNvSpPr txBox="1"/>
          <p:nvPr/>
        </p:nvSpPr>
        <p:spPr>
          <a:xfrm>
            <a:off x="10626725" y="245393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15" name="TextBox 114"/>
          <p:cNvSpPr txBox="1"/>
          <p:nvPr/>
        </p:nvSpPr>
        <p:spPr>
          <a:xfrm>
            <a:off x="10626725" y="299773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6" name="TextBox 115"/>
          <p:cNvSpPr txBox="1"/>
          <p:nvPr/>
        </p:nvSpPr>
        <p:spPr>
          <a:xfrm>
            <a:off x="10664825" y="4750725"/>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17" name="TextBox 116"/>
          <p:cNvSpPr txBox="1"/>
          <p:nvPr/>
        </p:nvSpPr>
        <p:spPr>
          <a:xfrm>
            <a:off x="10283825" y="4903125"/>
            <a:ext cx="157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（由于业支系统改造流程停</a:t>
            </a:r>
          </a:p>
        </p:txBody>
      </p:sp>
      <p:sp>
        <p:nvSpPr>
          <p:cNvPr id="118" name="TextBox 117"/>
          <p:cNvSpPr txBox="1"/>
          <p:nvPr/>
        </p:nvSpPr>
        <p:spPr>
          <a:xfrm>
            <a:off x="10283825" y="5055525"/>
            <a:ext cx="157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滞，存量包划转初期，新订</a:t>
            </a:r>
          </a:p>
        </p:txBody>
      </p:sp>
      <p:sp>
        <p:nvSpPr>
          <p:cNvPr id="119" name="TextBox 118"/>
          <p:cNvSpPr txBox="1"/>
          <p:nvPr/>
        </p:nvSpPr>
        <p:spPr>
          <a:xfrm>
            <a:off x="10220325" y="5207925"/>
            <a:ext cx="1701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单由视频部代产创中心接单）</a:t>
            </a:r>
          </a:p>
        </p:txBody>
      </p:sp>
      <p:sp>
        <p:nvSpPr>
          <p:cNvPr id="120" name="TextBox 119"/>
          <p:cNvSpPr txBox="1"/>
          <p:nvPr/>
        </p:nvSpPr>
        <p:spPr>
          <a:xfrm>
            <a:off x="4623434" y="587047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21" name="TextBox 120"/>
          <p:cNvSpPr txBox="1"/>
          <p:nvPr/>
        </p:nvSpPr>
        <p:spPr>
          <a:xfrm>
            <a:off x="4559934" y="541303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33372" y="995172"/>
            <a:ext cx="1994916" cy="345947"/>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6260" y="988694"/>
            <a:ext cx="2007869" cy="35941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084832" y="1618488"/>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78354" y="1611630"/>
            <a:ext cx="1543685" cy="336702"/>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99753" y="1946275"/>
            <a:ext cx="101523" cy="27177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84832" y="2218944"/>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78354" y="221185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01035" y="2541866"/>
            <a:ext cx="101536" cy="27626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86355" y="2817876"/>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80260" y="2811932"/>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01226" y="3141967"/>
            <a:ext cx="101536" cy="27623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86355" y="3418332"/>
            <a:ext cx="1530096"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79624" y="3412007"/>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00159" y="3742029"/>
            <a:ext cx="101536" cy="27625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78354" y="4012082"/>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00184" y="4336402"/>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084832" y="4619244"/>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78989" y="461215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85432" y="1048702"/>
            <a:ext cx="1219199"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64037" y="104870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66888" y="995172"/>
            <a:ext cx="1994916" cy="345947"/>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60665" y="988694"/>
            <a:ext cx="2007869" cy="35941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19837" y="104870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98442" y="104870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98535" y="1905000"/>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92440" y="1898014"/>
            <a:ext cx="1543684" cy="336702"/>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13825" y="2232660"/>
            <a:ext cx="101536" cy="27177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92440" y="249824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815120" y="2828251"/>
            <a:ext cx="101536" cy="27626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94344" y="309831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815311" y="3428352"/>
            <a:ext cx="101536" cy="27623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00059" y="3704844"/>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93709" y="369839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14244" y="4028414"/>
            <a:ext cx="101537" cy="27625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98535" y="4305300"/>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92440" y="4298467"/>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99549" y="4952352"/>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84832" y="5234940"/>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078354" y="522810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799549" y="5574652"/>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084832" y="5856732"/>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078354" y="585040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844164" y="1659585"/>
            <a:ext cx="6071197" cy="4765014"/>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814244" y="4665954"/>
            <a:ext cx="101537" cy="27625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092440" y="4936007"/>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30009" y="3648709"/>
            <a:ext cx="1113790" cy="104330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508615" y="3648709"/>
            <a:ext cx="1056640" cy="104330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jpg"/>
          <p:cNvPicPr>
            <a:picLocks noChangeAspect="1"/>
          </p:cNvPicPr>
          <p:nvPr/>
        </p:nvPicPr>
        <p:blipFill>
          <a:blip r:embed="rId2"/>
          <a:stretch>
            <a:fillRect/>
          </a:stretch>
        </p:blipFill>
        <p:spPr>
          <a:xfrm>
            <a:off x="0" y="0"/>
            <a:ext cx="12192000" cy="6858000"/>
          </a:xfrm>
          <a:prstGeom prst="rect">
            <a:avLst/>
          </a:prstGeom>
        </p:spPr>
      </p:pic>
      <p:pic>
        <p:nvPicPr>
          <p:cNvPr id="51" name="Picture 50" descr="image.jpg"/>
          <p:cNvPicPr>
            <a:picLocks noChangeAspect="1"/>
          </p:cNvPicPr>
          <p:nvPr/>
        </p:nvPicPr>
        <p:blipFill>
          <a:blip r:embed="rId3"/>
          <a:stretch>
            <a:fillRect/>
          </a:stretch>
        </p:blipFill>
        <p:spPr>
          <a:xfrm>
            <a:off x="126492" y="277368"/>
            <a:ext cx="341376" cy="467868"/>
          </a:xfrm>
          <a:prstGeom prst="rect">
            <a:avLst/>
          </a:prstGeom>
        </p:spPr>
      </p:pic>
      <p:pic>
        <p:nvPicPr>
          <p:cNvPr id="52" name="Picture 51" descr="image.jpg"/>
          <p:cNvPicPr>
            <a:picLocks noChangeAspect="1"/>
          </p:cNvPicPr>
          <p:nvPr/>
        </p:nvPicPr>
        <p:blipFill>
          <a:blip r:embed="rId4"/>
          <a:stretch>
            <a:fillRect/>
          </a:stretch>
        </p:blipFill>
        <p:spPr>
          <a:xfrm>
            <a:off x="9610343" y="230124"/>
            <a:ext cx="2581656" cy="557783"/>
          </a:xfrm>
          <a:prstGeom prst="rect">
            <a:avLst/>
          </a:prstGeom>
        </p:spPr>
      </p:pic>
      <p:pic>
        <p:nvPicPr>
          <p:cNvPr id="53" name="Picture 52" descr="image.jpg"/>
          <p:cNvPicPr>
            <a:picLocks noChangeAspect="1"/>
          </p:cNvPicPr>
          <p:nvPr/>
        </p:nvPicPr>
        <p:blipFill>
          <a:blip r:embed="rId5"/>
          <a:stretch>
            <a:fillRect/>
          </a:stretch>
        </p:blipFill>
        <p:spPr>
          <a:xfrm>
            <a:off x="10216895" y="365759"/>
            <a:ext cx="1784604" cy="288036"/>
          </a:xfrm>
          <a:prstGeom prst="rect">
            <a:avLst/>
          </a:prstGeom>
        </p:spPr>
      </p:pic>
      <p:sp>
        <p:nvSpPr>
          <p:cNvPr id="54" name="TextBox 53"/>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8</a:t>
            </a:r>
          </a:p>
        </p:txBody>
      </p:sp>
      <p:sp>
        <p:nvSpPr>
          <p:cNvPr id="55" name="TextBox 54"/>
          <p:cNvSpPr txBox="1"/>
          <p:nvPr/>
        </p:nvSpPr>
        <p:spPr>
          <a:xfrm>
            <a:off x="2207895" y="1026605"/>
            <a:ext cx="12960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订单及交付流程</a:t>
            </a:r>
          </a:p>
        </p:txBody>
      </p:sp>
      <p:sp>
        <p:nvSpPr>
          <p:cNvPr id="56" name="TextBox 55"/>
          <p:cNvSpPr txBox="1"/>
          <p:nvPr/>
        </p:nvSpPr>
        <p:spPr>
          <a:xfrm>
            <a:off x="2214879" y="1603270"/>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下销售订单（市场销售</a:t>
            </a:r>
          </a:p>
        </p:txBody>
      </p:sp>
      <p:sp>
        <p:nvSpPr>
          <p:cNvPr id="57" name="TextBox 56"/>
          <p:cNvSpPr txBox="1"/>
          <p:nvPr/>
        </p:nvSpPr>
        <p:spPr>
          <a:xfrm>
            <a:off x="2532379" y="1755670"/>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支撑系统）</a:t>
            </a:r>
          </a:p>
        </p:txBody>
      </p:sp>
      <p:sp>
        <p:nvSpPr>
          <p:cNvPr id="58" name="TextBox 57"/>
          <p:cNvSpPr txBox="1"/>
          <p:nvPr/>
        </p:nvSpPr>
        <p:spPr>
          <a:xfrm>
            <a:off x="2468879" y="2279063"/>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订单报价封装</a:t>
            </a:r>
          </a:p>
        </p:txBody>
      </p:sp>
      <p:sp>
        <p:nvSpPr>
          <p:cNvPr id="59" name="TextBox 58"/>
          <p:cNvSpPr txBox="1"/>
          <p:nvPr/>
        </p:nvSpPr>
        <p:spPr>
          <a:xfrm>
            <a:off x="2407285" y="2879138"/>
            <a:ext cx="939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发起甄选委托单</a:t>
            </a:r>
          </a:p>
        </p:txBody>
      </p:sp>
      <p:sp>
        <p:nvSpPr>
          <p:cNvPr id="60" name="TextBox 59"/>
          <p:cNvSpPr txBox="1"/>
          <p:nvPr/>
        </p:nvSpPr>
        <p:spPr>
          <a:xfrm>
            <a:off x="2406650" y="3479213"/>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甄选委托单审批</a:t>
            </a:r>
          </a:p>
        </p:txBody>
      </p:sp>
      <p:sp>
        <p:nvSpPr>
          <p:cNvPr id="61" name="TextBox 60"/>
          <p:cNvSpPr txBox="1"/>
          <p:nvPr/>
        </p:nvSpPr>
        <p:spPr>
          <a:xfrm>
            <a:off x="2214879" y="4003723"/>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交付支撑部、采购部审</a:t>
            </a:r>
          </a:p>
        </p:txBody>
      </p:sp>
      <p:sp>
        <p:nvSpPr>
          <p:cNvPr id="62" name="TextBox 61"/>
          <p:cNvSpPr txBox="1"/>
          <p:nvPr/>
        </p:nvSpPr>
        <p:spPr>
          <a:xfrm>
            <a:off x="2786379" y="4156123"/>
            <a:ext cx="177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批</a:t>
            </a:r>
          </a:p>
        </p:txBody>
      </p:sp>
      <p:sp>
        <p:nvSpPr>
          <p:cNvPr id="63" name="TextBox 62"/>
          <p:cNvSpPr txBox="1"/>
          <p:nvPr/>
        </p:nvSpPr>
        <p:spPr>
          <a:xfrm>
            <a:off x="2215514" y="4603798"/>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订单审批完成，下发合</a:t>
            </a:r>
          </a:p>
        </p:txBody>
      </p:sp>
      <p:sp>
        <p:nvSpPr>
          <p:cNvPr id="64" name="TextBox 63"/>
          <p:cNvSpPr txBox="1"/>
          <p:nvPr/>
        </p:nvSpPr>
        <p:spPr>
          <a:xfrm>
            <a:off x="2660014" y="4756198"/>
            <a:ext cx="431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作伙伴</a:t>
            </a:r>
          </a:p>
        </p:txBody>
      </p:sp>
      <p:sp>
        <p:nvSpPr>
          <p:cNvPr id="65" name="TextBox 64"/>
          <p:cNvSpPr txBox="1"/>
          <p:nvPr/>
        </p:nvSpPr>
        <p:spPr>
          <a:xfrm>
            <a:off x="577215" y="2884065"/>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66" name="TextBox 65"/>
          <p:cNvSpPr txBox="1"/>
          <p:nvPr/>
        </p:nvSpPr>
        <p:spPr>
          <a:xfrm>
            <a:off x="577215" y="4696990"/>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67" name="TextBox 66"/>
          <p:cNvSpPr txBox="1"/>
          <p:nvPr/>
        </p:nvSpPr>
        <p:spPr>
          <a:xfrm>
            <a:off x="437515" y="1077823"/>
            <a:ext cx="965199"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68" name="TextBox 67"/>
          <p:cNvSpPr txBox="1"/>
          <p:nvPr/>
        </p:nvSpPr>
        <p:spPr>
          <a:xfrm>
            <a:off x="4592320" y="107782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69" name="TextBox 68"/>
          <p:cNvSpPr txBox="1"/>
          <p:nvPr/>
        </p:nvSpPr>
        <p:spPr>
          <a:xfrm>
            <a:off x="8242300" y="1026605"/>
            <a:ext cx="12960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订单及交付流程</a:t>
            </a:r>
          </a:p>
        </p:txBody>
      </p:sp>
      <p:sp>
        <p:nvSpPr>
          <p:cNvPr id="70" name="TextBox 69"/>
          <p:cNvSpPr txBox="1"/>
          <p:nvPr/>
        </p:nvSpPr>
        <p:spPr>
          <a:xfrm>
            <a:off x="6471920" y="1077823"/>
            <a:ext cx="965199"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71" name="TextBox 70"/>
          <p:cNvSpPr txBox="1"/>
          <p:nvPr/>
        </p:nvSpPr>
        <p:spPr>
          <a:xfrm>
            <a:off x="10626725" y="107782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72" name="TextBox 71"/>
          <p:cNvSpPr txBox="1"/>
          <p:nvPr/>
        </p:nvSpPr>
        <p:spPr>
          <a:xfrm>
            <a:off x="8546465" y="196522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客户侧验收</a:t>
            </a:r>
          </a:p>
        </p:txBody>
      </p:sp>
      <p:sp>
        <p:nvSpPr>
          <p:cNvPr id="73" name="TextBox 72"/>
          <p:cNvSpPr txBox="1"/>
          <p:nvPr/>
        </p:nvSpPr>
        <p:spPr>
          <a:xfrm>
            <a:off x="8228965" y="2489883"/>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地市移动发起交付确认</a:t>
            </a:r>
          </a:p>
        </p:txBody>
      </p:sp>
      <p:sp>
        <p:nvSpPr>
          <p:cNvPr id="74" name="TextBox 73"/>
          <p:cNvSpPr txBox="1"/>
          <p:nvPr/>
        </p:nvSpPr>
        <p:spPr>
          <a:xfrm>
            <a:off x="8482965" y="2642283"/>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（集客大厅）</a:t>
            </a:r>
          </a:p>
        </p:txBody>
      </p:sp>
      <p:sp>
        <p:nvSpPr>
          <p:cNvPr id="75" name="TextBox 74"/>
          <p:cNvSpPr txBox="1"/>
          <p:nvPr/>
        </p:nvSpPr>
        <p:spPr>
          <a:xfrm>
            <a:off x="8230869" y="3089958"/>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地市业管、省侧业管审</a:t>
            </a:r>
          </a:p>
        </p:txBody>
      </p:sp>
      <p:sp>
        <p:nvSpPr>
          <p:cNvPr id="76" name="TextBox 75"/>
          <p:cNvSpPr txBox="1"/>
          <p:nvPr/>
        </p:nvSpPr>
        <p:spPr>
          <a:xfrm>
            <a:off x="8802369" y="3242358"/>
            <a:ext cx="17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批</a:t>
            </a:r>
          </a:p>
        </p:txBody>
      </p:sp>
      <p:sp>
        <p:nvSpPr>
          <p:cNvPr id="77" name="TextBox 76"/>
          <p:cNvSpPr txBox="1"/>
          <p:nvPr/>
        </p:nvSpPr>
        <p:spPr>
          <a:xfrm>
            <a:off x="8256269" y="3765598"/>
            <a:ext cx="126809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  物联网公司审核材料</a:t>
            </a:r>
          </a:p>
        </p:txBody>
      </p:sp>
      <p:sp>
        <p:nvSpPr>
          <p:cNvPr id="78" name="TextBox 77"/>
          <p:cNvSpPr txBox="1"/>
          <p:nvPr/>
        </p:nvSpPr>
        <p:spPr>
          <a:xfrm>
            <a:off x="8419465" y="4365673"/>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物联网公司审批</a:t>
            </a:r>
          </a:p>
        </p:txBody>
      </p:sp>
      <p:sp>
        <p:nvSpPr>
          <p:cNvPr id="79" name="TextBox 78"/>
          <p:cNvSpPr txBox="1"/>
          <p:nvPr/>
        </p:nvSpPr>
        <p:spPr>
          <a:xfrm>
            <a:off x="6548119" y="197982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0" name="TextBox 79"/>
          <p:cNvSpPr txBox="1"/>
          <p:nvPr/>
        </p:nvSpPr>
        <p:spPr>
          <a:xfrm>
            <a:off x="513715" y="2264305"/>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1" name="TextBox 80"/>
          <p:cNvSpPr txBox="1"/>
          <p:nvPr/>
        </p:nvSpPr>
        <p:spPr>
          <a:xfrm>
            <a:off x="513715" y="1644545"/>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2" name="TextBox 81"/>
          <p:cNvSpPr txBox="1"/>
          <p:nvPr/>
        </p:nvSpPr>
        <p:spPr>
          <a:xfrm>
            <a:off x="577215" y="3472710"/>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83" name="TextBox 82"/>
          <p:cNvSpPr txBox="1"/>
          <p:nvPr/>
        </p:nvSpPr>
        <p:spPr>
          <a:xfrm>
            <a:off x="4592320" y="226430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4" name="TextBox 83"/>
          <p:cNvSpPr txBox="1"/>
          <p:nvPr/>
        </p:nvSpPr>
        <p:spPr>
          <a:xfrm>
            <a:off x="4592320" y="164454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5" name="TextBox 84"/>
          <p:cNvSpPr txBox="1"/>
          <p:nvPr/>
        </p:nvSpPr>
        <p:spPr>
          <a:xfrm>
            <a:off x="4592320" y="2881285"/>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86" name="TextBox 85"/>
          <p:cNvSpPr txBox="1"/>
          <p:nvPr/>
        </p:nvSpPr>
        <p:spPr>
          <a:xfrm>
            <a:off x="4592320" y="469421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87" name="TextBox 86"/>
          <p:cNvSpPr txBox="1"/>
          <p:nvPr/>
        </p:nvSpPr>
        <p:spPr>
          <a:xfrm>
            <a:off x="2405379" y="5295313"/>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组织供应商交付</a:t>
            </a:r>
          </a:p>
        </p:txBody>
      </p:sp>
      <p:sp>
        <p:nvSpPr>
          <p:cNvPr id="88" name="TextBox 87"/>
          <p:cNvSpPr txBox="1"/>
          <p:nvPr/>
        </p:nvSpPr>
        <p:spPr>
          <a:xfrm>
            <a:off x="577215" y="5270395"/>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89" name="TextBox 88"/>
          <p:cNvSpPr txBox="1"/>
          <p:nvPr/>
        </p:nvSpPr>
        <p:spPr>
          <a:xfrm>
            <a:off x="4592320" y="5267615"/>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90" name="TextBox 89"/>
          <p:cNvSpPr txBox="1"/>
          <p:nvPr/>
        </p:nvSpPr>
        <p:spPr>
          <a:xfrm>
            <a:off x="2341879" y="5917613"/>
            <a:ext cx="1066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交付过程材料管理</a:t>
            </a:r>
          </a:p>
        </p:txBody>
      </p:sp>
      <p:sp>
        <p:nvSpPr>
          <p:cNvPr id="91" name="TextBox 90"/>
          <p:cNvSpPr txBox="1"/>
          <p:nvPr/>
        </p:nvSpPr>
        <p:spPr>
          <a:xfrm>
            <a:off x="577215" y="5882535"/>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92" name="TextBox 91"/>
          <p:cNvSpPr txBox="1"/>
          <p:nvPr/>
        </p:nvSpPr>
        <p:spPr>
          <a:xfrm>
            <a:off x="4592320" y="5879755"/>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93" name="TextBox 92"/>
          <p:cNvSpPr txBox="1"/>
          <p:nvPr/>
        </p:nvSpPr>
        <p:spPr>
          <a:xfrm>
            <a:off x="10626725" y="197982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94" name="TextBox 93"/>
          <p:cNvSpPr txBox="1"/>
          <p:nvPr/>
        </p:nvSpPr>
        <p:spPr>
          <a:xfrm>
            <a:off x="6611619" y="373115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95" name="TextBox 94"/>
          <p:cNvSpPr txBox="1"/>
          <p:nvPr/>
        </p:nvSpPr>
        <p:spPr>
          <a:xfrm>
            <a:off x="10626725" y="440997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视频部再审核</a:t>
            </a:r>
          </a:p>
        </p:txBody>
      </p:sp>
      <p:sp>
        <p:nvSpPr>
          <p:cNvPr id="96" name="TextBox 95"/>
          <p:cNvSpPr txBox="1"/>
          <p:nvPr/>
        </p:nvSpPr>
        <p:spPr>
          <a:xfrm>
            <a:off x="10563859" y="3765840"/>
            <a:ext cx="939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产创中心先审核</a:t>
            </a:r>
          </a:p>
        </p:txBody>
      </p:sp>
      <p:sp>
        <p:nvSpPr>
          <p:cNvPr id="97" name="TextBox 96"/>
          <p:cNvSpPr txBox="1"/>
          <p:nvPr/>
        </p:nvSpPr>
        <p:spPr>
          <a:xfrm>
            <a:off x="8292465" y="5003213"/>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流程完结，次月出账</a:t>
            </a:r>
          </a:p>
        </p:txBody>
      </p:sp>
      <p:sp>
        <p:nvSpPr>
          <p:cNvPr id="98" name="TextBox 97"/>
          <p:cNvSpPr txBox="1"/>
          <p:nvPr/>
        </p:nvSpPr>
        <p:spPr>
          <a:xfrm>
            <a:off x="6611619" y="439981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99" name="TextBox 98"/>
          <p:cNvSpPr txBox="1"/>
          <p:nvPr/>
        </p:nvSpPr>
        <p:spPr>
          <a:xfrm>
            <a:off x="10061575" y="4720880"/>
            <a:ext cx="208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（业支系统改造完成前，由产创中心</a:t>
            </a:r>
          </a:p>
        </p:txBody>
      </p:sp>
      <p:sp>
        <p:nvSpPr>
          <p:cNvPr id="100" name="TextBox 99"/>
          <p:cNvSpPr txBox="1"/>
          <p:nvPr/>
        </p:nvSpPr>
        <p:spPr>
          <a:xfrm>
            <a:off x="10252075" y="4873280"/>
            <a:ext cx="1701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和视频部协同进行材料审核）</a:t>
            </a:r>
          </a:p>
        </p:txBody>
      </p:sp>
      <p:sp>
        <p:nvSpPr>
          <p:cNvPr id="101" name="TextBox 100"/>
          <p:cNvSpPr txBox="1"/>
          <p:nvPr/>
        </p:nvSpPr>
        <p:spPr>
          <a:xfrm>
            <a:off x="706285" y="319723"/>
            <a:ext cx="4115434"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附件：千里眼服务包业务责任对照表</a:t>
            </a:r>
          </a:p>
        </p:txBody>
      </p:sp>
      <p:sp>
        <p:nvSpPr>
          <p:cNvPr id="102" name="TextBox 101"/>
          <p:cNvSpPr txBox="1"/>
          <p:nvPr/>
        </p:nvSpPr>
        <p:spPr>
          <a:xfrm>
            <a:off x="4592320" y="346993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4007" y="1048702"/>
            <a:ext cx="1219199"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06887" y="104870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97379" y="1024127"/>
            <a:ext cx="1996439"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91664" y="1017905"/>
            <a:ext cx="2007869" cy="359409"/>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30551" y="1632204"/>
            <a:ext cx="1530095"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23439" y="1625752"/>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46120" y="1955761"/>
            <a:ext cx="101536" cy="2762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32076" y="2232660"/>
            <a:ext cx="153009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25345" y="2225827"/>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46120" y="2568536"/>
            <a:ext cx="101536" cy="2762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32076" y="2845307"/>
            <a:ext cx="153009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25345" y="283860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46120" y="3180676"/>
            <a:ext cx="101536" cy="2762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25345" y="345074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46120" y="3792816"/>
            <a:ext cx="101536" cy="27626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125345" y="406288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46120" y="4404956"/>
            <a:ext cx="101536" cy="2762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125345" y="467502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59495" y="2901695"/>
            <a:ext cx="1531619"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3501" y="2895549"/>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75103" y="3225800"/>
            <a:ext cx="101536" cy="300354"/>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59495" y="3526535"/>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53501" y="3519754"/>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75103" y="3850004"/>
            <a:ext cx="101536" cy="300354"/>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59495" y="4149852"/>
            <a:ext cx="1531619"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53501" y="4143959"/>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71978" y="4474121"/>
            <a:ext cx="101536" cy="30234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59495" y="4774691"/>
            <a:ext cx="1531619" cy="3230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53501" y="4768164"/>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73782" y="5100230"/>
            <a:ext cx="101523" cy="29853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9495" y="5398008"/>
            <a:ext cx="1531619"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53501" y="5392369"/>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72525" y="2572283"/>
            <a:ext cx="101523" cy="33215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59495" y="1653539"/>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53501" y="1647139"/>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73629" y="1977237"/>
            <a:ext cx="101524" cy="300456"/>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159495" y="2278379"/>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53501" y="2271344"/>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27847" y="1024127"/>
            <a:ext cx="1994916"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21625" y="1017905"/>
            <a:ext cx="2007869" cy="359409"/>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76657" y="1048702"/>
            <a:ext cx="1219199"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355262" y="104870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925184" y="1090930"/>
            <a:ext cx="12700" cy="470026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jpg"/>
          <p:cNvPicPr>
            <a:picLocks noChangeAspect="1"/>
          </p:cNvPicPr>
          <p:nvPr/>
        </p:nvPicPr>
        <p:blipFill>
          <a:blip r:embed="rId2"/>
          <a:stretch>
            <a:fillRect/>
          </a:stretch>
        </p:blipFill>
        <p:spPr>
          <a:xfrm>
            <a:off x="0" y="0"/>
            <a:ext cx="12192000" cy="6858000"/>
          </a:xfrm>
          <a:prstGeom prst="rect">
            <a:avLst/>
          </a:prstGeom>
        </p:spPr>
      </p:pic>
      <p:pic>
        <p:nvPicPr>
          <p:cNvPr id="47" name="Picture 46" descr="image.jpg"/>
          <p:cNvPicPr>
            <a:picLocks noChangeAspect="1"/>
          </p:cNvPicPr>
          <p:nvPr/>
        </p:nvPicPr>
        <p:blipFill>
          <a:blip r:embed="rId3"/>
          <a:stretch>
            <a:fillRect/>
          </a:stretch>
        </p:blipFill>
        <p:spPr>
          <a:xfrm>
            <a:off x="126492" y="277368"/>
            <a:ext cx="341376" cy="467868"/>
          </a:xfrm>
          <a:prstGeom prst="rect">
            <a:avLst/>
          </a:prstGeom>
        </p:spPr>
      </p:pic>
      <p:pic>
        <p:nvPicPr>
          <p:cNvPr id="48" name="Picture 47" descr="image.jpg"/>
          <p:cNvPicPr>
            <a:picLocks noChangeAspect="1"/>
          </p:cNvPicPr>
          <p:nvPr/>
        </p:nvPicPr>
        <p:blipFill>
          <a:blip r:embed="rId4"/>
          <a:stretch>
            <a:fillRect/>
          </a:stretch>
        </p:blipFill>
        <p:spPr>
          <a:xfrm>
            <a:off x="9610343" y="230124"/>
            <a:ext cx="2581656" cy="557783"/>
          </a:xfrm>
          <a:prstGeom prst="rect">
            <a:avLst/>
          </a:prstGeom>
        </p:spPr>
      </p:pic>
      <p:pic>
        <p:nvPicPr>
          <p:cNvPr id="49" name="Picture 48" descr="image.jpg"/>
          <p:cNvPicPr>
            <a:picLocks noChangeAspect="1"/>
          </p:cNvPicPr>
          <p:nvPr/>
        </p:nvPicPr>
        <p:blipFill>
          <a:blip r:embed="rId5"/>
          <a:stretch>
            <a:fillRect/>
          </a:stretch>
        </p:blipFill>
        <p:spPr>
          <a:xfrm>
            <a:off x="10216895" y="365759"/>
            <a:ext cx="1784604" cy="288036"/>
          </a:xfrm>
          <a:prstGeom prst="rect">
            <a:avLst/>
          </a:prstGeom>
        </p:spPr>
      </p:pic>
      <p:sp>
        <p:nvSpPr>
          <p:cNvPr id="50" name="TextBox 49"/>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9</a:t>
            </a:r>
          </a:p>
        </p:txBody>
      </p:sp>
      <p:sp>
        <p:nvSpPr>
          <p:cNvPr id="51" name="TextBox 50"/>
          <p:cNvSpPr txBox="1"/>
          <p:nvPr/>
        </p:nvSpPr>
        <p:spPr>
          <a:xfrm>
            <a:off x="466090" y="1077823"/>
            <a:ext cx="965199"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52" name="TextBox 51"/>
          <p:cNvSpPr txBox="1"/>
          <p:nvPr/>
        </p:nvSpPr>
        <p:spPr>
          <a:xfrm>
            <a:off x="4535170" y="107782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53" name="TextBox 52"/>
          <p:cNvSpPr txBox="1"/>
          <p:nvPr/>
        </p:nvSpPr>
        <p:spPr>
          <a:xfrm>
            <a:off x="2540000" y="1055815"/>
            <a:ext cx="7626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计收流程</a:t>
            </a:r>
          </a:p>
        </p:txBody>
      </p:sp>
      <p:sp>
        <p:nvSpPr>
          <p:cNvPr id="54" name="TextBox 53"/>
          <p:cNvSpPr txBox="1"/>
          <p:nvPr/>
        </p:nvSpPr>
        <p:spPr>
          <a:xfrm>
            <a:off x="2513964" y="1692958"/>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发起订单计收</a:t>
            </a:r>
          </a:p>
        </p:txBody>
      </p:sp>
      <p:sp>
        <p:nvSpPr>
          <p:cNvPr id="55" name="TextBox 54"/>
          <p:cNvSpPr txBox="1"/>
          <p:nvPr/>
        </p:nvSpPr>
        <p:spPr>
          <a:xfrm>
            <a:off x="2261870" y="2217468"/>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订单所属部门审批（核</a:t>
            </a:r>
          </a:p>
        </p:txBody>
      </p:sp>
      <p:sp>
        <p:nvSpPr>
          <p:cNvPr id="56" name="TextBox 55"/>
          <p:cNvSpPr txBox="1"/>
          <p:nvPr/>
        </p:nvSpPr>
        <p:spPr>
          <a:xfrm>
            <a:off x="2642870" y="2369868"/>
            <a:ext cx="558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算系统）</a:t>
            </a:r>
          </a:p>
        </p:txBody>
      </p:sp>
      <p:sp>
        <p:nvSpPr>
          <p:cNvPr id="57" name="TextBox 56"/>
          <p:cNvSpPr txBox="1"/>
          <p:nvPr/>
        </p:nvSpPr>
        <p:spPr>
          <a:xfrm>
            <a:off x="2388870" y="2905808"/>
            <a:ext cx="1066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产品合规专员审批</a:t>
            </a:r>
          </a:p>
        </p:txBody>
      </p:sp>
      <p:sp>
        <p:nvSpPr>
          <p:cNvPr id="58" name="TextBox 57"/>
          <p:cNvSpPr txBox="1"/>
          <p:nvPr/>
        </p:nvSpPr>
        <p:spPr>
          <a:xfrm>
            <a:off x="2452370" y="3517948"/>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交付支撑部审批</a:t>
            </a:r>
          </a:p>
        </p:txBody>
      </p:sp>
      <p:sp>
        <p:nvSpPr>
          <p:cNvPr id="59" name="TextBox 58"/>
          <p:cNvSpPr txBox="1"/>
          <p:nvPr/>
        </p:nvSpPr>
        <p:spPr>
          <a:xfrm>
            <a:off x="2579370" y="4130088"/>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财务部审批</a:t>
            </a:r>
          </a:p>
        </p:txBody>
      </p:sp>
      <p:sp>
        <p:nvSpPr>
          <p:cNvPr id="60" name="TextBox 59"/>
          <p:cNvSpPr txBox="1"/>
          <p:nvPr/>
        </p:nvSpPr>
        <p:spPr>
          <a:xfrm>
            <a:off x="605790" y="2898670"/>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61" name="TextBox 60"/>
          <p:cNvSpPr txBox="1"/>
          <p:nvPr/>
        </p:nvSpPr>
        <p:spPr>
          <a:xfrm>
            <a:off x="2642870" y="4742228"/>
            <a:ext cx="558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计收完成</a:t>
            </a:r>
          </a:p>
        </p:txBody>
      </p:sp>
      <p:sp>
        <p:nvSpPr>
          <p:cNvPr id="62" name="TextBox 61"/>
          <p:cNvSpPr txBox="1"/>
          <p:nvPr/>
        </p:nvSpPr>
        <p:spPr>
          <a:xfrm>
            <a:off x="542290" y="1737255"/>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63" name="TextBox 62"/>
          <p:cNvSpPr txBox="1"/>
          <p:nvPr/>
        </p:nvSpPr>
        <p:spPr>
          <a:xfrm>
            <a:off x="542290" y="2292880"/>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64" name="TextBox 63"/>
          <p:cNvSpPr txBox="1"/>
          <p:nvPr/>
        </p:nvSpPr>
        <p:spPr>
          <a:xfrm>
            <a:off x="4535170" y="173725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65" name="TextBox 64"/>
          <p:cNvSpPr txBox="1"/>
          <p:nvPr/>
        </p:nvSpPr>
        <p:spPr>
          <a:xfrm>
            <a:off x="4535170" y="229288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66" name="TextBox 65"/>
          <p:cNvSpPr txBox="1"/>
          <p:nvPr/>
        </p:nvSpPr>
        <p:spPr>
          <a:xfrm>
            <a:off x="8417026" y="2962755"/>
            <a:ext cx="1066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客户财务部门打款</a:t>
            </a:r>
          </a:p>
        </p:txBody>
      </p:sp>
      <p:sp>
        <p:nvSpPr>
          <p:cNvPr id="67" name="TextBox 66"/>
          <p:cNvSpPr txBox="1"/>
          <p:nvPr/>
        </p:nvSpPr>
        <p:spPr>
          <a:xfrm>
            <a:off x="8353526" y="3586960"/>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业务部门核销应收单</a:t>
            </a:r>
          </a:p>
        </p:txBody>
      </p:sp>
      <p:sp>
        <p:nvSpPr>
          <p:cNvPr id="68" name="TextBox 67"/>
          <p:cNvSpPr txBox="1"/>
          <p:nvPr/>
        </p:nvSpPr>
        <p:spPr>
          <a:xfrm>
            <a:off x="8290026" y="4135600"/>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根据回款情况向供应商</a:t>
            </a:r>
          </a:p>
        </p:txBody>
      </p:sp>
      <p:sp>
        <p:nvSpPr>
          <p:cNvPr id="69" name="TextBox 68"/>
          <p:cNvSpPr txBox="1"/>
          <p:nvPr/>
        </p:nvSpPr>
        <p:spPr>
          <a:xfrm>
            <a:off x="8798026" y="4288000"/>
            <a:ext cx="304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报账</a:t>
            </a:r>
          </a:p>
        </p:txBody>
      </p:sp>
      <p:sp>
        <p:nvSpPr>
          <p:cNvPr id="70" name="TextBox 69"/>
          <p:cNvSpPr txBox="1"/>
          <p:nvPr/>
        </p:nvSpPr>
        <p:spPr>
          <a:xfrm>
            <a:off x="8353526" y="4835369"/>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财务部付款给供应商</a:t>
            </a:r>
          </a:p>
        </p:txBody>
      </p:sp>
      <p:sp>
        <p:nvSpPr>
          <p:cNvPr id="71" name="TextBox 70"/>
          <p:cNvSpPr txBox="1"/>
          <p:nvPr/>
        </p:nvSpPr>
        <p:spPr>
          <a:xfrm>
            <a:off x="8671026" y="545957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流程结束</a:t>
            </a:r>
          </a:p>
        </p:txBody>
      </p:sp>
      <p:sp>
        <p:nvSpPr>
          <p:cNvPr id="72" name="TextBox 71"/>
          <p:cNvSpPr txBox="1"/>
          <p:nvPr/>
        </p:nvSpPr>
        <p:spPr>
          <a:xfrm>
            <a:off x="8353526" y="1714345"/>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开票、准备报账材料</a:t>
            </a:r>
          </a:p>
        </p:txBody>
      </p:sp>
      <p:sp>
        <p:nvSpPr>
          <p:cNvPr id="73" name="TextBox 72"/>
          <p:cNvSpPr txBox="1"/>
          <p:nvPr/>
        </p:nvSpPr>
        <p:spPr>
          <a:xfrm>
            <a:off x="8290026" y="2262985"/>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递交报账材料，发起报</a:t>
            </a:r>
          </a:p>
        </p:txBody>
      </p:sp>
      <p:sp>
        <p:nvSpPr>
          <p:cNvPr id="74" name="TextBox 73"/>
          <p:cNvSpPr txBox="1"/>
          <p:nvPr/>
        </p:nvSpPr>
        <p:spPr>
          <a:xfrm>
            <a:off x="8861526" y="2415385"/>
            <a:ext cx="17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账</a:t>
            </a:r>
          </a:p>
        </p:txBody>
      </p:sp>
      <p:sp>
        <p:nvSpPr>
          <p:cNvPr id="75" name="TextBox 74"/>
          <p:cNvSpPr txBox="1"/>
          <p:nvPr/>
        </p:nvSpPr>
        <p:spPr>
          <a:xfrm>
            <a:off x="8569959" y="1055815"/>
            <a:ext cx="7626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结算流程</a:t>
            </a:r>
          </a:p>
        </p:txBody>
      </p:sp>
      <p:sp>
        <p:nvSpPr>
          <p:cNvPr id="76" name="TextBox 75"/>
          <p:cNvSpPr txBox="1"/>
          <p:nvPr/>
        </p:nvSpPr>
        <p:spPr>
          <a:xfrm>
            <a:off x="6428740" y="1077823"/>
            <a:ext cx="9652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77" name="TextBox 76"/>
          <p:cNvSpPr txBox="1"/>
          <p:nvPr/>
        </p:nvSpPr>
        <p:spPr>
          <a:xfrm>
            <a:off x="10583544" y="107782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78" name="TextBox 77"/>
          <p:cNvSpPr txBox="1"/>
          <p:nvPr/>
        </p:nvSpPr>
        <p:spPr>
          <a:xfrm>
            <a:off x="6664325" y="173725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79" name="TextBox 78"/>
          <p:cNvSpPr txBox="1"/>
          <p:nvPr/>
        </p:nvSpPr>
        <p:spPr>
          <a:xfrm>
            <a:off x="6664325" y="230875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0" name="TextBox 79"/>
          <p:cNvSpPr txBox="1"/>
          <p:nvPr/>
        </p:nvSpPr>
        <p:spPr>
          <a:xfrm>
            <a:off x="6664325" y="357431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1" name="TextBox 80"/>
          <p:cNvSpPr txBox="1"/>
          <p:nvPr/>
        </p:nvSpPr>
        <p:spPr>
          <a:xfrm>
            <a:off x="10583544" y="173725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2" name="TextBox 81"/>
          <p:cNvSpPr txBox="1"/>
          <p:nvPr/>
        </p:nvSpPr>
        <p:spPr>
          <a:xfrm>
            <a:off x="10583544" y="230875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3" name="TextBox 82"/>
          <p:cNvSpPr txBox="1"/>
          <p:nvPr/>
        </p:nvSpPr>
        <p:spPr>
          <a:xfrm>
            <a:off x="10583544" y="357431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4" name="TextBox 83"/>
          <p:cNvSpPr txBox="1"/>
          <p:nvPr/>
        </p:nvSpPr>
        <p:spPr>
          <a:xfrm>
            <a:off x="6717030" y="422709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85" name="TextBox 84"/>
          <p:cNvSpPr txBox="1"/>
          <p:nvPr/>
        </p:nvSpPr>
        <p:spPr>
          <a:xfrm>
            <a:off x="706285" y="319723"/>
            <a:ext cx="4115434"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附件：千里眼服务包业务责任对照表</a:t>
            </a:r>
          </a:p>
        </p:txBody>
      </p:sp>
      <p:sp>
        <p:nvSpPr>
          <p:cNvPr id="86" name="TextBox 85"/>
          <p:cNvSpPr txBox="1"/>
          <p:nvPr/>
        </p:nvSpPr>
        <p:spPr>
          <a:xfrm>
            <a:off x="4535170" y="289589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87" name="TextBox 86"/>
          <p:cNvSpPr txBox="1"/>
          <p:nvPr/>
        </p:nvSpPr>
        <p:spPr>
          <a:xfrm>
            <a:off x="10583544" y="422431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