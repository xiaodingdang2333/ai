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TEXT_1"/>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1</a:t>
            </a:r>
          </a:p>
        </p:txBody>
      </p:sp>
      <p:sp>
        <p:nvSpPr>
          <p:cNvPr id="4" name="EDITABLE_TEXT_千里眼DICT集成服务细化管理方案"/>
          <p:cNvSpPr txBox="1"/>
          <p:nvPr/>
        </p:nvSpPr>
        <p:spPr>
          <a:xfrm>
            <a:off x="1421764" y="2366213"/>
            <a:ext cx="9448165" cy="937666"/>
          </a:xfrm>
          <a:prstGeom prst="rect">
            <a:avLst/>
          </a:prstGeom>
          <a:noFill/>
        </p:spPr>
        <p:txBody>
          <a:bodyPr wrap="none" lIns="0" rIns="0" tIns="0" bIns="0">
            <a:spAutoFit/>
          </a:bodyPr>
          <a:lstStyle/>
          <a:p>
            <a:pPr>
              <a:lnSpc>
                <a:spcPct val="100000"/>
              </a:lnSpc>
              <a:spcBef>
                <a:spcPts val="0"/>
              </a:spcBef>
              <a:spcAft>
                <a:spcPts val="0"/>
              </a:spcAft>
            </a:pPr>
            <a:r>
              <a:rPr sz="4800" b="1" i="0">
                <a:solidFill>
                  <a:srgbClr val="008CFF"/>
                </a:solidFill>
                <a:latin typeface="Microsoft YaHei"/>
              </a:rPr>
              <a:t>千里眼</a:t>
            </a:r>
            <a:r>
              <a:rPr sz="4800" b="1" i="0">
                <a:solidFill>
                  <a:srgbClr val="008CFF"/>
                </a:solidFill>
                <a:latin typeface="Microsoft YaHei"/>
              </a:rPr>
              <a:t>DICT</a:t>
            </a:r>
            <a:r>
              <a:rPr sz="4800" b="1" i="0">
                <a:solidFill>
                  <a:srgbClr val="008CFF"/>
                </a:solidFill>
                <a:latin typeface="Microsoft YaHei"/>
              </a:rPr>
              <a:t>集成服务细化管理方案</a:t>
            </a:r>
          </a:p>
        </p:txBody>
      </p:sp>
      <p:sp>
        <p:nvSpPr>
          <p:cNvPr id="5" name="EDITABLE_TEXT_市场运营部|视频物联网产品部 "/>
          <p:cNvSpPr txBox="1"/>
          <p:nvPr/>
        </p:nvSpPr>
        <p:spPr>
          <a:xfrm>
            <a:off x="4512462" y="4839577"/>
            <a:ext cx="3540173" cy="4105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solidFill>
                <a:latin typeface="Microsoft YaHei"/>
              </a:rPr>
              <a:t>市场运营部</a:t>
            </a:r>
            <a:r>
              <a:rPr sz="2005" b="0" i="0">
                <a:solidFill>
                  <a:srgbClr val="008CFF"/>
                </a:solidFill>
                <a:latin typeface="Microsoft YaHei"/>
              </a:rPr>
              <a:t>|</a:t>
            </a:r>
            <a:r>
              <a:rPr sz="2005" b="0" i="0">
                <a:solidFill>
                  <a:srgbClr val="008CFF"/>
                </a:solidFill>
                <a:latin typeface="Microsoft YaHei"/>
              </a:rPr>
              <a:t>视频物联网产品部</a:t>
            </a:r>
            <a:r>
              <a:rPr sz="2005" b="0" i="0">
                <a:solidFill>
                  <a:srgbClr val="008CFF"/>
                </a:solidFill>
                <a:latin typeface="Microsoft YaHei"/>
              </a:rPr>
              <a:t> </a:t>
            </a:r>
          </a:p>
        </p:txBody>
      </p:sp>
      <p:sp>
        <p:nvSpPr>
          <p:cNvPr id="6" name="EDITABLE_TEXT_2026年5月"/>
          <p:cNvSpPr txBox="1"/>
          <p:nvPr/>
        </p:nvSpPr>
        <p:spPr>
          <a:xfrm>
            <a:off x="5590057" y="5235817"/>
            <a:ext cx="1315084" cy="4105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solidFill>
                <a:latin typeface="Microsoft YaHei"/>
              </a:rPr>
              <a:t>2026</a:t>
            </a:r>
            <a:r>
              <a:rPr sz="2005" b="0" i="0">
                <a:solidFill>
                  <a:srgbClr val="008CFF"/>
                </a:solidFill>
                <a:latin typeface="Microsoft YaHei"/>
              </a:rPr>
              <a:t>年</a:t>
            </a:r>
            <a:r>
              <a:rPr sz="2005" b="0" i="0">
                <a:solidFill>
                  <a:srgbClr val="008CFF"/>
                </a:solidFill>
                <a:latin typeface="Microsoft YaHei"/>
              </a:rPr>
              <a:t>5</a:t>
            </a:r>
            <a:r>
              <a:rPr sz="2005" b="0" i="0">
                <a:solidFill>
                  <a:srgbClr val="008CFF"/>
                </a:solidFill>
                <a:latin typeface="Microsoft YaHei"/>
              </a:rPr>
              <a:t>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SHAPE"/>
          <p:cNvSpPr/>
          <p:nvPr/>
        </p:nvSpPr>
        <p:spPr>
          <a:xfrm>
            <a:off x="1548383" y="1616963"/>
            <a:ext cx="2985516" cy="2453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ITABLE_SHAPE"/>
          <p:cNvSpPr/>
          <p:nvPr/>
        </p:nvSpPr>
        <p:spPr>
          <a:xfrm>
            <a:off x="7648956" y="1616963"/>
            <a:ext cx="2985516" cy="2453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DITABLE_SHAPE"/>
          <p:cNvSpPr/>
          <p:nvPr/>
        </p:nvSpPr>
        <p:spPr>
          <a:xfrm>
            <a:off x="3456940" y="2410460"/>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DITABLE_SHAPE"/>
          <p:cNvSpPr/>
          <p:nvPr/>
        </p:nvSpPr>
        <p:spPr>
          <a:xfrm>
            <a:off x="3456940" y="2608579"/>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DITABLE_SHAPE"/>
          <p:cNvSpPr/>
          <p:nvPr/>
        </p:nvSpPr>
        <p:spPr>
          <a:xfrm>
            <a:off x="3456940" y="3797300"/>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ABLE_SHAPE"/>
          <p:cNvSpPr/>
          <p:nvPr/>
        </p:nvSpPr>
        <p:spPr>
          <a:xfrm>
            <a:off x="4140834" y="2806700"/>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ABLE_SHAPE"/>
          <p:cNvSpPr/>
          <p:nvPr/>
        </p:nvSpPr>
        <p:spPr>
          <a:xfrm>
            <a:off x="4140834" y="3004820"/>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ABLE_SHAPE"/>
          <p:cNvSpPr/>
          <p:nvPr/>
        </p:nvSpPr>
        <p:spPr>
          <a:xfrm>
            <a:off x="4140834" y="320293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ABLE_SHAPE"/>
          <p:cNvSpPr/>
          <p:nvPr/>
        </p:nvSpPr>
        <p:spPr>
          <a:xfrm>
            <a:off x="4140834" y="340105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ABLE_SHAPE"/>
          <p:cNvSpPr/>
          <p:nvPr/>
        </p:nvSpPr>
        <p:spPr>
          <a:xfrm>
            <a:off x="4140834" y="359917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ABLE_SHAPE"/>
          <p:cNvSpPr/>
          <p:nvPr/>
        </p:nvSpPr>
        <p:spPr>
          <a:xfrm>
            <a:off x="3458514" y="440317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ABLE_SHAPE"/>
          <p:cNvSpPr/>
          <p:nvPr/>
        </p:nvSpPr>
        <p:spPr>
          <a:xfrm>
            <a:off x="3458514" y="460129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ABLE_SHAPE"/>
          <p:cNvSpPr/>
          <p:nvPr/>
        </p:nvSpPr>
        <p:spPr>
          <a:xfrm>
            <a:off x="3458514" y="539377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ABLE_SHAPE"/>
          <p:cNvSpPr/>
          <p:nvPr/>
        </p:nvSpPr>
        <p:spPr>
          <a:xfrm>
            <a:off x="4142409" y="479941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ABLE_SHAPE"/>
          <p:cNvSpPr/>
          <p:nvPr/>
        </p:nvSpPr>
        <p:spPr>
          <a:xfrm>
            <a:off x="4142409" y="4997538"/>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ABLE_SHAPE"/>
          <p:cNvSpPr/>
          <p:nvPr/>
        </p:nvSpPr>
        <p:spPr>
          <a:xfrm>
            <a:off x="4142409" y="5195658"/>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ABLE_TEXT_2"/>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2</a:t>
            </a:r>
          </a:p>
        </p:txBody>
      </p:sp>
      <p:sp>
        <p:nvSpPr>
          <p:cNvPr id="20" name="EDITABLE_TEXT_一、服务包分类管理，产品部门与产创中心按需规划建"/>
          <p:cNvSpPr txBox="1"/>
          <p:nvPr/>
        </p:nvSpPr>
        <p:spPr>
          <a:xfrm>
            <a:off x="706285" y="319647"/>
            <a:ext cx="6452222" cy="3993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一、服务包分类管理，产品部门与产创中心按需规划建设</a:t>
            </a:r>
          </a:p>
        </p:txBody>
      </p:sp>
      <p:sp>
        <p:nvSpPr>
          <p:cNvPr id="21" name="EDITABLE_TEXT_•"/>
          <p:cNvSpPr txBox="1"/>
          <p:nvPr/>
        </p:nvSpPr>
        <p:spPr>
          <a:xfrm>
            <a:off x="330200" y="941642"/>
            <a:ext cx="164052" cy="3067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22" name="EDITABLE_TEXT_公司内部对服务包细化管理，分成“产品定制类”和“"/>
          <p:cNvSpPr txBox="1"/>
          <p:nvPr/>
        </p:nvSpPr>
        <p:spPr>
          <a:xfrm>
            <a:off x="582294" y="938251"/>
            <a:ext cx="98812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公司内部对服务包细化管理，分成</a:t>
            </a:r>
            <a:r>
              <a:rPr sz="1405" b="1" i="0">
                <a:solidFill>
                  <a:srgbClr val="C00000"/>
                </a:solidFill>
                <a:latin typeface="Microsoft YaHei"/>
              </a:rPr>
              <a:t>“产品定制类”和“集成装维类”两类</a:t>
            </a:r>
            <a:r>
              <a:rPr sz="1405" b="1" i="0">
                <a:solidFill>
                  <a:srgbClr val="008CFF"/>
                </a:solidFill>
                <a:latin typeface="Microsoft YaHei"/>
              </a:rPr>
              <a:t>，由各产品部门、产创中心共同参与服务包立项建设</a:t>
            </a:r>
          </a:p>
        </p:txBody>
      </p:sp>
      <p:sp>
        <p:nvSpPr>
          <p:cNvPr id="23" name="EDITABLE_TEXT_•"/>
          <p:cNvSpPr txBox="1"/>
          <p:nvPr/>
        </p:nvSpPr>
        <p:spPr>
          <a:xfrm>
            <a:off x="330200" y="1261682"/>
            <a:ext cx="164052" cy="3067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C00000"/>
                </a:solidFill>
                <a:latin typeface="Microsoft YaHei"/>
              </a:rPr>
              <a:t>•</a:t>
            </a:r>
          </a:p>
        </p:txBody>
      </p:sp>
      <p:sp>
        <p:nvSpPr>
          <p:cNvPr id="24" name="EDITABLE_TEXT_“产品定制类”服务包明确场景、明确应用，按行业产"/>
          <p:cNvSpPr txBox="1"/>
          <p:nvPr/>
        </p:nvSpPr>
        <p:spPr>
          <a:xfrm>
            <a:off x="582294" y="1258291"/>
            <a:ext cx="114814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C00000"/>
                </a:solidFill>
                <a:latin typeface="Microsoft YaHei"/>
              </a:rPr>
              <a:t>“产品定制类”</a:t>
            </a:r>
            <a:r>
              <a:rPr sz="1405" b="1" i="0">
                <a:solidFill>
                  <a:srgbClr val="008CFF"/>
                </a:solidFill>
                <a:latin typeface="Microsoft YaHei"/>
              </a:rPr>
              <a:t>服务包明确场景、明确应用，按行业产品功能形态、应用场景分类设计资费条目；</a:t>
            </a:r>
            <a:r>
              <a:rPr sz="1405" b="1" i="0">
                <a:solidFill>
                  <a:srgbClr val="C00000"/>
                </a:solidFill>
                <a:latin typeface="Microsoft YaHei"/>
              </a:rPr>
              <a:t>“集成装维类”服务包继续使用通用性资费条目</a:t>
            </a:r>
          </a:p>
        </p:txBody>
      </p:sp>
      <p:sp>
        <p:nvSpPr>
          <p:cNvPr id="25" name="EDITABLE_TEXT_1、自研类产品"/>
          <p:cNvSpPr txBox="1"/>
          <p:nvPr/>
        </p:nvSpPr>
        <p:spPr>
          <a:xfrm>
            <a:off x="1369060" y="2492905"/>
            <a:ext cx="937259"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1、自研类产品</a:t>
            </a:r>
          </a:p>
        </p:txBody>
      </p:sp>
      <p:sp>
        <p:nvSpPr>
          <p:cNvPr id="26" name="EDITABLE_TEXT_2、融能生态产品"/>
          <p:cNvSpPr txBox="1"/>
          <p:nvPr/>
        </p:nvSpPr>
        <p:spPr>
          <a:xfrm>
            <a:off x="1369060" y="2721505"/>
            <a:ext cx="1064259"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2、融能生态产品</a:t>
            </a:r>
          </a:p>
        </p:txBody>
      </p:sp>
      <p:sp>
        <p:nvSpPr>
          <p:cNvPr id="27" name="EDITABLE_TEXT_3、行业场景化标准方案产品"/>
          <p:cNvSpPr txBox="1"/>
          <p:nvPr/>
        </p:nvSpPr>
        <p:spPr>
          <a:xfrm>
            <a:off x="1369060" y="2950105"/>
            <a:ext cx="1699259"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3、行业场景化标准方案产品</a:t>
            </a:r>
          </a:p>
        </p:txBody>
      </p:sp>
      <p:sp>
        <p:nvSpPr>
          <p:cNvPr id="28" name="EDITABLE_TEXT_4、主流行业云化/入驻式标杆项目"/>
          <p:cNvSpPr txBox="1"/>
          <p:nvPr/>
        </p:nvSpPr>
        <p:spPr>
          <a:xfrm>
            <a:off x="1369060" y="3178705"/>
            <a:ext cx="200723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4、主流行业云化/入驻式标杆项目</a:t>
            </a:r>
          </a:p>
        </p:txBody>
      </p:sp>
      <p:sp>
        <p:nvSpPr>
          <p:cNvPr id="29" name="EDITABLE_TEXT_1、属地化简单集成项目"/>
          <p:cNvSpPr txBox="1"/>
          <p:nvPr/>
        </p:nvSpPr>
        <p:spPr>
          <a:xfrm>
            <a:off x="1368425" y="4359170"/>
            <a:ext cx="1445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1、属地化简单集成项目</a:t>
            </a:r>
          </a:p>
        </p:txBody>
      </p:sp>
      <p:sp>
        <p:nvSpPr>
          <p:cNvPr id="30" name="EDITABLE_TEXT_2、属地化运维类项目"/>
          <p:cNvSpPr txBox="1"/>
          <p:nvPr/>
        </p:nvSpPr>
        <p:spPr>
          <a:xfrm>
            <a:off x="1368425" y="4587770"/>
            <a:ext cx="1318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2、属地化运维类项目</a:t>
            </a:r>
          </a:p>
        </p:txBody>
      </p:sp>
      <p:sp>
        <p:nvSpPr>
          <p:cNvPr id="31" name="EDITABLE_TEXT_3、属地化装维类项目"/>
          <p:cNvSpPr txBox="1"/>
          <p:nvPr/>
        </p:nvSpPr>
        <p:spPr>
          <a:xfrm>
            <a:off x="1368425" y="4816370"/>
            <a:ext cx="1318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3、属地化装维类项目</a:t>
            </a:r>
          </a:p>
        </p:txBody>
      </p:sp>
      <p:sp>
        <p:nvSpPr>
          <p:cNvPr id="32" name="EDITABLE_TEXT_4、属地化简单定制开发项目"/>
          <p:cNvSpPr txBox="1"/>
          <p:nvPr/>
        </p:nvSpPr>
        <p:spPr>
          <a:xfrm>
            <a:off x="1368425" y="5044970"/>
            <a:ext cx="1699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4、属地化简单定制开发项目</a:t>
            </a:r>
          </a:p>
        </p:txBody>
      </p:sp>
      <p:sp>
        <p:nvSpPr>
          <p:cNvPr id="33" name="EDITABLE_TEXT_产品定制类"/>
          <p:cNvSpPr txBox="1"/>
          <p:nvPr/>
        </p:nvSpPr>
        <p:spPr>
          <a:xfrm>
            <a:off x="465810" y="2784257"/>
            <a:ext cx="735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产品定制类</a:t>
            </a:r>
          </a:p>
        </p:txBody>
      </p:sp>
      <p:sp>
        <p:nvSpPr>
          <p:cNvPr id="34" name="EDITABLE_TEXT_集成装维类"/>
          <p:cNvSpPr txBox="1"/>
          <p:nvPr/>
        </p:nvSpPr>
        <p:spPr>
          <a:xfrm>
            <a:off x="465810" y="4655044"/>
            <a:ext cx="735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集成装维类</a:t>
            </a:r>
          </a:p>
        </p:txBody>
      </p:sp>
      <p:sp>
        <p:nvSpPr>
          <p:cNvPr id="35" name="EDITABLE_TEXT_服务包分类发展"/>
          <p:cNvSpPr txBox="1"/>
          <p:nvPr/>
        </p:nvSpPr>
        <p:spPr>
          <a:xfrm>
            <a:off x="2506992" y="1617230"/>
            <a:ext cx="1168400"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solidFill>
                <a:latin typeface="Microsoft YaHei"/>
              </a:rPr>
              <a:t>服务包分类发展</a:t>
            </a:r>
          </a:p>
        </p:txBody>
      </p:sp>
      <p:sp>
        <p:nvSpPr>
          <p:cNvPr id="36" name="EDITABLE_TEXT_服务包业务融能标准"/>
          <p:cNvSpPr txBox="1"/>
          <p:nvPr/>
        </p:nvSpPr>
        <p:spPr>
          <a:xfrm>
            <a:off x="8455126" y="1617230"/>
            <a:ext cx="1473200"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solidFill>
                <a:latin typeface="Microsoft YaHei"/>
              </a:rPr>
              <a:t>服务包业务融能标准</a:t>
            </a:r>
          </a:p>
        </p:txBody>
      </p:sp>
      <p:sp>
        <p:nvSpPr>
          <p:cNvPr id="37" name="EDITABLE_TEXT_• 产品部门主要发展“产品定制类”服务包，打造符"/>
          <p:cNvSpPr txBox="1"/>
          <p:nvPr/>
        </p:nvSpPr>
        <p:spPr>
          <a:xfrm>
            <a:off x="276161" y="5782551"/>
            <a:ext cx="9112249" cy="2741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solidFill>
                <a:latin typeface="Microsoft YaHei"/>
              </a:rPr>
              <a:t>•</a:t>
            </a:r>
            <a:r>
              <a:rPr sz="1200" b="1" i="0">
                <a:solidFill>
                  <a:srgbClr val="C00000"/>
                </a:solidFill>
                <a:latin typeface="Microsoft YaHei"/>
              </a:rPr>
              <a:t> </a:t>
            </a:r>
            <a:r>
              <a:rPr sz="1200" b="1" i="0">
                <a:solidFill>
                  <a:srgbClr val="C00000"/>
                </a:solidFill>
                <a:latin typeface="Microsoft YaHei"/>
              </a:rPr>
              <a:t>产品部门</a:t>
            </a:r>
            <a:r>
              <a:rPr sz="1200" b="1" i="0">
                <a:solidFill>
                  <a:srgbClr val="008CFF"/>
                </a:solidFill>
                <a:latin typeface="Microsoft YaHei"/>
              </a:rPr>
              <a:t>主要</a:t>
            </a:r>
            <a:r>
              <a:rPr sz="1200" b="1" i="0">
                <a:solidFill>
                  <a:srgbClr val="C00000"/>
                </a:solidFill>
                <a:latin typeface="Microsoft YaHei"/>
              </a:rPr>
              <a:t>发展“产品定制类”服务包，</a:t>
            </a:r>
            <a:r>
              <a:rPr sz="1200" b="1" i="0">
                <a:solidFill>
                  <a:srgbClr val="008CFF"/>
                </a:solidFill>
                <a:latin typeface="Microsoft YaHei"/>
              </a:rPr>
              <a:t>打造符合融能规范的标准化产品，按需通过“集成装维类”服务包支撑装维、集成类项目</a:t>
            </a:r>
          </a:p>
        </p:txBody>
      </p:sp>
      <p:sp>
        <p:nvSpPr>
          <p:cNvPr id="38" name="EDITABLE_TEXT_• 产创中心仅支持按需规划属地“集成装维类”服务"/>
          <p:cNvSpPr txBox="1"/>
          <p:nvPr/>
        </p:nvSpPr>
        <p:spPr>
          <a:xfrm>
            <a:off x="276161" y="6056871"/>
            <a:ext cx="6978649" cy="2741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solidFill>
                <a:latin typeface="Microsoft YaHei"/>
              </a:rPr>
              <a:t>•</a:t>
            </a:r>
            <a:r>
              <a:rPr sz="1200" b="1" i="0">
                <a:solidFill>
                  <a:srgbClr val="C00000"/>
                </a:solidFill>
                <a:latin typeface="Microsoft YaHei"/>
              </a:rPr>
              <a:t> </a:t>
            </a:r>
            <a:r>
              <a:rPr sz="1200" b="1" i="0">
                <a:solidFill>
                  <a:srgbClr val="C00000"/>
                </a:solidFill>
                <a:latin typeface="Microsoft YaHei"/>
              </a:rPr>
              <a:t>产创中心仅支持按需规划属地“集成装维类”服务包，</a:t>
            </a:r>
            <a:r>
              <a:rPr sz="1200" b="1" i="0">
                <a:solidFill>
                  <a:srgbClr val="008CFF"/>
                </a:solidFill>
                <a:latin typeface="Microsoft YaHei"/>
              </a:rPr>
              <a:t>支撑交付属地装维、属地简单集成交付的项目</a:t>
            </a:r>
          </a:p>
        </p:txBody>
      </p:sp>
      <p:sp>
        <p:nvSpPr>
          <p:cNvPr id="39" name="EDITABLE_TEXT_• 原则上DICT服务包谁规划设计，谁负责；产品"/>
          <p:cNvSpPr txBox="1"/>
          <p:nvPr/>
        </p:nvSpPr>
        <p:spPr>
          <a:xfrm>
            <a:off x="276161" y="6331191"/>
            <a:ext cx="9330055" cy="2741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8CFF"/>
                </a:solidFill>
                <a:latin typeface="Microsoft YaHei"/>
              </a:rPr>
              <a:t>•</a:t>
            </a:r>
            <a:r>
              <a:rPr sz="1200" b="1" i="0">
                <a:solidFill>
                  <a:srgbClr val="008CFF"/>
                </a:solidFill>
                <a:latin typeface="Microsoft YaHei"/>
              </a:rPr>
              <a:t> </a:t>
            </a:r>
            <a:r>
              <a:rPr sz="1200" b="1" i="0">
                <a:solidFill>
                  <a:srgbClr val="008CFF"/>
                </a:solidFill>
                <a:latin typeface="Microsoft YaHei"/>
              </a:rPr>
              <a:t>原则上DICT服务包</a:t>
            </a:r>
            <a:r>
              <a:rPr sz="1200" b="1" i="0">
                <a:solidFill>
                  <a:srgbClr val="C00000"/>
                </a:solidFill>
                <a:latin typeface="Microsoft YaHei"/>
              </a:rPr>
              <a:t>谁规划设计，谁负责</a:t>
            </a:r>
            <a:r>
              <a:rPr sz="1200" b="1" i="0">
                <a:solidFill>
                  <a:srgbClr val="008CFF"/>
                </a:solidFill>
                <a:latin typeface="Microsoft YaHei"/>
              </a:rPr>
              <a:t>；产品线主责部门对全量服务包负管理责任（如：千里眼产品线服务包，视频部均负管理责任）</a:t>
            </a:r>
          </a:p>
        </p:txBody>
      </p:sp>
      <p:sp>
        <p:nvSpPr>
          <p:cNvPr id="40" name="EDITABLE_TEXT_服务包分类"/>
          <p:cNvSpPr txBox="1"/>
          <p:nvPr/>
        </p:nvSpPr>
        <p:spPr>
          <a:xfrm>
            <a:off x="466356" y="1981490"/>
            <a:ext cx="735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服务包分类</a:t>
            </a:r>
          </a:p>
        </p:txBody>
      </p:sp>
      <p:sp>
        <p:nvSpPr>
          <p:cNvPr id="41" name="EDITABLE_TEXT_业务范围"/>
          <p:cNvSpPr txBox="1"/>
          <p:nvPr/>
        </p:nvSpPr>
        <p:spPr>
          <a:xfrm>
            <a:off x="2121916" y="1981490"/>
            <a:ext cx="608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业务范围</a:t>
            </a:r>
          </a:p>
        </p:txBody>
      </p:sp>
      <p:sp>
        <p:nvSpPr>
          <p:cNvPr id="42" name="EDITABLE_TEXT_资费设计"/>
          <p:cNvSpPr txBox="1"/>
          <p:nvPr/>
        </p:nvSpPr>
        <p:spPr>
          <a:xfrm>
            <a:off x="4566920" y="1981490"/>
            <a:ext cx="608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资费设计</a:t>
            </a:r>
          </a:p>
        </p:txBody>
      </p:sp>
      <p:sp>
        <p:nvSpPr>
          <p:cNvPr id="43" name="EDITABLE_TEXT_服务包"/>
          <p:cNvSpPr txBox="1"/>
          <p:nvPr/>
        </p:nvSpPr>
        <p:spPr>
          <a:xfrm>
            <a:off x="3665220" y="2443440"/>
            <a:ext cx="367665" cy="1799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服务包</a:t>
            </a:r>
          </a:p>
        </p:txBody>
      </p:sp>
      <p:sp>
        <p:nvSpPr>
          <p:cNvPr id="44" name="EDITABLE_TEXT_条目"/>
          <p:cNvSpPr txBox="1"/>
          <p:nvPr/>
        </p:nvSpPr>
        <p:spPr>
          <a:xfrm>
            <a:off x="4904740" y="2443440"/>
            <a:ext cx="278765" cy="1799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条目</a:t>
            </a:r>
          </a:p>
        </p:txBody>
      </p:sp>
      <p:sp>
        <p:nvSpPr>
          <p:cNvPr id="45" name="EDITABLE_TEXT_沿街商铺"/>
          <p:cNvSpPr txBox="1"/>
          <p:nvPr/>
        </p:nvSpPr>
        <p:spPr>
          <a:xfrm>
            <a:off x="3620770" y="3138802"/>
            <a:ext cx="4565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a:t>
            </a:r>
          </a:p>
        </p:txBody>
      </p:sp>
      <p:sp>
        <p:nvSpPr>
          <p:cNvPr id="46" name="EDITABLE_TEXT_沿街商铺无人看店服务"/>
          <p:cNvSpPr txBox="1"/>
          <p:nvPr/>
        </p:nvSpPr>
        <p:spPr>
          <a:xfrm>
            <a:off x="4549140" y="2643502"/>
            <a:ext cx="9899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沿街商铺无人看店服务</a:t>
            </a:r>
          </a:p>
        </p:txBody>
      </p:sp>
      <p:sp>
        <p:nvSpPr>
          <p:cNvPr id="47" name="EDITABLE_TEXT_沿街商铺安全消防服务"/>
          <p:cNvSpPr txBox="1"/>
          <p:nvPr/>
        </p:nvSpPr>
        <p:spPr>
          <a:xfrm>
            <a:off x="4549140" y="2841622"/>
            <a:ext cx="9899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沿街商铺安全消防服务</a:t>
            </a:r>
          </a:p>
        </p:txBody>
      </p:sp>
      <p:sp>
        <p:nvSpPr>
          <p:cNvPr id="48" name="EDITABLE_TEXT_沿街商铺客流服务"/>
          <p:cNvSpPr txBox="1"/>
          <p:nvPr/>
        </p:nvSpPr>
        <p:spPr>
          <a:xfrm>
            <a:off x="4638040" y="3039742"/>
            <a:ext cx="8121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沿街商铺客流服务</a:t>
            </a:r>
          </a:p>
        </p:txBody>
      </p:sp>
      <p:sp>
        <p:nvSpPr>
          <p:cNvPr id="49" name="EDITABLE_TEXT_沿街商铺人脸识别服务"/>
          <p:cNvSpPr txBox="1"/>
          <p:nvPr/>
        </p:nvSpPr>
        <p:spPr>
          <a:xfrm>
            <a:off x="4549140" y="3237862"/>
            <a:ext cx="9899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沿街商铺人脸识别服务</a:t>
            </a:r>
          </a:p>
        </p:txBody>
      </p:sp>
      <p:sp>
        <p:nvSpPr>
          <p:cNvPr id="50" name="EDITABLE_TEXT_沿街商铺平台定制化服务"/>
          <p:cNvSpPr txBox="1"/>
          <p:nvPr/>
        </p:nvSpPr>
        <p:spPr>
          <a:xfrm>
            <a:off x="4504690" y="3435982"/>
            <a:ext cx="10788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沿街商铺平台定制化服务</a:t>
            </a:r>
          </a:p>
        </p:txBody>
      </p:sp>
      <p:sp>
        <p:nvSpPr>
          <p:cNvPr id="51" name="EDITABLE_TEXT_沿街商铺平台终端接入调试"/>
          <p:cNvSpPr txBox="1"/>
          <p:nvPr/>
        </p:nvSpPr>
        <p:spPr>
          <a:xfrm>
            <a:off x="4460240" y="3634102"/>
            <a:ext cx="11677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沿街商铺平台终端接入调试</a:t>
            </a:r>
          </a:p>
        </p:txBody>
      </p:sp>
      <p:sp>
        <p:nvSpPr>
          <p:cNvPr id="52" name="EDITABLE_TEXT_服务包"/>
          <p:cNvSpPr txBox="1"/>
          <p:nvPr/>
        </p:nvSpPr>
        <p:spPr>
          <a:xfrm>
            <a:off x="3666794" y="4436159"/>
            <a:ext cx="367665" cy="1799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服务包</a:t>
            </a:r>
          </a:p>
        </p:txBody>
      </p:sp>
      <p:sp>
        <p:nvSpPr>
          <p:cNvPr id="53" name="EDITABLE_TEXT_条目"/>
          <p:cNvSpPr txBox="1"/>
          <p:nvPr/>
        </p:nvSpPr>
        <p:spPr>
          <a:xfrm>
            <a:off x="4906314" y="4436159"/>
            <a:ext cx="278765" cy="1799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条目</a:t>
            </a:r>
          </a:p>
        </p:txBody>
      </p:sp>
      <p:sp>
        <p:nvSpPr>
          <p:cNvPr id="54" name="EDITABLE_TEXT_泛视频安防"/>
          <p:cNvSpPr txBox="1"/>
          <p:nvPr/>
        </p:nvSpPr>
        <p:spPr>
          <a:xfrm>
            <a:off x="3577894" y="4880061"/>
            <a:ext cx="5454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a:t>
            </a:r>
          </a:p>
        </p:txBody>
      </p:sp>
      <p:sp>
        <p:nvSpPr>
          <p:cNvPr id="55" name="EDITABLE_TEXT_泛视频安防平台入驻部署"/>
          <p:cNvSpPr txBox="1"/>
          <p:nvPr/>
        </p:nvSpPr>
        <p:spPr>
          <a:xfrm>
            <a:off x="4506264" y="4636221"/>
            <a:ext cx="10788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泛视频安防平台入驻部署</a:t>
            </a:r>
          </a:p>
        </p:txBody>
      </p:sp>
      <p:sp>
        <p:nvSpPr>
          <p:cNvPr id="56" name="EDITABLE_TEXT_泛视频安防平台的定制开发"/>
          <p:cNvSpPr txBox="1"/>
          <p:nvPr/>
        </p:nvSpPr>
        <p:spPr>
          <a:xfrm>
            <a:off x="4461814" y="4834341"/>
            <a:ext cx="11677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泛视频安防平台的定制开发</a:t>
            </a:r>
          </a:p>
        </p:txBody>
      </p:sp>
      <p:sp>
        <p:nvSpPr>
          <p:cNvPr id="57" name="EDITABLE_TEXT_泛视频安防客户侧系统的对接集成开发"/>
          <p:cNvSpPr txBox="1"/>
          <p:nvPr/>
        </p:nvSpPr>
        <p:spPr>
          <a:xfrm>
            <a:off x="4239564" y="5032461"/>
            <a:ext cx="16122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泛视频安防客户侧系统的对接集成开发</a:t>
            </a:r>
          </a:p>
        </p:txBody>
      </p:sp>
      <p:sp>
        <p:nvSpPr>
          <p:cNvPr id="58" name="EDITABLE_TEXT_泛视频安防平台终端接入调试"/>
          <p:cNvSpPr txBox="1"/>
          <p:nvPr/>
        </p:nvSpPr>
        <p:spPr>
          <a:xfrm>
            <a:off x="4417364" y="5230581"/>
            <a:ext cx="1256665" cy="1774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泛视频安防平台终端接入调试</a:t>
            </a:r>
          </a:p>
        </p:txBody>
      </p:sp>
      <p:sp>
        <p:nvSpPr>
          <p:cNvPr id="59" name="EDITABLE_TEXT_主要按行业产品功能形态、应用场景分类设计资费条目"/>
          <p:cNvSpPr txBox="1"/>
          <p:nvPr/>
        </p:nvSpPr>
        <p:spPr>
          <a:xfrm>
            <a:off x="3507104" y="2191514"/>
            <a:ext cx="2540634" cy="1954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solidFill>
                <a:latin typeface="Microsoft YaHei"/>
              </a:rPr>
              <a:t>主要按行业产品功能形态、应用场景分类设计资费条目</a:t>
            </a:r>
          </a:p>
        </p:txBody>
      </p:sp>
      <p:sp>
        <p:nvSpPr>
          <p:cNvPr id="60" name="EDITABLE_TEXT_延用系统集成、部署等通用资费条目"/>
          <p:cNvSpPr txBox="1"/>
          <p:nvPr/>
        </p:nvSpPr>
        <p:spPr>
          <a:xfrm>
            <a:off x="3555606" y="4201657"/>
            <a:ext cx="1727834" cy="1954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solidFill>
                <a:latin typeface="Microsoft YaHei"/>
              </a:rPr>
              <a:t>延用系统集成、部署等通用资费条目</a:t>
            </a:r>
          </a:p>
        </p:txBody>
      </p:sp>
      <p:sp>
        <p:nvSpPr>
          <p:cNvPr id="61" name="EDITABLE_TEXT_标准一：标准化服务/DICT项目"/>
          <p:cNvSpPr txBox="1"/>
          <p:nvPr/>
        </p:nvSpPr>
        <p:spPr>
          <a:xfrm>
            <a:off x="8165465" y="2020774"/>
            <a:ext cx="2044064" cy="2486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solidFill>
                <a:latin typeface="Microsoft YaHei"/>
              </a:rPr>
              <a:t>标准一：标准化服务/DICT项目</a:t>
            </a:r>
          </a:p>
        </p:txBody>
      </p:sp>
      <p:sp>
        <p:nvSpPr>
          <p:cNvPr id="62" name="EDITABLE_TEXT_1、生态硬件融合 AIoT 平台或自有 SaaS"/>
          <p:cNvSpPr txBox="1"/>
          <p:nvPr/>
        </p:nvSpPr>
        <p:spPr>
          <a:xfrm>
            <a:off x="6636384" y="2317214"/>
            <a:ext cx="4202373"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1、生态硬件融合 AIoT 平台或自有 SaaS 能力：设备接入率不得低于10%</a:t>
            </a:r>
          </a:p>
        </p:txBody>
      </p:sp>
      <p:sp>
        <p:nvSpPr>
          <p:cNvPr id="63" name="EDITABLE_TEXT_2、生态硬件融合自研芯片、模组产品"/>
          <p:cNvSpPr txBox="1"/>
          <p:nvPr/>
        </p:nvSpPr>
        <p:spPr>
          <a:xfrm>
            <a:off x="6636384" y="2545814"/>
            <a:ext cx="2207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2、生态硬件融合自研芯片、模组产品</a:t>
            </a:r>
          </a:p>
        </p:txBody>
      </p:sp>
      <p:sp>
        <p:nvSpPr>
          <p:cNvPr id="64" name="EDITABLE_TEXT_3、使用自研产品：自研产品金额占比不得低于5%"/>
          <p:cNvSpPr txBox="1"/>
          <p:nvPr/>
        </p:nvSpPr>
        <p:spPr>
          <a:xfrm>
            <a:off x="6636384" y="2774414"/>
            <a:ext cx="2902529"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3、使用自研产品：自研产品金额占比不得低于5%</a:t>
            </a:r>
          </a:p>
        </p:txBody>
      </p:sp>
      <p:sp>
        <p:nvSpPr>
          <p:cNvPr id="65" name="EDITABLE_TEXT_标准二：DICT项目"/>
          <p:cNvSpPr txBox="1"/>
          <p:nvPr/>
        </p:nvSpPr>
        <p:spPr>
          <a:xfrm>
            <a:off x="8547734" y="3095194"/>
            <a:ext cx="1279525" cy="248602"/>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solidFill>
                <a:latin typeface="Microsoft YaHei"/>
              </a:rPr>
              <a:t>标准二：DICT项目</a:t>
            </a:r>
          </a:p>
        </p:txBody>
      </p:sp>
      <p:sp>
        <p:nvSpPr>
          <p:cNvPr id="66" name="EDITABLE_TEXT_1、自主集成：我司作为总集成方中标/支撑项目"/>
          <p:cNvSpPr txBox="1"/>
          <p:nvPr/>
        </p:nvSpPr>
        <p:spPr>
          <a:xfrm>
            <a:off x="6636384" y="3480330"/>
            <a:ext cx="276923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1、自主集成：我司作为总集成方中标/支撑项目</a:t>
            </a:r>
          </a:p>
        </p:txBody>
      </p:sp>
      <p:sp>
        <p:nvSpPr>
          <p:cNvPr id="67" name="EDITABLE_TEXT_2、自主交付：参照《中移物联网有限公司 DICT"/>
          <p:cNvSpPr txBox="1"/>
          <p:nvPr/>
        </p:nvSpPr>
        <p:spPr>
          <a:xfrm>
            <a:off x="6636384" y="3708930"/>
            <a:ext cx="397129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2、自主交付：参照《中移物联网有限公司 DICT 项目关键文档清单》</a:t>
            </a:r>
          </a:p>
        </p:txBody>
      </p:sp>
      <p:sp>
        <p:nvSpPr>
          <p:cNvPr id="68" name="EDITABLE_TEXT_3、自主研发：体现自有或自控团队负责研发工作"/>
          <p:cNvSpPr txBox="1"/>
          <p:nvPr/>
        </p:nvSpPr>
        <p:spPr>
          <a:xfrm>
            <a:off x="6636384" y="3937530"/>
            <a:ext cx="2842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3、自主研发：体现自有或自控团队负责研发工作</a:t>
            </a:r>
          </a:p>
        </p:txBody>
      </p:sp>
      <p:sp>
        <p:nvSpPr>
          <p:cNvPr id="69" name="EDITABLE_TEXT_4、自主运维：体现自有或自控团队负责运维运营工作"/>
          <p:cNvSpPr txBox="1"/>
          <p:nvPr/>
        </p:nvSpPr>
        <p:spPr>
          <a:xfrm>
            <a:off x="6636384" y="4166130"/>
            <a:ext cx="3096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4、自主运维：体现自有或自控团队负责运维运营工作</a:t>
            </a:r>
          </a:p>
        </p:txBody>
      </p:sp>
      <p:sp>
        <p:nvSpPr>
          <p:cNvPr id="70" name="EDITABLE_TEXT_•"/>
          <p:cNvSpPr txBox="1"/>
          <p:nvPr/>
        </p:nvSpPr>
        <p:spPr>
          <a:xfrm>
            <a:off x="6290309" y="4585169"/>
            <a:ext cx="145827" cy="2357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solidFill>
                <a:latin typeface="Microsoft YaHei"/>
              </a:rPr>
              <a:t>•</a:t>
            </a:r>
          </a:p>
        </p:txBody>
      </p:sp>
      <p:sp>
        <p:nvSpPr>
          <p:cNvPr id="71" name="EDITABLE_TEXT_“产品定制类”服务包，主要按照标准一支撑省侧接入"/>
          <p:cNvSpPr txBox="1"/>
          <p:nvPr/>
        </p:nvSpPr>
        <p:spPr>
          <a:xfrm>
            <a:off x="6461759" y="4582768"/>
            <a:ext cx="5489178"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“产品定制类”服务包，</a:t>
            </a:r>
            <a:r>
              <a:rPr sz="994" b="1" i="0">
                <a:solidFill>
                  <a:srgbClr val="008CFF"/>
                </a:solidFill>
                <a:latin typeface="Microsoft YaHei"/>
              </a:rPr>
              <a:t>主要按照标准一支撑省侧接入核心平台的融能产品项目；若前向为DICT</a:t>
            </a:r>
          </a:p>
        </p:txBody>
      </p:sp>
      <p:sp>
        <p:nvSpPr>
          <p:cNvPr id="72" name="EDITABLE_TEXT_项目，可按标准二“四个自主”方式满足融能要求；"/>
          <p:cNvSpPr txBox="1"/>
          <p:nvPr/>
        </p:nvSpPr>
        <p:spPr>
          <a:xfrm>
            <a:off x="6461759" y="4811368"/>
            <a:ext cx="3021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项目，可按标准二“四个自主”方式满足融能要求；</a:t>
            </a:r>
          </a:p>
        </p:txBody>
      </p:sp>
      <p:sp>
        <p:nvSpPr>
          <p:cNvPr id="73" name="EDITABLE_TEXT_•"/>
          <p:cNvSpPr txBox="1"/>
          <p:nvPr/>
        </p:nvSpPr>
        <p:spPr>
          <a:xfrm>
            <a:off x="6290309" y="5042369"/>
            <a:ext cx="145827" cy="2357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solidFill>
                <a:latin typeface="Microsoft YaHei"/>
              </a:rPr>
              <a:t>•</a:t>
            </a:r>
          </a:p>
        </p:txBody>
      </p:sp>
      <p:sp>
        <p:nvSpPr>
          <p:cNvPr id="74" name="EDITABLE_TEXT_“集成装维类”服务包，支撑集成和装维类项目，按标"/>
          <p:cNvSpPr txBox="1"/>
          <p:nvPr/>
        </p:nvSpPr>
        <p:spPr>
          <a:xfrm>
            <a:off x="6461759" y="5039968"/>
            <a:ext cx="5307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“集成装维类”服务包，</a:t>
            </a:r>
            <a:r>
              <a:rPr sz="994" b="1" i="0">
                <a:solidFill>
                  <a:srgbClr val="008CFF"/>
                </a:solidFill>
                <a:latin typeface="Microsoft YaHei"/>
              </a:rPr>
              <a:t>支撑集成和装维类项目，按标准二“四个自主”方式满足融能要求；</a:t>
            </a:r>
          </a:p>
        </p:txBody>
      </p:sp>
      <p:sp>
        <p:nvSpPr>
          <p:cNvPr id="75" name="EDITABLE_TEXT_服务包分类"/>
          <p:cNvSpPr txBox="1"/>
          <p:nvPr/>
        </p:nvSpPr>
        <p:spPr>
          <a:xfrm>
            <a:off x="466356" y="3945952"/>
            <a:ext cx="735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服务包分类</a:t>
            </a:r>
          </a:p>
        </p:txBody>
      </p:sp>
      <p:sp>
        <p:nvSpPr>
          <p:cNvPr id="76" name="EDITABLE_TEXT_业务范围"/>
          <p:cNvSpPr txBox="1"/>
          <p:nvPr/>
        </p:nvSpPr>
        <p:spPr>
          <a:xfrm>
            <a:off x="2121916" y="3945952"/>
            <a:ext cx="608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业务范围</a:t>
            </a:r>
          </a:p>
        </p:txBody>
      </p:sp>
      <p:sp>
        <p:nvSpPr>
          <p:cNvPr id="77" name="EDITABLE_TEXT_资费设计"/>
          <p:cNvSpPr txBox="1"/>
          <p:nvPr/>
        </p:nvSpPr>
        <p:spPr>
          <a:xfrm>
            <a:off x="4550955" y="3945952"/>
            <a:ext cx="608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资费设计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SHAPE"/>
          <p:cNvSpPr/>
          <p:nvPr/>
        </p:nvSpPr>
        <p:spPr>
          <a:xfrm>
            <a:off x="2113788" y="1924811"/>
            <a:ext cx="2602992" cy="5638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ITABLE_SHAPE"/>
          <p:cNvSpPr/>
          <p:nvPr/>
        </p:nvSpPr>
        <p:spPr>
          <a:xfrm>
            <a:off x="2113788" y="3741420"/>
            <a:ext cx="2598420" cy="435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DITABLE_SHAPE"/>
          <p:cNvSpPr/>
          <p:nvPr/>
        </p:nvSpPr>
        <p:spPr>
          <a:xfrm>
            <a:off x="2113788" y="5618988"/>
            <a:ext cx="2598420" cy="641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DITABLE_SHAPE"/>
          <p:cNvSpPr/>
          <p:nvPr/>
        </p:nvSpPr>
        <p:spPr>
          <a:xfrm>
            <a:off x="5360670" y="1944497"/>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DITABLE_SHAPE"/>
          <p:cNvSpPr/>
          <p:nvPr/>
        </p:nvSpPr>
        <p:spPr>
          <a:xfrm>
            <a:off x="5360670" y="2828417"/>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ABLE_SHAPE"/>
          <p:cNvSpPr/>
          <p:nvPr/>
        </p:nvSpPr>
        <p:spPr>
          <a:xfrm>
            <a:off x="5360670" y="3130676"/>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ABLE_SHAPE"/>
          <p:cNvSpPr/>
          <p:nvPr/>
        </p:nvSpPr>
        <p:spPr>
          <a:xfrm>
            <a:off x="5360670" y="3621532"/>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ABLE_SHAPE"/>
          <p:cNvSpPr/>
          <p:nvPr/>
        </p:nvSpPr>
        <p:spPr>
          <a:xfrm>
            <a:off x="5360670" y="4301616"/>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ABLE_SHAPE"/>
          <p:cNvSpPr/>
          <p:nvPr/>
        </p:nvSpPr>
        <p:spPr>
          <a:xfrm>
            <a:off x="5360670" y="461805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ABLE_SHAPE"/>
          <p:cNvSpPr/>
          <p:nvPr/>
        </p:nvSpPr>
        <p:spPr>
          <a:xfrm>
            <a:off x="5360670" y="530385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ABLE_SHAPE"/>
          <p:cNvSpPr/>
          <p:nvPr/>
        </p:nvSpPr>
        <p:spPr>
          <a:xfrm>
            <a:off x="5360670" y="556674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ABLE_SHAPE"/>
          <p:cNvSpPr/>
          <p:nvPr/>
        </p:nvSpPr>
        <p:spPr>
          <a:xfrm>
            <a:off x="5360670" y="599473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ABLE_SHAPE"/>
          <p:cNvSpPr/>
          <p:nvPr/>
        </p:nvSpPr>
        <p:spPr>
          <a:xfrm>
            <a:off x="5360670" y="6422085"/>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ABLE_SHAPE"/>
          <p:cNvSpPr/>
          <p:nvPr/>
        </p:nvSpPr>
        <p:spPr>
          <a:xfrm>
            <a:off x="464819" y="1981199"/>
            <a:ext cx="1531619" cy="38709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ABLE_SHAPE"/>
          <p:cNvSpPr/>
          <p:nvPr/>
        </p:nvSpPr>
        <p:spPr>
          <a:xfrm>
            <a:off x="464819" y="3863340"/>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ABLE_SHAPE"/>
          <p:cNvSpPr/>
          <p:nvPr/>
        </p:nvSpPr>
        <p:spPr>
          <a:xfrm>
            <a:off x="464819" y="5747003"/>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ABLE_SHAPE"/>
          <p:cNvSpPr/>
          <p:nvPr/>
        </p:nvSpPr>
        <p:spPr>
          <a:xfrm>
            <a:off x="464819" y="2923032"/>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ABLE_SHAPE"/>
          <p:cNvSpPr/>
          <p:nvPr/>
        </p:nvSpPr>
        <p:spPr>
          <a:xfrm>
            <a:off x="464819" y="4805171"/>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ABLE_TEXT_3"/>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3</a:t>
            </a:r>
          </a:p>
        </p:txBody>
      </p:sp>
      <p:sp>
        <p:nvSpPr>
          <p:cNvPr id="22" name="EDITABLE_TEXT_二、千里眼属地“集成装维类”服务包规划上架责任分"/>
          <p:cNvSpPr txBox="1"/>
          <p:nvPr/>
        </p:nvSpPr>
        <p:spPr>
          <a:xfrm>
            <a:off x="706285" y="319711"/>
            <a:ext cx="6452222" cy="3993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二、千里眼属地“集成装维类”服务包规划上架责任分工</a:t>
            </a:r>
          </a:p>
        </p:txBody>
      </p:sp>
      <p:sp>
        <p:nvSpPr>
          <p:cNvPr id="23" name="EDITABLE_TEXT_•"/>
          <p:cNvSpPr txBox="1"/>
          <p:nvPr/>
        </p:nvSpPr>
        <p:spPr>
          <a:xfrm>
            <a:off x="797725" y="993724"/>
            <a:ext cx="164052" cy="3067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24" name="EDITABLE_TEXT_视频部负责统筹管理千里眼产品线DICT服务包，根"/>
          <p:cNvSpPr txBox="1"/>
          <p:nvPr/>
        </p:nvSpPr>
        <p:spPr>
          <a:xfrm>
            <a:off x="1083475" y="990334"/>
            <a:ext cx="9601822"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视频部负责统筹管理千里眼产品线DICT服务包，根据属地业务需求，由</a:t>
            </a:r>
            <a:r>
              <a:rPr sz="1405" b="1" i="0">
                <a:solidFill>
                  <a:srgbClr val="C00000"/>
                </a:solidFill>
                <a:latin typeface="Microsoft YaHei"/>
              </a:rPr>
              <a:t>产创中心负责属地“集成装维类”服务包规划设计</a:t>
            </a:r>
          </a:p>
        </p:txBody>
      </p:sp>
      <p:sp>
        <p:nvSpPr>
          <p:cNvPr id="25" name="EDITABLE_TEXT_•"/>
          <p:cNvSpPr txBox="1"/>
          <p:nvPr/>
        </p:nvSpPr>
        <p:spPr>
          <a:xfrm>
            <a:off x="797725" y="1313764"/>
            <a:ext cx="164052" cy="3067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26" name="EDITABLE_TEXT_上架阶段，产创中心负责需求立项上会、甄选属地合作"/>
          <p:cNvSpPr txBox="1"/>
          <p:nvPr/>
        </p:nvSpPr>
        <p:spPr>
          <a:xfrm>
            <a:off x="1083475" y="1310374"/>
            <a:ext cx="8458822"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上架阶段，产创中心负责需求立项上会、甄选属地合作伙伴，视频部负责评估上架需求、推进业支系统改造</a:t>
            </a:r>
          </a:p>
        </p:txBody>
      </p:sp>
      <p:sp>
        <p:nvSpPr>
          <p:cNvPr id="27" name="EDITABLE_TEXT_差异点1：产创中心按需规划千里眼属地"/>
          <p:cNvSpPr txBox="1"/>
          <p:nvPr/>
        </p:nvSpPr>
        <p:spPr>
          <a:xfrm>
            <a:off x="2205354" y="1905925"/>
            <a:ext cx="233807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差异点1：产创中心按需规划千里眼属地</a:t>
            </a:r>
          </a:p>
        </p:txBody>
      </p:sp>
      <p:sp>
        <p:nvSpPr>
          <p:cNvPr id="28" name="EDITABLE_TEXT_“集成装维类”服务包，提交视频部进行初"/>
          <p:cNvSpPr txBox="1"/>
          <p:nvPr/>
        </p:nvSpPr>
        <p:spPr>
          <a:xfrm>
            <a:off x="2205354" y="2134525"/>
            <a:ext cx="2513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“集成装维类”服务包，提交视频部进行初</a:t>
            </a:r>
          </a:p>
        </p:txBody>
      </p:sp>
      <p:sp>
        <p:nvSpPr>
          <p:cNvPr id="29" name="EDITABLE_TEXT_审"/>
          <p:cNvSpPr txBox="1"/>
          <p:nvPr/>
        </p:nvSpPr>
        <p:spPr>
          <a:xfrm>
            <a:off x="2205354" y="2363125"/>
            <a:ext cx="227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审</a:t>
            </a:r>
          </a:p>
        </p:txBody>
      </p:sp>
      <p:sp>
        <p:nvSpPr>
          <p:cNvPr id="30" name="EDITABLE_TEXT_差异点2：千里眼属地“集成装维类”服务"/>
          <p:cNvSpPr txBox="1"/>
          <p:nvPr/>
        </p:nvSpPr>
        <p:spPr>
          <a:xfrm>
            <a:off x="2205354" y="3659160"/>
            <a:ext cx="246507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差异点2：千里眼属地“集成装维类”服务</a:t>
            </a:r>
          </a:p>
        </p:txBody>
      </p:sp>
      <p:sp>
        <p:nvSpPr>
          <p:cNvPr id="31" name="EDITABLE_TEXT_包由产创中心立项上会，形成甄选方案，视"/>
          <p:cNvSpPr txBox="1"/>
          <p:nvPr/>
        </p:nvSpPr>
        <p:spPr>
          <a:xfrm>
            <a:off x="2205354" y="3887760"/>
            <a:ext cx="2513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包由产创中心立项上会，形成甄选方案，视</a:t>
            </a:r>
          </a:p>
        </p:txBody>
      </p:sp>
      <p:sp>
        <p:nvSpPr>
          <p:cNvPr id="32" name="EDITABLE_TEXT_频部及相关管理部门列席"/>
          <p:cNvSpPr txBox="1"/>
          <p:nvPr/>
        </p:nvSpPr>
        <p:spPr>
          <a:xfrm>
            <a:off x="2205354" y="4116360"/>
            <a:ext cx="1497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频部及相关管理部门列席</a:t>
            </a:r>
          </a:p>
        </p:txBody>
      </p:sp>
      <p:sp>
        <p:nvSpPr>
          <p:cNvPr id="33" name="EDITABLE_TEXT_差异点3：通过公司决策后，产创中心向视"/>
          <p:cNvSpPr txBox="1"/>
          <p:nvPr/>
        </p:nvSpPr>
        <p:spPr>
          <a:xfrm>
            <a:off x="2205354" y="5639090"/>
            <a:ext cx="246507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差异点3：通过公司决策后，产创中心向视</a:t>
            </a:r>
          </a:p>
        </p:txBody>
      </p:sp>
      <p:sp>
        <p:nvSpPr>
          <p:cNvPr id="34" name="EDITABLE_TEXT_频部提交服务包上架需求，视频部统筹推进"/>
          <p:cNvSpPr txBox="1"/>
          <p:nvPr/>
        </p:nvSpPr>
        <p:spPr>
          <a:xfrm>
            <a:off x="2205354" y="5867690"/>
            <a:ext cx="2513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频部提交服务包上架需求，视频部统筹推进</a:t>
            </a:r>
          </a:p>
        </p:txBody>
      </p:sp>
      <p:sp>
        <p:nvSpPr>
          <p:cNvPr id="35" name="EDITABLE_TEXT_业支改造"/>
          <p:cNvSpPr txBox="1"/>
          <p:nvPr/>
        </p:nvSpPr>
        <p:spPr>
          <a:xfrm>
            <a:off x="2205354" y="6096290"/>
            <a:ext cx="608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业支改造</a:t>
            </a:r>
          </a:p>
        </p:txBody>
      </p:sp>
      <p:sp>
        <p:nvSpPr>
          <p:cNvPr id="36" name="EDITABLE_TEXT_千里眼服务包总体规划原则："/>
          <p:cNvSpPr txBox="1"/>
          <p:nvPr/>
        </p:nvSpPr>
        <p:spPr>
          <a:xfrm>
            <a:off x="5452109" y="2012097"/>
            <a:ext cx="1751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千里眼服务包总体规划原则：</a:t>
            </a:r>
          </a:p>
        </p:txBody>
      </p:sp>
      <p:sp>
        <p:nvSpPr>
          <p:cNvPr id="37" name="EDITABLE_TEXT_1、产创中心属地“集成装维类”服务包仅可支撑属地"/>
          <p:cNvSpPr txBox="1"/>
          <p:nvPr/>
        </p:nvSpPr>
        <p:spPr>
          <a:xfrm>
            <a:off x="5452109" y="2210217"/>
            <a:ext cx="4747260"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1、产创中心属地</a:t>
            </a:r>
            <a:r>
              <a:rPr sz="994" b="1" i="0">
                <a:solidFill>
                  <a:srgbClr val="C00000"/>
                </a:solidFill>
                <a:latin typeface="Microsoft YaHei"/>
              </a:rPr>
              <a:t>“集成装维类”服务包仅可支撑属地化简单集成及属地装维类业务</a:t>
            </a:r>
          </a:p>
        </p:txBody>
      </p:sp>
      <p:sp>
        <p:nvSpPr>
          <p:cNvPr id="38" name="EDITABLE_TEXT_2、视频类核心产品，如监控摄像头、视频存储设备等"/>
          <p:cNvSpPr txBox="1"/>
          <p:nvPr/>
        </p:nvSpPr>
        <p:spPr>
          <a:xfrm>
            <a:off x="5452109" y="2408337"/>
            <a:ext cx="6398260"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1" i="0">
                <a:solidFill>
                  <a:srgbClr val="C00000"/>
                </a:solidFill>
                <a:latin typeface="Microsoft YaHei"/>
              </a:rPr>
              <a:t>视频类核心产品</a:t>
            </a:r>
            <a:r>
              <a:rPr sz="994" b="0" i="0">
                <a:solidFill>
                  <a:srgbClr val="000000"/>
                </a:solidFill>
                <a:latin typeface="Microsoft YaHei"/>
              </a:rPr>
              <a:t>，如监控摄像头、视频存储设备等，属于视频部业务范围，客户有相关需求时，应优先使用视</a:t>
            </a:r>
          </a:p>
        </p:txBody>
      </p:sp>
      <p:sp>
        <p:nvSpPr>
          <p:cNvPr id="39" name="EDITABLE_TEXT_频部负责的服务包进行支撑，视频部邮件明确无法支撑"/>
          <p:cNvSpPr txBox="1"/>
          <p:nvPr/>
        </p:nvSpPr>
        <p:spPr>
          <a:xfrm>
            <a:off x="5452109" y="2606457"/>
            <a:ext cx="6196965"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频部负责的服务包进行支撑，</a:t>
            </a:r>
            <a:r>
              <a:rPr sz="994" b="1" i="0">
                <a:solidFill>
                  <a:srgbClr val="C00000"/>
                </a:solidFill>
                <a:latin typeface="Microsoft YaHei"/>
              </a:rPr>
              <a:t>视频部邮件明确无法支撑的产品需求，使用属地“集成装维类”服务包进行交付</a:t>
            </a:r>
          </a:p>
        </p:txBody>
      </p:sp>
      <p:sp>
        <p:nvSpPr>
          <p:cNvPr id="40" name="EDITABLE_TEXT_部门"/>
          <p:cNvSpPr txBox="1"/>
          <p:nvPr/>
        </p:nvSpPr>
        <p:spPr>
          <a:xfrm>
            <a:off x="5770879" y="2887762"/>
            <a:ext cx="354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41" name="EDITABLE_TEXT_责任分工"/>
          <p:cNvSpPr txBox="1"/>
          <p:nvPr/>
        </p:nvSpPr>
        <p:spPr>
          <a:xfrm>
            <a:off x="8898255" y="2887762"/>
            <a:ext cx="608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42" name="EDITABLE_TEXT_视频部"/>
          <p:cNvSpPr txBox="1"/>
          <p:nvPr/>
        </p:nvSpPr>
        <p:spPr>
          <a:xfrm>
            <a:off x="5452109" y="3286782"/>
            <a:ext cx="481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43" name="EDITABLE_TEXT_1、评估服务包规划是否符合千里眼产品线规划"/>
          <p:cNvSpPr txBox="1"/>
          <p:nvPr/>
        </p:nvSpPr>
        <p:spPr>
          <a:xfrm>
            <a:off x="6526530" y="3207802"/>
            <a:ext cx="2715259"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1、评估</a:t>
            </a:r>
            <a:r>
              <a:rPr sz="994" b="1" i="0">
                <a:solidFill>
                  <a:srgbClr val="C00000"/>
                </a:solidFill>
                <a:latin typeface="Microsoft YaHei"/>
              </a:rPr>
              <a:t>服务包规划是否符合千里眼产品线规划</a:t>
            </a:r>
          </a:p>
        </p:txBody>
      </p:sp>
      <p:sp>
        <p:nvSpPr>
          <p:cNvPr id="44" name="EDITABLE_TEXT_2、评估服务包规划业务范围是否超出规划原则限制"/>
          <p:cNvSpPr txBox="1"/>
          <p:nvPr/>
        </p:nvSpPr>
        <p:spPr>
          <a:xfrm>
            <a:off x="6526530" y="3362982"/>
            <a:ext cx="2969259"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2、评估服务包规划业务范围是否超出规划原则限制</a:t>
            </a:r>
          </a:p>
        </p:txBody>
      </p:sp>
      <p:sp>
        <p:nvSpPr>
          <p:cNvPr id="45" name="EDITABLE_TEXT_产创中心"/>
          <p:cNvSpPr txBox="1"/>
          <p:nvPr/>
        </p:nvSpPr>
        <p:spPr>
          <a:xfrm>
            <a:off x="5452109" y="3872252"/>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46" name="EDITABLE_TEXT_1、结合本部门业务发展及与千里眼产品业务关系，规"/>
          <p:cNvSpPr txBox="1"/>
          <p:nvPr/>
        </p:nvSpPr>
        <p:spPr>
          <a:xfrm>
            <a:off x="6526530" y="3719852"/>
            <a:ext cx="5255259"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1、结合本部门业务发展及与千里眼产品业务关系，规划本部门需要上架的“集成装维类”服</a:t>
            </a:r>
          </a:p>
        </p:txBody>
      </p:sp>
      <p:sp>
        <p:nvSpPr>
          <p:cNvPr id="47" name="EDITABLE_TEXT_务包"/>
          <p:cNvSpPr txBox="1"/>
          <p:nvPr/>
        </p:nvSpPr>
        <p:spPr>
          <a:xfrm>
            <a:off x="6526530" y="3872252"/>
            <a:ext cx="354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务包</a:t>
            </a:r>
          </a:p>
        </p:txBody>
      </p:sp>
      <p:sp>
        <p:nvSpPr>
          <p:cNvPr id="48" name="EDITABLE_TEXT_2、与视频部沟通服务包业务规划合理性，视频部同意"/>
          <p:cNvSpPr txBox="1"/>
          <p:nvPr/>
        </p:nvSpPr>
        <p:spPr>
          <a:xfrm>
            <a:off x="6526530" y="4024652"/>
            <a:ext cx="4493259"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2、与视频部沟通服务包业务规划合理性，视频部同意后方可进行后续工作推进</a:t>
            </a:r>
          </a:p>
        </p:txBody>
      </p:sp>
      <p:sp>
        <p:nvSpPr>
          <p:cNvPr id="49" name="EDITABLE_TEXT_服务包业支上架管理说明："/>
          <p:cNvSpPr txBox="1"/>
          <p:nvPr/>
        </p:nvSpPr>
        <p:spPr>
          <a:xfrm>
            <a:off x="5452109" y="4685651"/>
            <a:ext cx="1624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服务包业支上架管理说明：</a:t>
            </a:r>
          </a:p>
        </p:txBody>
      </p:sp>
      <p:sp>
        <p:nvSpPr>
          <p:cNvPr id="50" name="EDITABLE_TEXT_因集团IT需求管理变更，目前还未明确千里眼产品需"/>
          <p:cNvSpPr txBox="1"/>
          <p:nvPr/>
        </p:nvSpPr>
        <p:spPr>
          <a:xfrm>
            <a:off x="5452109" y="4886171"/>
            <a:ext cx="6309995" cy="2357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因集团</a:t>
            </a:r>
            <a:r>
              <a:rPr sz="994" b="0" i="0">
                <a:solidFill>
                  <a:srgbClr val="000000"/>
                </a:solidFill>
                <a:latin typeface="Microsoft YaHei"/>
              </a:rPr>
              <a:t>IT</a:t>
            </a:r>
            <a:r>
              <a:rPr sz="994" b="0" i="0">
                <a:solidFill>
                  <a:srgbClr val="000000"/>
                </a:solidFill>
                <a:latin typeface="Microsoft YaHei"/>
              </a:rPr>
              <a:t>需求管理变更，目前还未明确千里眼产品需求管理流程，各部门需提前计划报备上架需求，待流程确定</a:t>
            </a:r>
          </a:p>
        </p:txBody>
      </p:sp>
      <p:sp>
        <p:nvSpPr>
          <p:cNvPr id="51" name="EDITABLE_TEXT_后，视频部将进一步明确相关机制流程"/>
          <p:cNvSpPr txBox="1"/>
          <p:nvPr/>
        </p:nvSpPr>
        <p:spPr>
          <a:xfrm>
            <a:off x="5452109" y="5084671"/>
            <a:ext cx="2259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后，视频部将进一步明确相关机制流程</a:t>
            </a:r>
          </a:p>
        </p:txBody>
      </p:sp>
      <p:sp>
        <p:nvSpPr>
          <p:cNvPr id="52" name="EDITABLE_TEXT_部门"/>
          <p:cNvSpPr txBox="1"/>
          <p:nvPr/>
        </p:nvSpPr>
        <p:spPr>
          <a:xfrm>
            <a:off x="5770879" y="5333986"/>
            <a:ext cx="354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53" name="EDITABLE_TEXT_责任分工"/>
          <p:cNvSpPr txBox="1"/>
          <p:nvPr/>
        </p:nvSpPr>
        <p:spPr>
          <a:xfrm>
            <a:off x="8898255" y="5333986"/>
            <a:ext cx="608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54" name="EDITABLE_TEXT_视频部"/>
          <p:cNvSpPr txBox="1"/>
          <p:nvPr/>
        </p:nvSpPr>
        <p:spPr>
          <a:xfrm>
            <a:off x="5452109" y="5691731"/>
            <a:ext cx="481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55" name="EDITABLE_TEXT_1、收集各部门潜在服务包上架需求；向集团汇报千里"/>
          <p:cNvSpPr txBox="1"/>
          <p:nvPr/>
        </p:nvSpPr>
        <p:spPr>
          <a:xfrm>
            <a:off x="6526530" y="5596876"/>
            <a:ext cx="5124450" cy="238136"/>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0" i="0">
                <a:solidFill>
                  <a:srgbClr val="000000"/>
                </a:solidFill>
                <a:latin typeface="Microsoft YaHei"/>
              </a:rPr>
              <a:t>、收集各部门潜在服务包上架需求；</a:t>
            </a:r>
            <a:r>
              <a:rPr sz="994" b="1" i="0">
                <a:solidFill>
                  <a:srgbClr val="C00000"/>
                </a:solidFill>
                <a:latin typeface="Microsoft YaHei"/>
              </a:rPr>
              <a:t>向集团汇报千里眼服务包上架规划</a:t>
            </a:r>
            <a:r>
              <a:rPr sz="994" b="0" i="0">
                <a:solidFill>
                  <a:srgbClr val="000000"/>
                </a:solidFill>
                <a:latin typeface="Microsoft YaHei"/>
              </a:rPr>
              <a:t>，沟通相关流程；</a:t>
            </a:r>
          </a:p>
        </p:txBody>
      </p:sp>
      <p:sp>
        <p:nvSpPr>
          <p:cNvPr id="56" name="EDITABLE_TEXT_2、评估服务包上架时间，跟进服务包上架进度。"/>
          <p:cNvSpPr txBox="1"/>
          <p:nvPr/>
        </p:nvSpPr>
        <p:spPr>
          <a:xfrm>
            <a:off x="6526530" y="5751677"/>
            <a:ext cx="2838450" cy="2357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0" i="0">
                <a:solidFill>
                  <a:srgbClr val="000000"/>
                </a:solidFill>
                <a:latin typeface="Microsoft YaHei"/>
              </a:rPr>
              <a:t>、评估服务包上架时间，跟进服务包上架进度。</a:t>
            </a:r>
          </a:p>
        </p:txBody>
      </p:sp>
      <p:sp>
        <p:nvSpPr>
          <p:cNvPr id="57" name="EDITABLE_TEXT_产创中心"/>
          <p:cNvSpPr txBox="1"/>
          <p:nvPr/>
        </p:nvSpPr>
        <p:spPr>
          <a:xfrm>
            <a:off x="5452109" y="6119086"/>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58" name="EDITABLE_TEXT_1、提前规划服务包上架需求，上报视频部；"/>
          <p:cNvSpPr txBox="1"/>
          <p:nvPr/>
        </p:nvSpPr>
        <p:spPr>
          <a:xfrm>
            <a:off x="6526530" y="6027266"/>
            <a:ext cx="2584450" cy="2357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0" i="0">
                <a:solidFill>
                  <a:srgbClr val="000000"/>
                </a:solidFill>
                <a:latin typeface="Microsoft YaHei"/>
              </a:rPr>
              <a:t>、提前规划服务包上架需求，上报视频部；</a:t>
            </a:r>
          </a:p>
        </p:txBody>
      </p:sp>
      <p:sp>
        <p:nvSpPr>
          <p:cNvPr id="59" name="EDITABLE_TEXT_2、配合视频部向集团大视频部汇报服务包上架需求，"/>
          <p:cNvSpPr txBox="1"/>
          <p:nvPr/>
        </p:nvSpPr>
        <p:spPr>
          <a:xfrm>
            <a:off x="6526530" y="6179666"/>
            <a:ext cx="4235450" cy="2357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0" i="0">
                <a:solidFill>
                  <a:srgbClr val="000000"/>
                </a:solidFill>
                <a:latin typeface="Microsoft YaHei"/>
              </a:rPr>
              <a:t>、配合视频部向集团大视频部汇报服务包上架需求，准备上架相关材料；</a:t>
            </a:r>
          </a:p>
        </p:txBody>
      </p:sp>
      <p:sp>
        <p:nvSpPr>
          <p:cNvPr id="60" name="EDITABLE_TEXT_服务包规划设计"/>
          <p:cNvSpPr txBox="1"/>
          <p:nvPr/>
        </p:nvSpPr>
        <p:spPr>
          <a:xfrm>
            <a:off x="785494" y="2073805"/>
            <a:ext cx="989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服务包规划设计</a:t>
            </a:r>
          </a:p>
        </p:txBody>
      </p:sp>
      <p:sp>
        <p:nvSpPr>
          <p:cNvPr id="61" name="EDITABLE_TEXT_服务包甄选决策"/>
          <p:cNvSpPr txBox="1"/>
          <p:nvPr/>
        </p:nvSpPr>
        <p:spPr>
          <a:xfrm>
            <a:off x="785494" y="3956580"/>
            <a:ext cx="989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服务包甄选决策</a:t>
            </a:r>
          </a:p>
        </p:txBody>
      </p:sp>
      <p:sp>
        <p:nvSpPr>
          <p:cNvPr id="62" name="EDITABLE_TEXT_业支改造"/>
          <p:cNvSpPr txBox="1"/>
          <p:nvPr/>
        </p:nvSpPr>
        <p:spPr>
          <a:xfrm>
            <a:off x="975994" y="5839990"/>
            <a:ext cx="608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业支改造</a:t>
            </a:r>
          </a:p>
        </p:txBody>
      </p:sp>
      <p:sp>
        <p:nvSpPr>
          <p:cNvPr id="63" name="EDITABLE_TEXT_市场部等职能部门审核"/>
          <p:cNvSpPr txBox="1"/>
          <p:nvPr/>
        </p:nvSpPr>
        <p:spPr>
          <a:xfrm>
            <a:off x="595630" y="3015510"/>
            <a:ext cx="1370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市场部等职能部门审核</a:t>
            </a:r>
          </a:p>
        </p:txBody>
      </p:sp>
      <p:sp>
        <p:nvSpPr>
          <p:cNvPr id="64" name="EDITABLE_TEXT_甄选结果及上架需求上"/>
          <p:cNvSpPr txBox="1"/>
          <p:nvPr/>
        </p:nvSpPr>
        <p:spPr>
          <a:xfrm>
            <a:off x="595630" y="4822720"/>
            <a:ext cx="1370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甄选结果及上架需求上</a:t>
            </a:r>
          </a:p>
        </p:txBody>
      </p:sp>
      <p:sp>
        <p:nvSpPr>
          <p:cNvPr id="65" name="EDITABLE_TEXT_报集团政企管理部门"/>
          <p:cNvSpPr txBox="1"/>
          <p:nvPr/>
        </p:nvSpPr>
        <p:spPr>
          <a:xfrm>
            <a:off x="659130" y="4975120"/>
            <a:ext cx="1243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报集团政企管理部门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SHAPE"/>
          <p:cNvSpPr/>
          <p:nvPr/>
        </p:nvSpPr>
        <p:spPr>
          <a:xfrm>
            <a:off x="2223516" y="1825751"/>
            <a:ext cx="2327148" cy="5654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ITABLE_SHAPE"/>
          <p:cNvSpPr/>
          <p:nvPr/>
        </p:nvSpPr>
        <p:spPr>
          <a:xfrm>
            <a:off x="2183892" y="2849879"/>
            <a:ext cx="2331719"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DITABLE_SHAPE"/>
          <p:cNvSpPr/>
          <p:nvPr/>
        </p:nvSpPr>
        <p:spPr>
          <a:xfrm>
            <a:off x="4589779" y="181863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DITABLE_SHAPE"/>
          <p:cNvSpPr/>
          <p:nvPr/>
        </p:nvSpPr>
        <p:spPr>
          <a:xfrm>
            <a:off x="4589779" y="206247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DITABLE_SHAPE"/>
          <p:cNvSpPr/>
          <p:nvPr/>
        </p:nvSpPr>
        <p:spPr>
          <a:xfrm>
            <a:off x="4589779" y="261112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ABLE_SHAPE"/>
          <p:cNvSpPr/>
          <p:nvPr/>
        </p:nvSpPr>
        <p:spPr>
          <a:xfrm>
            <a:off x="4589462" y="389509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ABLE_SHAPE"/>
          <p:cNvSpPr/>
          <p:nvPr/>
        </p:nvSpPr>
        <p:spPr>
          <a:xfrm>
            <a:off x="4589462" y="429132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ABLE_SHAPE"/>
          <p:cNvSpPr/>
          <p:nvPr/>
        </p:nvSpPr>
        <p:spPr>
          <a:xfrm>
            <a:off x="2209800" y="4914900"/>
            <a:ext cx="2327147"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ABLE_SHAPE"/>
          <p:cNvSpPr/>
          <p:nvPr/>
        </p:nvSpPr>
        <p:spPr>
          <a:xfrm>
            <a:off x="4589462" y="473519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ABLE_SHAPE"/>
          <p:cNvSpPr/>
          <p:nvPr/>
        </p:nvSpPr>
        <p:spPr>
          <a:xfrm>
            <a:off x="4589462" y="5131434"/>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ABLE_SHAPE"/>
          <p:cNvSpPr/>
          <p:nvPr/>
        </p:nvSpPr>
        <p:spPr>
          <a:xfrm>
            <a:off x="4589462" y="552767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ABLE_SHAPE"/>
          <p:cNvSpPr/>
          <p:nvPr/>
        </p:nvSpPr>
        <p:spPr>
          <a:xfrm>
            <a:off x="4589779" y="597154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ABLE_SHAPE"/>
          <p:cNvSpPr/>
          <p:nvPr/>
        </p:nvSpPr>
        <p:spPr>
          <a:xfrm>
            <a:off x="4589779" y="630427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ABLE_SHAPE"/>
          <p:cNvSpPr/>
          <p:nvPr/>
        </p:nvSpPr>
        <p:spPr>
          <a:xfrm>
            <a:off x="4589462" y="305498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ABLE_SHAPE"/>
          <p:cNvSpPr/>
          <p:nvPr/>
        </p:nvSpPr>
        <p:spPr>
          <a:xfrm>
            <a:off x="4589462" y="345122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ABLE_SHAPE"/>
          <p:cNvSpPr/>
          <p:nvPr/>
        </p:nvSpPr>
        <p:spPr>
          <a:xfrm>
            <a:off x="2183892" y="3840479"/>
            <a:ext cx="2327148" cy="435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ABLE_SHAPE"/>
          <p:cNvSpPr/>
          <p:nvPr/>
        </p:nvSpPr>
        <p:spPr>
          <a:xfrm>
            <a:off x="652272" y="1825751"/>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ABLE_SHAPE"/>
          <p:cNvSpPr/>
          <p:nvPr/>
        </p:nvSpPr>
        <p:spPr>
          <a:xfrm>
            <a:off x="652272" y="2849879"/>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ABLE_SHAPE"/>
          <p:cNvSpPr/>
          <p:nvPr/>
        </p:nvSpPr>
        <p:spPr>
          <a:xfrm>
            <a:off x="652272" y="5923788"/>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ITABLE_SHAPE"/>
          <p:cNvSpPr/>
          <p:nvPr/>
        </p:nvSpPr>
        <p:spPr>
          <a:xfrm>
            <a:off x="652272" y="4898135"/>
            <a:ext cx="1531619"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ABLE_SHAPE"/>
          <p:cNvSpPr/>
          <p:nvPr/>
        </p:nvSpPr>
        <p:spPr>
          <a:xfrm>
            <a:off x="653795" y="3874008"/>
            <a:ext cx="1530096"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ITABLE_SHAPE"/>
          <p:cNvSpPr/>
          <p:nvPr/>
        </p:nvSpPr>
        <p:spPr>
          <a:xfrm>
            <a:off x="2203704" y="5931408"/>
            <a:ext cx="2327148"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ITABLE_TEXT_4"/>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4</a:t>
            </a:r>
          </a:p>
        </p:txBody>
      </p:sp>
      <p:sp>
        <p:nvSpPr>
          <p:cNvPr id="26" name="EDITABLE_TEXT_三、千里眼属地“集成装维类”服务包业务交付责任分"/>
          <p:cNvSpPr txBox="1"/>
          <p:nvPr/>
        </p:nvSpPr>
        <p:spPr>
          <a:xfrm>
            <a:off x="706285" y="319711"/>
            <a:ext cx="6452222" cy="3993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三、千里眼属地“集成装维类”服务包业务交付责任分工</a:t>
            </a:r>
          </a:p>
        </p:txBody>
      </p:sp>
      <p:sp>
        <p:nvSpPr>
          <p:cNvPr id="27" name="EDITABLE_TEXT_•"/>
          <p:cNvSpPr txBox="1"/>
          <p:nvPr/>
        </p:nvSpPr>
        <p:spPr>
          <a:xfrm>
            <a:off x="601395" y="974750"/>
            <a:ext cx="164052" cy="3067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28" name="EDITABLE_TEXT_产创中心负责属地“集成装维类”服务包的业务真实性"/>
          <p:cNvSpPr txBox="1"/>
          <p:nvPr/>
        </p:nvSpPr>
        <p:spPr>
          <a:xfrm>
            <a:off x="887145" y="971360"/>
            <a:ext cx="81032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产创中心负责属地</a:t>
            </a:r>
            <a:r>
              <a:rPr sz="1405" b="1" i="0">
                <a:solidFill>
                  <a:srgbClr val="C00000"/>
                </a:solidFill>
                <a:latin typeface="Microsoft YaHei"/>
              </a:rPr>
              <a:t>“集成装维类”服务包的业务真实性</a:t>
            </a:r>
            <a:r>
              <a:rPr sz="1405" b="1" i="0">
                <a:solidFill>
                  <a:srgbClr val="008CFF"/>
                </a:solidFill>
                <a:latin typeface="Microsoft YaHei"/>
              </a:rPr>
              <a:t>，完成售前沟通及项目交付；视频部</a:t>
            </a:r>
            <a:r>
              <a:rPr sz="1405" b="1" i="0">
                <a:solidFill>
                  <a:srgbClr val="C00000"/>
                </a:solidFill>
                <a:latin typeface="Microsoft YaHei"/>
              </a:rPr>
              <a:t>负管理职责</a:t>
            </a:r>
          </a:p>
        </p:txBody>
      </p:sp>
      <p:sp>
        <p:nvSpPr>
          <p:cNvPr id="29" name="EDITABLE_TEXT_•"/>
          <p:cNvSpPr txBox="1"/>
          <p:nvPr/>
        </p:nvSpPr>
        <p:spPr>
          <a:xfrm>
            <a:off x="601395" y="1294791"/>
            <a:ext cx="164052" cy="3067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30" name="EDITABLE_TEXT_视频部作为千里眼产品线管理部门，负责属地DICT"/>
          <p:cNvSpPr txBox="1"/>
          <p:nvPr/>
        </p:nvSpPr>
        <p:spPr>
          <a:xfrm>
            <a:off x="887145" y="1291400"/>
            <a:ext cx="72904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视频部作为千里眼产品线管理部门，负责属地DICT服务包</a:t>
            </a:r>
            <a:r>
              <a:rPr sz="1405" b="1" i="0">
                <a:solidFill>
                  <a:srgbClr val="C00000"/>
                </a:solidFill>
                <a:latin typeface="Microsoft YaHei"/>
              </a:rPr>
              <a:t>交付确认审核，计入订单产品收入</a:t>
            </a:r>
          </a:p>
        </p:txBody>
      </p:sp>
      <p:sp>
        <p:nvSpPr>
          <p:cNvPr id="31" name="EDITABLE_TEXT_差异点1：通过“四个自主”标准实现"/>
          <p:cNvSpPr txBox="1"/>
          <p:nvPr/>
        </p:nvSpPr>
        <p:spPr>
          <a:xfrm>
            <a:off x="2314575" y="1807500"/>
            <a:ext cx="221107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差异点1：通过“四个自主”标准实现</a:t>
            </a:r>
          </a:p>
        </p:txBody>
      </p:sp>
      <p:sp>
        <p:nvSpPr>
          <p:cNvPr id="32" name="EDITABLE_TEXT_融能的项目，产创中心按DICT项目管"/>
          <p:cNvSpPr txBox="1"/>
          <p:nvPr/>
        </p:nvSpPr>
        <p:spPr>
          <a:xfrm>
            <a:off x="2314575" y="2036100"/>
            <a:ext cx="218694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融能的项目，产创中心按DICT项目管</a:t>
            </a:r>
          </a:p>
        </p:txBody>
      </p:sp>
      <p:sp>
        <p:nvSpPr>
          <p:cNvPr id="33" name="EDITABLE_TEXT_理要求执行，发起项目预决策"/>
          <p:cNvSpPr txBox="1"/>
          <p:nvPr/>
        </p:nvSpPr>
        <p:spPr>
          <a:xfrm>
            <a:off x="2314575" y="2264700"/>
            <a:ext cx="1751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理要求执行，发起项目预决策</a:t>
            </a:r>
          </a:p>
        </p:txBody>
      </p:sp>
      <p:sp>
        <p:nvSpPr>
          <p:cNvPr id="34" name="EDITABLE_TEXT_差异点2：产创中心自行完成属地“集"/>
          <p:cNvSpPr txBox="1"/>
          <p:nvPr/>
        </p:nvSpPr>
        <p:spPr>
          <a:xfrm>
            <a:off x="2275839" y="2852710"/>
            <a:ext cx="221107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差异点2：产创中心自行完成属地“集</a:t>
            </a:r>
          </a:p>
        </p:txBody>
      </p:sp>
      <p:sp>
        <p:nvSpPr>
          <p:cNvPr id="35" name="EDITABLE_TEXT_成装维类”服务包接单审核"/>
          <p:cNvSpPr txBox="1"/>
          <p:nvPr/>
        </p:nvSpPr>
        <p:spPr>
          <a:xfrm>
            <a:off x="2275839" y="3081310"/>
            <a:ext cx="1624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成装维类”服务包接单审核</a:t>
            </a:r>
          </a:p>
        </p:txBody>
      </p:sp>
      <p:sp>
        <p:nvSpPr>
          <p:cNvPr id="36" name="EDITABLE_TEXT_部门"/>
          <p:cNvSpPr txBox="1"/>
          <p:nvPr/>
        </p:nvSpPr>
        <p:spPr>
          <a:xfrm>
            <a:off x="5057775" y="1848775"/>
            <a:ext cx="354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37" name="EDITABLE_TEXT_责任分工"/>
          <p:cNvSpPr txBox="1"/>
          <p:nvPr/>
        </p:nvSpPr>
        <p:spPr>
          <a:xfrm>
            <a:off x="8535034" y="1848775"/>
            <a:ext cx="608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38" name="EDITABLE_TEXT_产创中心"/>
          <p:cNvSpPr txBox="1"/>
          <p:nvPr/>
        </p:nvSpPr>
        <p:spPr>
          <a:xfrm>
            <a:off x="4930775" y="2247795"/>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39" name="EDITABLE_TEXT_1、对业务真实性负责，搜集项目信息，包括交付实质"/>
          <p:cNvSpPr txBox="1"/>
          <p:nvPr/>
        </p:nvSpPr>
        <p:spPr>
          <a:xfrm>
            <a:off x="5871209" y="2092615"/>
            <a:ext cx="5890260"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1" i="0">
                <a:solidFill>
                  <a:srgbClr val="C00000"/>
                </a:solidFill>
                <a:latin typeface="Microsoft YaHei"/>
              </a:rPr>
              <a:t>对业务真实性负责</a:t>
            </a:r>
            <a:r>
              <a:rPr sz="994" b="0" i="0">
                <a:solidFill>
                  <a:srgbClr val="000000"/>
                </a:solidFill>
                <a:latin typeface="Microsoft YaHei"/>
              </a:rPr>
              <a:t>，搜集项目信息，包括交付实质内容、客户交付要求、服务包业务订购计划等，保</a:t>
            </a:r>
          </a:p>
        </p:txBody>
      </p:sp>
      <p:sp>
        <p:nvSpPr>
          <p:cNvPr id="40" name="EDITABLE_TEXT_证业务符合公司业务管理要求"/>
          <p:cNvSpPr txBox="1"/>
          <p:nvPr/>
        </p:nvSpPr>
        <p:spPr>
          <a:xfrm>
            <a:off x="5871209" y="2247795"/>
            <a:ext cx="1751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证业务符合公司业务管理要求</a:t>
            </a:r>
          </a:p>
        </p:txBody>
      </p:sp>
      <p:sp>
        <p:nvSpPr>
          <p:cNvPr id="41" name="EDITABLE_TEXT_2、通过“四个自主”标准实现融能的项目，在售前阶"/>
          <p:cNvSpPr txBox="1"/>
          <p:nvPr/>
        </p:nvSpPr>
        <p:spPr>
          <a:xfrm>
            <a:off x="5871209" y="2397415"/>
            <a:ext cx="5690235"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2、通过“四个自主”标准实现融能的项目，</a:t>
            </a:r>
            <a:r>
              <a:rPr sz="994" b="1" i="0">
                <a:solidFill>
                  <a:srgbClr val="C00000"/>
                </a:solidFill>
                <a:latin typeface="Microsoft YaHei"/>
              </a:rPr>
              <a:t>在售前阶段按DICT项目管理要求执行，发起项目预决策</a:t>
            </a:r>
          </a:p>
        </p:txBody>
      </p:sp>
      <p:sp>
        <p:nvSpPr>
          <p:cNvPr id="42" name="EDITABLE_TEXT_产创中心"/>
          <p:cNvSpPr txBox="1"/>
          <p:nvPr/>
        </p:nvSpPr>
        <p:spPr>
          <a:xfrm>
            <a:off x="4931092" y="4004205"/>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43" name="EDITABLE_TEXT_1、完成订单录入、选择物料进行报价封装、销售订单"/>
          <p:cNvSpPr txBox="1"/>
          <p:nvPr/>
        </p:nvSpPr>
        <p:spPr>
          <a:xfrm>
            <a:off x="5872797" y="3928005"/>
            <a:ext cx="3350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1、完成订单录入、选择物料进行报价封装、销售订单审批</a:t>
            </a:r>
          </a:p>
        </p:txBody>
      </p:sp>
      <p:sp>
        <p:nvSpPr>
          <p:cNvPr id="44" name="EDITABLE_TEXT_2、发起甄选委托单，完成甄选委托单审批"/>
          <p:cNvSpPr txBox="1"/>
          <p:nvPr/>
        </p:nvSpPr>
        <p:spPr>
          <a:xfrm>
            <a:off x="5872797" y="4077625"/>
            <a:ext cx="2461260"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1" i="0">
                <a:solidFill>
                  <a:srgbClr val="C00000"/>
                </a:solidFill>
                <a:latin typeface="Microsoft YaHei"/>
              </a:rPr>
              <a:t>发起甄选委托单，完成甄选委托单审批</a:t>
            </a:r>
          </a:p>
        </p:txBody>
      </p:sp>
      <p:sp>
        <p:nvSpPr>
          <p:cNvPr id="45" name="EDITABLE_TEXT_差异点4：产创中心全面负责属地“集"/>
          <p:cNvSpPr txBox="1"/>
          <p:nvPr/>
        </p:nvSpPr>
        <p:spPr>
          <a:xfrm>
            <a:off x="2300604" y="4803430"/>
            <a:ext cx="221107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差异点4：产创中心全面负责属地“集</a:t>
            </a:r>
          </a:p>
        </p:txBody>
      </p:sp>
      <p:sp>
        <p:nvSpPr>
          <p:cNvPr id="46" name="EDITABLE_TEXT_成装维类”服务包交付阶段，组织项"/>
          <p:cNvSpPr txBox="1"/>
          <p:nvPr/>
        </p:nvSpPr>
        <p:spPr>
          <a:xfrm>
            <a:off x="2300604" y="5032030"/>
            <a:ext cx="213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成装维类”服务包交付阶段，组织项</a:t>
            </a:r>
          </a:p>
        </p:txBody>
      </p:sp>
      <p:sp>
        <p:nvSpPr>
          <p:cNvPr id="47" name="EDITABLE_TEXT_目交付"/>
          <p:cNvSpPr txBox="1"/>
          <p:nvPr/>
        </p:nvSpPr>
        <p:spPr>
          <a:xfrm>
            <a:off x="2300604" y="5260630"/>
            <a:ext cx="481964"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目交付</a:t>
            </a:r>
          </a:p>
        </p:txBody>
      </p:sp>
      <p:sp>
        <p:nvSpPr>
          <p:cNvPr id="48" name="EDITABLE_TEXT_产创中心"/>
          <p:cNvSpPr txBox="1"/>
          <p:nvPr/>
        </p:nvSpPr>
        <p:spPr>
          <a:xfrm>
            <a:off x="4930457" y="4844310"/>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49" name="EDITABLE_TEXT_1、属地“集成装维类”服务包业务由产创中心全面支"/>
          <p:cNvSpPr txBox="1"/>
          <p:nvPr/>
        </p:nvSpPr>
        <p:spPr>
          <a:xfrm>
            <a:off x="5870892" y="4765330"/>
            <a:ext cx="4620260"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1" i="0">
                <a:solidFill>
                  <a:srgbClr val="C00000"/>
                </a:solidFill>
                <a:latin typeface="Microsoft YaHei"/>
              </a:rPr>
              <a:t>属地“集成装维类”服务包业务由产创中心全面支撑，负责组织合作伙伴交付</a:t>
            </a:r>
          </a:p>
        </p:txBody>
      </p:sp>
      <p:sp>
        <p:nvSpPr>
          <p:cNvPr id="50" name="EDITABLE_TEXT_2、交付完成后，对交付过程材料、验收材料进行审核"/>
          <p:cNvSpPr txBox="1"/>
          <p:nvPr/>
        </p:nvSpPr>
        <p:spPr>
          <a:xfrm>
            <a:off x="5870892" y="4920510"/>
            <a:ext cx="4366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2、交付完成后，对交付过程材料、验收材料进行审核，在交付确认环节审批</a:t>
            </a:r>
          </a:p>
        </p:txBody>
      </p:sp>
      <p:sp>
        <p:nvSpPr>
          <p:cNvPr id="51" name="EDITABLE_TEXT_视频部"/>
          <p:cNvSpPr txBox="1"/>
          <p:nvPr/>
        </p:nvSpPr>
        <p:spPr>
          <a:xfrm>
            <a:off x="4993957" y="5240551"/>
            <a:ext cx="481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52" name="EDITABLE_TEXT_1、在产创中心审批后，视频部对交付过程材料、验收"/>
          <p:cNvSpPr txBox="1"/>
          <p:nvPr/>
        </p:nvSpPr>
        <p:spPr>
          <a:xfrm>
            <a:off x="5870892" y="5161570"/>
            <a:ext cx="5763260"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1、在产创中心审批后，视频部</a:t>
            </a:r>
            <a:r>
              <a:rPr sz="994" b="1" i="0">
                <a:solidFill>
                  <a:srgbClr val="C00000"/>
                </a:solidFill>
                <a:latin typeface="Microsoft YaHei"/>
              </a:rPr>
              <a:t>对交付过程材料、验收材料进行审核，并在集客大厅完成交付确认审批</a:t>
            </a:r>
          </a:p>
        </p:txBody>
      </p:sp>
      <p:sp>
        <p:nvSpPr>
          <p:cNvPr id="53" name="EDITABLE_TEXT_（若遇特殊情况，材料未及时反馈，订单需要视频部审"/>
          <p:cNvSpPr txBox="1"/>
          <p:nvPr/>
        </p:nvSpPr>
        <p:spPr>
          <a:xfrm>
            <a:off x="5870892" y="5313970"/>
            <a:ext cx="5053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（若遇特殊情况，材料未及时反馈，订单需要视频部审核，需产创中心一把手邮件确认）</a:t>
            </a:r>
          </a:p>
        </p:txBody>
      </p:sp>
      <p:sp>
        <p:nvSpPr>
          <p:cNvPr id="54" name="EDITABLE_TEXT_产创中心"/>
          <p:cNvSpPr txBox="1"/>
          <p:nvPr/>
        </p:nvSpPr>
        <p:spPr>
          <a:xfrm>
            <a:off x="4930775" y="6048905"/>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55" name="EDITABLE_TEXT_1、在系统提交项目材料，发起订单计收，对业务真实"/>
          <p:cNvSpPr txBox="1"/>
          <p:nvPr/>
        </p:nvSpPr>
        <p:spPr>
          <a:xfrm>
            <a:off x="5871209" y="6046125"/>
            <a:ext cx="4493260"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1、在系统提交项目材料，</a:t>
            </a:r>
            <a:r>
              <a:rPr sz="994" b="1" i="0">
                <a:solidFill>
                  <a:srgbClr val="C00000"/>
                </a:solidFill>
                <a:latin typeface="Microsoft YaHei"/>
              </a:rPr>
              <a:t>发起订单计收</a:t>
            </a:r>
            <a:r>
              <a:rPr sz="994" b="0" i="0">
                <a:solidFill>
                  <a:srgbClr val="000000"/>
                </a:solidFill>
                <a:latin typeface="Microsoft YaHei"/>
              </a:rPr>
              <a:t>，对业务真实性及交付材料真实性负责</a:t>
            </a:r>
          </a:p>
        </p:txBody>
      </p:sp>
      <p:sp>
        <p:nvSpPr>
          <p:cNvPr id="56" name="EDITABLE_TEXT_产创中心"/>
          <p:cNvSpPr txBox="1"/>
          <p:nvPr/>
        </p:nvSpPr>
        <p:spPr>
          <a:xfrm>
            <a:off x="4931092" y="3164101"/>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57" name="EDITABLE_TEXT_1、核实业务订单信息与材料，需与售前沟通情况保持"/>
          <p:cNvSpPr txBox="1"/>
          <p:nvPr/>
        </p:nvSpPr>
        <p:spPr>
          <a:xfrm>
            <a:off x="5872797" y="3087900"/>
            <a:ext cx="3350260"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1、核实业务订单信息与材料，需与售前沟通情况保持一致</a:t>
            </a:r>
          </a:p>
        </p:txBody>
      </p:sp>
      <p:sp>
        <p:nvSpPr>
          <p:cNvPr id="58" name="EDITABLE_TEXT_2、根据订单情况对服务包进行额度分配，审核项目内"/>
          <p:cNvSpPr txBox="1"/>
          <p:nvPr/>
        </p:nvSpPr>
        <p:spPr>
          <a:xfrm>
            <a:off x="5872797" y="3237520"/>
            <a:ext cx="3604260" cy="2301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2、根据订单情况对服务包进行额度分配，</a:t>
            </a:r>
            <a:r>
              <a:rPr sz="994" b="1" i="0">
                <a:solidFill>
                  <a:srgbClr val="C00000"/>
                </a:solidFill>
                <a:latin typeface="Microsoft YaHei"/>
              </a:rPr>
              <a:t>审核项目内容并接单</a:t>
            </a:r>
          </a:p>
        </p:txBody>
      </p:sp>
      <p:sp>
        <p:nvSpPr>
          <p:cNvPr id="59" name="EDITABLE_TEXT_差异点3：产创中心发起属地“集成装"/>
          <p:cNvSpPr txBox="1"/>
          <p:nvPr/>
        </p:nvSpPr>
        <p:spPr>
          <a:xfrm>
            <a:off x="2275839" y="3872520"/>
            <a:ext cx="221107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差异点3：产创中心发起属地“集成装</a:t>
            </a:r>
          </a:p>
        </p:txBody>
      </p:sp>
      <p:sp>
        <p:nvSpPr>
          <p:cNvPr id="60" name="EDITABLE_TEXT_维类”服务包甄选委托单"/>
          <p:cNvSpPr txBox="1"/>
          <p:nvPr/>
        </p:nvSpPr>
        <p:spPr>
          <a:xfrm>
            <a:off x="2275839" y="4101120"/>
            <a:ext cx="1497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维类”服务包甄选委托单</a:t>
            </a:r>
          </a:p>
        </p:txBody>
      </p:sp>
      <p:sp>
        <p:nvSpPr>
          <p:cNvPr id="61" name="EDITABLE_TEXT_售前沟通"/>
          <p:cNvSpPr txBox="1"/>
          <p:nvPr/>
        </p:nvSpPr>
        <p:spPr>
          <a:xfrm>
            <a:off x="1163955" y="1894735"/>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售前沟通</a:t>
            </a:r>
          </a:p>
        </p:txBody>
      </p:sp>
      <p:sp>
        <p:nvSpPr>
          <p:cNvPr id="62" name="EDITABLE_TEXT_集客大厅接单"/>
          <p:cNvSpPr txBox="1"/>
          <p:nvPr/>
        </p:nvSpPr>
        <p:spPr>
          <a:xfrm>
            <a:off x="1036955" y="2919283"/>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集客大厅接单</a:t>
            </a:r>
          </a:p>
        </p:txBody>
      </p:sp>
      <p:sp>
        <p:nvSpPr>
          <p:cNvPr id="63" name="EDITABLE_TEXT_计收"/>
          <p:cNvSpPr txBox="1"/>
          <p:nvPr/>
        </p:nvSpPr>
        <p:spPr>
          <a:xfrm>
            <a:off x="1290955" y="5992911"/>
            <a:ext cx="354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计收</a:t>
            </a:r>
          </a:p>
        </p:txBody>
      </p:sp>
      <p:sp>
        <p:nvSpPr>
          <p:cNvPr id="64" name="EDITABLE_TEXT_项目交付"/>
          <p:cNvSpPr txBox="1"/>
          <p:nvPr/>
        </p:nvSpPr>
        <p:spPr>
          <a:xfrm>
            <a:off x="1163955" y="4968377"/>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项目交付</a:t>
            </a:r>
          </a:p>
        </p:txBody>
      </p:sp>
      <p:sp>
        <p:nvSpPr>
          <p:cNvPr id="65" name="EDITABLE_TEXT_市场销售支撑系统下单"/>
          <p:cNvSpPr txBox="1"/>
          <p:nvPr/>
        </p:nvSpPr>
        <p:spPr>
          <a:xfrm>
            <a:off x="783590" y="3943830"/>
            <a:ext cx="1370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市场销售支撑系统下单</a:t>
            </a:r>
          </a:p>
        </p:txBody>
      </p:sp>
      <p:sp>
        <p:nvSpPr>
          <p:cNvPr id="66" name="EDITABLE_TEXT_差异点5：产创中心对属地“集成装维"/>
          <p:cNvSpPr txBox="1"/>
          <p:nvPr/>
        </p:nvSpPr>
        <p:spPr>
          <a:xfrm>
            <a:off x="2295525" y="5935000"/>
            <a:ext cx="221107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差异点5：产创中心对属地“集成装维</a:t>
            </a:r>
          </a:p>
        </p:txBody>
      </p:sp>
      <p:sp>
        <p:nvSpPr>
          <p:cNvPr id="67" name="EDITABLE_TEXT_类”服务包项目交付过程材料负责"/>
          <p:cNvSpPr txBox="1"/>
          <p:nvPr/>
        </p:nvSpPr>
        <p:spPr>
          <a:xfrm>
            <a:off x="2295525" y="6163600"/>
            <a:ext cx="2005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类”服务包项目交付过程材料负责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SHAPE"/>
          <p:cNvSpPr/>
          <p:nvPr/>
        </p:nvSpPr>
        <p:spPr>
          <a:xfrm>
            <a:off x="3846576" y="3270503"/>
            <a:ext cx="4514088" cy="42976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ITABLE_TEXT_5"/>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5</a:t>
            </a:r>
          </a:p>
        </p:txBody>
      </p:sp>
      <p:sp>
        <p:nvSpPr>
          <p:cNvPr id="5" name="EDITABLE_TEXT_四、千里眼属地“集成装维类”服务包执行方案"/>
          <p:cNvSpPr txBox="1"/>
          <p:nvPr/>
        </p:nvSpPr>
        <p:spPr>
          <a:xfrm>
            <a:off x="706285" y="319711"/>
            <a:ext cx="5436222" cy="3993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四、千里眼属地“集成装维类”服务包执行方案</a:t>
            </a:r>
          </a:p>
        </p:txBody>
      </p:sp>
      <p:sp>
        <p:nvSpPr>
          <p:cNvPr id="6" name="EDITABLE_TEXT_背景说明："/>
          <p:cNvSpPr txBox="1"/>
          <p:nvPr/>
        </p:nvSpPr>
        <p:spPr>
          <a:xfrm>
            <a:off x="263525" y="882369"/>
            <a:ext cx="1116964" cy="3306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solidFill>
                <a:latin typeface="Microsoft YaHei"/>
              </a:rPr>
              <a:t>背景说明：</a:t>
            </a:r>
          </a:p>
        </p:txBody>
      </p:sp>
      <p:sp>
        <p:nvSpPr>
          <p:cNvPr id="7" name="EDITABLE_TEXT_①26年1月完成首批25个“产品定制类”服务包立"/>
          <p:cNvSpPr txBox="1"/>
          <p:nvPr/>
        </p:nvSpPr>
        <p:spPr>
          <a:xfrm>
            <a:off x="463550" y="1223695"/>
            <a:ext cx="7066280"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①26年1月完成</a:t>
            </a:r>
            <a:r>
              <a:rPr sz="1200" b="1" i="0">
                <a:solidFill>
                  <a:srgbClr val="C00000"/>
                </a:solidFill>
                <a:latin typeface="Microsoft YaHei"/>
              </a:rPr>
              <a:t>首批25个“产品定制类”服务包</a:t>
            </a:r>
            <a:r>
              <a:rPr sz="1200" b="1" i="0">
                <a:solidFill>
                  <a:srgbClr val="008CFF"/>
                </a:solidFill>
                <a:latin typeface="Microsoft YaHei"/>
              </a:rPr>
              <a:t>立项，已于3月下旬完成集客大厅上架，</a:t>
            </a:r>
            <a:r>
              <a:rPr sz="1200" b="1" i="0">
                <a:solidFill>
                  <a:srgbClr val="C00000"/>
                </a:solidFill>
                <a:latin typeface="Microsoft YaHei"/>
              </a:rPr>
              <a:t>目前已开放订购</a:t>
            </a:r>
          </a:p>
        </p:txBody>
      </p:sp>
      <p:sp>
        <p:nvSpPr>
          <p:cNvPr id="8" name="EDITABLE_TEXT_②26年3月31日，数智安防等2025年及之前上"/>
          <p:cNvSpPr txBox="1"/>
          <p:nvPr/>
        </p:nvSpPr>
        <p:spPr>
          <a:xfrm>
            <a:off x="463550" y="1498015"/>
            <a:ext cx="6751319"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②26年3月31日，数智安防等</a:t>
            </a:r>
            <a:r>
              <a:rPr sz="1200" b="1" i="0">
                <a:solidFill>
                  <a:srgbClr val="C00000"/>
                </a:solidFill>
                <a:latin typeface="Microsoft YaHei"/>
              </a:rPr>
              <a:t>2025年及之前上架的21个存量服务包已冻结</a:t>
            </a:r>
            <a:r>
              <a:rPr sz="1200" b="1" i="0">
                <a:solidFill>
                  <a:srgbClr val="008CFF"/>
                </a:solidFill>
                <a:latin typeface="Microsoft YaHei"/>
              </a:rPr>
              <a:t>，自3月31日起</a:t>
            </a:r>
            <a:r>
              <a:rPr sz="1200" b="1" i="0">
                <a:solidFill>
                  <a:srgbClr val="C00000"/>
                </a:solidFill>
                <a:latin typeface="Microsoft YaHei"/>
              </a:rPr>
              <a:t>暂停订购</a:t>
            </a:r>
          </a:p>
        </p:txBody>
      </p:sp>
      <p:sp>
        <p:nvSpPr>
          <p:cNvPr id="9" name="EDITABLE_TEXT_③以上46个服务包均已沟通省侧签署结算合同，目前"/>
          <p:cNvSpPr txBox="1"/>
          <p:nvPr/>
        </p:nvSpPr>
        <p:spPr>
          <a:xfrm>
            <a:off x="463550" y="1772335"/>
            <a:ext cx="5963920"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③以上46个服务包均已沟通</a:t>
            </a:r>
            <a:r>
              <a:rPr sz="1200" b="1" i="0">
                <a:solidFill>
                  <a:srgbClr val="C00000"/>
                </a:solidFill>
                <a:latin typeface="Microsoft YaHei"/>
              </a:rPr>
              <a:t>省侧签署结算合同</a:t>
            </a:r>
            <a:r>
              <a:rPr sz="1200" b="1" i="0">
                <a:solidFill>
                  <a:srgbClr val="008CFF"/>
                </a:solidFill>
                <a:latin typeface="Microsoft YaHei"/>
              </a:rPr>
              <a:t>，目前已完成20省签约，其他省份已立项</a:t>
            </a:r>
          </a:p>
        </p:txBody>
      </p:sp>
      <p:sp>
        <p:nvSpPr>
          <p:cNvPr id="10" name="EDITABLE_TEXT_存在问题："/>
          <p:cNvSpPr txBox="1"/>
          <p:nvPr/>
        </p:nvSpPr>
        <p:spPr>
          <a:xfrm>
            <a:off x="263525" y="2151099"/>
            <a:ext cx="1116964" cy="3306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solidFill>
                <a:latin typeface="Microsoft YaHei"/>
              </a:rPr>
              <a:t>存在问题：</a:t>
            </a:r>
          </a:p>
        </p:txBody>
      </p:sp>
      <p:sp>
        <p:nvSpPr>
          <p:cNvPr id="11" name="EDITABLE_TEXT_①产创中心新规划属地“集成装维类”服务包，甄选合"/>
          <p:cNvSpPr txBox="1"/>
          <p:nvPr/>
        </p:nvSpPr>
        <p:spPr>
          <a:xfrm>
            <a:off x="463550" y="2492425"/>
            <a:ext cx="9347834"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①产创中心新规划属地“集成装维类”服务包，甄选合作伙伴并进行资费上架，因目前</a:t>
            </a:r>
            <a:r>
              <a:rPr sz="1200" b="1" i="0">
                <a:solidFill>
                  <a:srgbClr val="C00000"/>
                </a:solidFill>
                <a:latin typeface="Microsoft YaHei"/>
              </a:rPr>
              <a:t>业支系统改造困难，新服务包上架预计耗时3-4个月</a:t>
            </a:r>
          </a:p>
        </p:txBody>
      </p:sp>
      <p:sp>
        <p:nvSpPr>
          <p:cNvPr id="12" name="EDITABLE_TEXT_②属地新服务包上架，需产创中心沟通省公司签署结算"/>
          <p:cNvSpPr txBox="1"/>
          <p:nvPr/>
        </p:nvSpPr>
        <p:spPr>
          <a:xfrm>
            <a:off x="463550" y="2766745"/>
            <a:ext cx="8729980"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②属地</a:t>
            </a:r>
            <a:r>
              <a:rPr sz="1200" b="1" i="0">
                <a:solidFill>
                  <a:srgbClr val="C00000"/>
                </a:solidFill>
                <a:latin typeface="Microsoft YaHei"/>
              </a:rPr>
              <a:t>新服务包上架</a:t>
            </a:r>
            <a:r>
              <a:rPr sz="1200" b="1" i="0">
                <a:solidFill>
                  <a:srgbClr val="008CFF"/>
                </a:solidFill>
                <a:latin typeface="Microsoft YaHei"/>
              </a:rPr>
              <a:t>，</a:t>
            </a:r>
            <a:r>
              <a:rPr sz="1200" b="1" i="0">
                <a:solidFill>
                  <a:srgbClr val="C00000"/>
                </a:solidFill>
                <a:latin typeface="Microsoft YaHei"/>
              </a:rPr>
              <a:t>需产创中心沟通省公司签署结算补充协议</a:t>
            </a:r>
            <a:r>
              <a:rPr sz="1200" b="0" i="0">
                <a:solidFill>
                  <a:srgbClr val="000000"/>
                </a:solidFill>
                <a:latin typeface="Microsoft YaHei"/>
              </a:rPr>
              <a:t>，</a:t>
            </a:r>
            <a:r>
              <a:rPr sz="1200" b="1" i="0">
                <a:solidFill>
                  <a:srgbClr val="008CFF"/>
                </a:solidFill>
                <a:latin typeface="Microsoft YaHei"/>
              </a:rPr>
              <a:t>将新服务包资费纳入结算合同后方可发展业务，预计耗时3个月</a:t>
            </a:r>
          </a:p>
        </p:txBody>
      </p:sp>
      <p:sp>
        <p:nvSpPr>
          <p:cNvPr id="13" name="EDITABLE_TEXT_建议：设置千里眼存量包划转方案"/>
          <p:cNvSpPr txBox="1"/>
          <p:nvPr/>
        </p:nvSpPr>
        <p:spPr>
          <a:xfrm>
            <a:off x="4579620" y="3326446"/>
            <a:ext cx="3148964" cy="3306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FFFFFF"/>
                </a:solidFill>
                <a:latin typeface="Microsoft YaHei"/>
              </a:rPr>
              <a:t>建议：设置千里眼存量包划转方案</a:t>
            </a:r>
          </a:p>
        </p:txBody>
      </p:sp>
      <p:sp>
        <p:nvSpPr>
          <p:cNvPr id="14" name="EDITABLE_TEXT_1、产创中心提交属地服务包规划，划转千里眼存量包"/>
          <p:cNvSpPr txBox="1"/>
          <p:nvPr/>
        </p:nvSpPr>
        <p:spPr>
          <a:xfrm>
            <a:off x="602615" y="4756900"/>
            <a:ext cx="4375149" cy="2486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1、产创中心提交属地服务包规划，</a:t>
            </a:r>
            <a:r>
              <a:rPr sz="1105" b="1" i="0">
                <a:solidFill>
                  <a:srgbClr val="C00000"/>
                </a:solidFill>
                <a:latin typeface="Microsoft YaHei"/>
              </a:rPr>
              <a:t>划转千里眼存量包</a:t>
            </a:r>
            <a:r>
              <a:rPr sz="1105" b="0" i="0">
                <a:solidFill>
                  <a:srgbClr val="000000"/>
                </a:solidFill>
                <a:latin typeface="Microsoft YaHei"/>
              </a:rPr>
              <a:t>；视频部审核；</a:t>
            </a:r>
          </a:p>
        </p:txBody>
      </p:sp>
      <p:sp>
        <p:nvSpPr>
          <p:cNvPr id="15" name="EDITABLE_TEXT_2、产创中心上会决策甄选属地合作伙伴；视频部列席"/>
          <p:cNvSpPr txBox="1"/>
          <p:nvPr/>
        </p:nvSpPr>
        <p:spPr>
          <a:xfrm>
            <a:off x="602615" y="5008360"/>
            <a:ext cx="3536949" cy="2486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2、产创中心上会决策</a:t>
            </a:r>
            <a:r>
              <a:rPr sz="1105" b="1" i="0">
                <a:solidFill>
                  <a:srgbClr val="C00000"/>
                </a:solidFill>
                <a:latin typeface="Microsoft YaHei"/>
              </a:rPr>
              <a:t>甄选属地合作伙伴</a:t>
            </a:r>
            <a:r>
              <a:rPr sz="1105" b="0" i="0">
                <a:solidFill>
                  <a:srgbClr val="000000"/>
                </a:solidFill>
                <a:latin typeface="Microsoft YaHei"/>
              </a:rPr>
              <a:t>；视频部列席；</a:t>
            </a:r>
          </a:p>
        </p:txBody>
      </p:sp>
      <p:sp>
        <p:nvSpPr>
          <p:cNvPr id="16" name="EDITABLE_TEXT_3、产创中心甄选属地合作伙伴，签约引入；"/>
          <p:cNvSpPr txBox="1"/>
          <p:nvPr/>
        </p:nvSpPr>
        <p:spPr>
          <a:xfrm>
            <a:off x="602615" y="5262907"/>
            <a:ext cx="2838449" cy="2446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3、产创中心甄选属地合作伙伴，签约引入；</a:t>
            </a:r>
          </a:p>
        </p:txBody>
      </p:sp>
      <p:sp>
        <p:nvSpPr>
          <p:cNvPr id="17" name="EDITABLE_TEXT_4、视频部负责配置集客大厅属地合作伙伴账号；"/>
          <p:cNvSpPr txBox="1"/>
          <p:nvPr/>
        </p:nvSpPr>
        <p:spPr>
          <a:xfrm>
            <a:off x="602615" y="5514367"/>
            <a:ext cx="3117849" cy="2446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4、视频部负责配置集客大厅属地合作伙伴账号；</a:t>
            </a:r>
          </a:p>
        </p:txBody>
      </p:sp>
      <p:sp>
        <p:nvSpPr>
          <p:cNvPr id="18" name="EDITABLE_TEXT_方案一"/>
          <p:cNvSpPr txBox="1"/>
          <p:nvPr/>
        </p:nvSpPr>
        <p:spPr>
          <a:xfrm>
            <a:off x="2970529" y="4110405"/>
            <a:ext cx="558800"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方案一</a:t>
            </a:r>
          </a:p>
        </p:txBody>
      </p:sp>
      <p:sp>
        <p:nvSpPr>
          <p:cNvPr id="19" name="EDITABLE_TEXT_方案二"/>
          <p:cNvSpPr txBox="1"/>
          <p:nvPr/>
        </p:nvSpPr>
        <p:spPr>
          <a:xfrm>
            <a:off x="8707119" y="4110405"/>
            <a:ext cx="558800"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方案二</a:t>
            </a:r>
          </a:p>
        </p:txBody>
      </p:sp>
      <p:sp>
        <p:nvSpPr>
          <p:cNvPr id="20" name="EDITABLE_TEXT_产创中心上会决策，划转存量服务包资费，甄选属地合"/>
          <p:cNvSpPr txBox="1"/>
          <p:nvPr/>
        </p:nvSpPr>
        <p:spPr>
          <a:xfrm>
            <a:off x="904875" y="4410126"/>
            <a:ext cx="4826000"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产创中心上会决策，</a:t>
            </a:r>
            <a:r>
              <a:rPr sz="1200" b="1" i="0">
                <a:solidFill>
                  <a:srgbClr val="C00000"/>
                </a:solidFill>
                <a:latin typeface="Microsoft YaHei"/>
              </a:rPr>
              <a:t>划转存量服务包资费</a:t>
            </a:r>
            <a:r>
              <a:rPr sz="1200" b="1" i="0">
                <a:solidFill>
                  <a:srgbClr val="008CFF"/>
                </a:solidFill>
                <a:latin typeface="Microsoft YaHei"/>
              </a:rPr>
              <a:t>，甄选属地合作伙伴支撑业务</a:t>
            </a:r>
          </a:p>
        </p:txBody>
      </p:sp>
      <p:sp>
        <p:nvSpPr>
          <p:cNvPr id="21" name="EDITABLE_TEXT_产创中心上会决策，划转存量服务包资费，划转存量服"/>
          <p:cNvSpPr txBox="1"/>
          <p:nvPr/>
        </p:nvSpPr>
        <p:spPr>
          <a:xfrm>
            <a:off x="6497320" y="4410126"/>
            <a:ext cx="4978399" cy="2645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产创中心上会决策，</a:t>
            </a:r>
            <a:r>
              <a:rPr sz="1200" b="1" i="0">
                <a:solidFill>
                  <a:srgbClr val="C00000"/>
                </a:solidFill>
                <a:latin typeface="Microsoft YaHei"/>
              </a:rPr>
              <a:t>划转存量服务包资费，划转存量服务包剩余合同额度</a:t>
            </a:r>
          </a:p>
        </p:txBody>
      </p:sp>
      <p:sp>
        <p:nvSpPr>
          <p:cNvPr id="22" name="EDITABLE_TEXT_预计耗时：2个月"/>
          <p:cNvSpPr txBox="1"/>
          <p:nvPr/>
        </p:nvSpPr>
        <p:spPr>
          <a:xfrm>
            <a:off x="2663825" y="5751310"/>
            <a:ext cx="1166494" cy="2486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solidFill>
                <a:latin typeface="Microsoft YaHei"/>
              </a:rPr>
              <a:t>预计耗时：2个月</a:t>
            </a:r>
          </a:p>
        </p:txBody>
      </p:sp>
      <p:sp>
        <p:nvSpPr>
          <p:cNvPr id="23" name="EDITABLE_TEXT_1、产创中心提交属地服务包规划，划转千里眼存量包"/>
          <p:cNvSpPr txBox="1"/>
          <p:nvPr/>
        </p:nvSpPr>
        <p:spPr>
          <a:xfrm>
            <a:off x="6336029" y="4756900"/>
            <a:ext cx="4375149" cy="2486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1、产创中心提交属地服务包规划，</a:t>
            </a:r>
            <a:r>
              <a:rPr sz="1105" b="1" i="0">
                <a:solidFill>
                  <a:srgbClr val="C00000"/>
                </a:solidFill>
                <a:latin typeface="Microsoft YaHei"/>
              </a:rPr>
              <a:t>划转千里眼存量包</a:t>
            </a:r>
            <a:r>
              <a:rPr sz="1105" b="0" i="0">
                <a:solidFill>
                  <a:srgbClr val="000000"/>
                </a:solidFill>
                <a:latin typeface="Microsoft YaHei"/>
              </a:rPr>
              <a:t>；视频部审核；</a:t>
            </a:r>
          </a:p>
        </p:txBody>
      </p:sp>
      <p:sp>
        <p:nvSpPr>
          <p:cNvPr id="24" name="EDITABLE_TEXT_2、产创中心上会决策划转存量服务包剩余合同额度（"/>
          <p:cNvSpPr txBox="1"/>
          <p:nvPr/>
        </p:nvSpPr>
        <p:spPr>
          <a:xfrm>
            <a:off x="6336029" y="5008360"/>
            <a:ext cx="5492749" cy="2486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2、产创中心上会决策</a:t>
            </a:r>
            <a:r>
              <a:rPr sz="1105" b="1" i="0">
                <a:solidFill>
                  <a:srgbClr val="C00000"/>
                </a:solidFill>
                <a:latin typeface="Microsoft YaHei"/>
              </a:rPr>
              <a:t>划转存量服务包剩余合同额度（相关物料同步划转至产创中心）</a:t>
            </a:r>
            <a:r>
              <a:rPr sz="1105" b="0" i="0">
                <a:solidFill>
                  <a:srgbClr val="000000"/>
                </a:solidFill>
                <a:latin typeface="Microsoft YaHei"/>
              </a:rPr>
              <a:t>；</a:t>
            </a:r>
          </a:p>
        </p:txBody>
      </p:sp>
      <p:sp>
        <p:nvSpPr>
          <p:cNvPr id="25" name="EDITABLE_TEXT_视频部列席；"/>
          <p:cNvSpPr txBox="1"/>
          <p:nvPr/>
        </p:nvSpPr>
        <p:spPr>
          <a:xfrm>
            <a:off x="6336029" y="5262907"/>
            <a:ext cx="940435" cy="2446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视频部列席；</a:t>
            </a:r>
          </a:p>
        </p:txBody>
      </p:sp>
      <p:sp>
        <p:nvSpPr>
          <p:cNvPr id="26" name="EDITABLE_TEXT_预计耗时：1个月"/>
          <p:cNvSpPr txBox="1"/>
          <p:nvPr/>
        </p:nvSpPr>
        <p:spPr>
          <a:xfrm>
            <a:off x="8468359" y="5710670"/>
            <a:ext cx="1166494" cy="2486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solidFill>
                <a:latin typeface="Microsoft YaHei"/>
              </a:rPr>
              <a:t>预计耗时：1个月</a:t>
            </a:r>
          </a:p>
        </p:txBody>
      </p:sp>
      <p:sp>
        <p:nvSpPr>
          <p:cNvPr id="27" name="EDITABLE_TEXT_产创中心可根据属地供应商的情况选择方案一或者方案"/>
          <p:cNvSpPr txBox="1"/>
          <p:nvPr/>
        </p:nvSpPr>
        <p:spPr>
          <a:xfrm>
            <a:off x="508634" y="3809810"/>
            <a:ext cx="113036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产创中心可根据属地供应商的情况选择方案一或者方案二开展存量服务包划转工作；划转后，主体责任同步划转给产创中心，视频部负管理责任</a:t>
            </a:r>
          </a:p>
        </p:txBody>
      </p:sp>
      <p:sp>
        <p:nvSpPr>
          <p:cNvPr id="28" name="EDITABLE_TEXT_因集团暂停受理IT改造需求，存量包划转初期，新订"/>
          <p:cNvSpPr txBox="1"/>
          <p:nvPr/>
        </p:nvSpPr>
        <p:spPr>
          <a:xfrm>
            <a:off x="2621914" y="6174395"/>
            <a:ext cx="708088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因集团暂停受理IT改造需求，存量包划转初期，新订单由视频部代产创中心接单，业务责任归属产创中心，视频部负管理责任</a:t>
            </a:r>
          </a:p>
        </p:txBody>
      </p:sp>
      <p:sp>
        <p:nvSpPr>
          <p:cNvPr id="29" name="EDITABLE_TEXT_视频部负责完成存量服务包在途订单的闭环并负业务责"/>
          <p:cNvSpPr txBox="1"/>
          <p:nvPr/>
        </p:nvSpPr>
        <p:spPr>
          <a:xfrm>
            <a:off x="1725929" y="6402995"/>
            <a:ext cx="8873490"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视频部负责完成存量服务包在途订单的闭环并负业务责任；在途订单：省侧前期已下单或能提供早于26年3月31日的省客合同或决策纪要，且由视频部接单的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TEXT_6"/>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6</a:t>
            </a:r>
          </a:p>
        </p:txBody>
      </p:sp>
      <p:sp>
        <p:nvSpPr>
          <p:cNvPr id="4" name="EDITABLE_TEXT_五、下一步工作"/>
          <p:cNvSpPr txBox="1"/>
          <p:nvPr/>
        </p:nvSpPr>
        <p:spPr>
          <a:xfrm>
            <a:off x="706285" y="319711"/>
            <a:ext cx="1880235" cy="3993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五、下一步工作</a:t>
            </a:r>
          </a:p>
        </p:txBody>
      </p:sp>
      <p:sp>
        <p:nvSpPr>
          <p:cNvPr id="5" name="EDITABLE_TEXT_产创中心："/>
          <p:cNvSpPr txBox="1"/>
          <p:nvPr/>
        </p:nvSpPr>
        <p:spPr>
          <a:xfrm>
            <a:off x="263525" y="892289"/>
            <a:ext cx="1244600" cy="3650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产创中心：</a:t>
            </a:r>
          </a:p>
        </p:txBody>
      </p:sp>
      <p:sp>
        <p:nvSpPr>
          <p:cNvPr id="6" name="EDITABLE_TEXT_①26年6月中旬前按需完成属地服务包需求立项，6"/>
          <p:cNvSpPr txBox="1"/>
          <p:nvPr/>
        </p:nvSpPr>
        <p:spPr>
          <a:xfrm>
            <a:off x="463550" y="1233615"/>
            <a:ext cx="569785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①26年6月中旬前</a:t>
            </a:r>
            <a:r>
              <a:rPr sz="1405" b="1" i="0">
                <a:solidFill>
                  <a:srgbClr val="C00000"/>
                </a:solidFill>
                <a:latin typeface="Microsoft YaHei"/>
              </a:rPr>
              <a:t>按需完成属地服务包需求</a:t>
            </a:r>
            <a:r>
              <a:rPr sz="1405" b="1" i="0">
                <a:solidFill>
                  <a:srgbClr val="008CFF"/>
                </a:solidFill>
                <a:latin typeface="Microsoft YaHei"/>
              </a:rPr>
              <a:t>立项，6月底前完成上会决策</a:t>
            </a:r>
          </a:p>
        </p:txBody>
      </p:sp>
      <p:sp>
        <p:nvSpPr>
          <p:cNvPr id="7" name="EDITABLE_TEXT_②更新属地合作伙伴库，招募满足条件的合作伙伴"/>
          <p:cNvSpPr txBox="1"/>
          <p:nvPr/>
        </p:nvSpPr>
        <p:spPr>
          <a:xfrm>
            <a:off x="463550" y="1553655"/>
            <a:ext cx="40138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②更新属地合作伙伴库，招募满足条件的合作伙伴</a:t>
            </a:r>
          </a:p>
        </p:txBody>
      </p:sp>
      <p:sp>
        <p:nvSpPr>
          <p:cNvPr id="8" name="EDITABLE_TEXT_③组建属地服务包团队，对于订单审核、交付管理、供"/>
          <p:cNvSpPr txBox="1"/>
          <p:nvPr/>
        </p:nvSpPr>
        <p:spPr>
          <a:xfrm>
            <a:off x="463550" y="1873695"/>
            <a:ext cx="65030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③组建属地服务包团队，对于订单审核、交付管理、供应链支付环节配置专业人员</a:t>
            </a:r>
          </a:p>
        </p:txBody>
      </p:sp>
      <p:sp>
        <p:nvSpPr>
          <p:cNvPr id="9" name="EDITABLE_TEXT_视频部："/>
          <p:cNvSpPr txBox="1"/>
          <p:nvPr/>
        </p:nvSpPr>
        <p:spPr>
          <a:xfrm>
            <a:off x="263525" y="2478519"/>
            <a:ext cx="1016000" cy="3650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视频部：</a:t>
            </a:r>
          </a:p>
        </p:txBody>
      </p:sp>
      <p:sp>
        <p:nvSpPr>
          <p:cNvPr id="10" name="EDITABLE_TEXT_①支撑产创中心属地服务包规划，做好存量服务包划转"/>
          <p:cNvSpPr txBox="1"/>
          <p:nvPr/>
        </p:nvSpPr>
        <p:spPr>
          <a:xfrm>
            <a:off x="463550" y="2819845"/>
            <a:ext cx="47250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①支撑产创中心</a:t>
            </a:r>
            <a:r>
              <a:rPr sz="1405" b="1" i="0">
                <a:solidFill>
                  <a:srgbClr val="C00000"/>
                </a:solidFill>
                <a:latin typeface="Microsoft YaHei"/>
              </a:rPr>
              <a:t>属地服务包规划，做好存量服务包划转计划</a:t>
            </a:r>
          </a:p>
        </p:txBody>
      </p:sp>
      <p:sp>
        <p:nvSpPr>
          <p:cNvPr id="11" name="EDITABLE_TEXT_②完成在途项目闭环"/>
          <p:cNvSpPr txBox="1"/>
          <p:nvPr/>
        </p:nvSpPr>
        <p:spPr>
          <a:xfrm>
            <a:off x="463550" y="3139885"/>
            <a:ext cx="1702435"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②完成在途项目闭环</a:t>
            </a:r>
          </a:p>
        </p:txBody>
      </p:sp>
      <p:sp>
        <p:nvSpPr>
          <p:cNvPr id="12" name="EDITABLE_TEXT_③支撑产创中心相关业支系统账号配置，按需推动业支"/>
          <p:cNvSpPr txBox="1"/>
          <p:nvPr/>
        </p:nvSpPr>
        <p:spPr>
          <a:xfrm>
            <a:off x="463550" y="3459925"/>
            <a:ext cx="50806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③支撑产创中心相关业支系统账号配置，按需推动业支系统改造</a:t>
            </a:r>
          </a:p>
        </p:txBody>
      </p:sp>
      <p:sp>
        <p:nvSpPr>
          <p:cNvPr id="13" name="EDITABLE_TEXT_市场运营部："/>
          <p:cNvSpPr txBox="1"/>
          <p:nvPr/>
        </p:nvSpPr>
        <p:spPr>
          <a:xfrm>
            <a:off x="264159" y="4178414"/>
            <a:ext cx="1473200" cy="3650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市场运营部：</a:t>
            </a:r>
          </a:p>
        </p:txBody>
      </p:sp>
      <p:sp>
        <p:nvSpPr>
          <p:cNvPr id="14" name="EDITABLE_TEXT_①负责服务包规划整体规则"/>
          <p:cNvSpPr txBox="1"/>
          <p:nvPr/>
        </p:nvSpPr>
        <p:spPr>
          <a:xfrm>
            <a:off x="464184" y="4519740"/>
            <a:ext cx="2235835"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①负责服务包规划整体规则</a:t>
            </a:r>
          </a:p>
        </p:txBody>
      </p:sp>
      <p:sp>
        <p:nvSpPr>
          <p:cNvPr id="15" name="EDITABLE_TEXT_②支撑内部合同划转和物料划转（负责沟通数智化部）"/>
          <p:cNvSpPr txBox="1"/>
          <p:nvPr/>
        </p:nvSpPr>
        <p:spPr>
          <a:xfrm>
            <a:off x="464184" y="4839780"/>
            <a:ext cx="43694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②支撑内部合同划转和物料划转（负责沟通数智化部）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SHAPE"/>
          <p:cNvSpPr/>
          <p:nvPr/>
        </p:nvSpPr>
        <p:spPr>
          <a:xfrm>
            <a:off x="1833372" y="1127760"/>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ITABLE_SHAPE"/>
          <p:cNvSpPr/>
          <p:nvPr/>
        </p:nvSpPr>
        <p:spPr>
          <a:xfrm>
            <a:off x="2084832" y="17510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DITABLE_SHAPE"/>
          <p:cNvSpPr/>
          <p:nvPr/>
        </p:nvSpPr>
        <p:spPr>
          <a:xfrm>
            <a:off x="2084832" y="2351532"/>
            <a:ext cx="1531620"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DITABLE_SHAPE"/>
          <p:cNvSpPr/>
          <p:nvPr/>
        </p:nvSpPr>
        <p:spPr>
          <a:xfrm>
            <a:off x="2086355" y="2951988"/>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DITABLE_SHAPE"/>
          <p:cNvSpPr/>
          <p:nvPr/>
        </p:nvSpPr>
        <p:spPr>
          <a:xfrm>
            <a:off x="2086355" y="3552444"/>
            <a:ext cx="1530096"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ABLE_SHAPE"/>
          <p:cNvSpPr/>
          <p:nvPr/>
        </p:nvSpPr>
        <p:spPr>
          <a:xfrm>
            <a:off x="2084832" y="41513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ABLE_SHAPE"/>
          <p:cNvSpPr/>
          <p:nvPr/>
        </p:nvSpPr>
        <p:spPr>
          <a:xfrm>
            <a:off x="2084832" y="4751832"/>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ABLE_SHAPE"/>
          <p:cNvSpPr/>
          <p:nvPr/>
        </p:nvSpPr>
        <p:spPr>
          <a:xfrm>
            <a:off x="1406652" y="5376671"/>
            <a:ext cx="12649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ABLE_SHAPE"/>
          <p:cNvSpPr/>
          <p:nvPr/>
        </p:nvSpPr>
        <p:spPr>
          <a:xfrm>
            <a:off x="3044951" y="5829300"/>
            <a:ext cx="12649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ABLE_SHAPE"/>
          <p:cNvSpPr/>
          <p:nvPr/>
        </p:nvSpPr>
        <p:spPr>
          <a:xfrm>
            <a:off x="1406652" y="6435852"/>
            <a:ext cx="2962656"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ABLE_SHAPE"/>
          <p:cNvSpPr/>
          <p:nvPr/>
        </p:nvSpPr>
        <p:spPr>
          <a:xfrm>
            <a:off x="7866888" y="1127760"/>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ABLE_SHAPE"/>
          <p:cNvSpPr/>
          <p:nvPr/>
        </p:nvSpPr>
        <p:spPr>
          <a:xfrm>
            <a:off x="8098535" y="1770888"/>
            <a:ext cx="1674876"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ABLE_SHAPE"/>
          <p:cNvSpPr/>
          <p:nvPr/>
        </p:nvSpPr>
        <p:spPr>
          <a:xfrm>
            <a:off x="8098535" y="2371344"/>
            <a:ext cx="167487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ABLE_SHAPE"/>
          <p:cNvSpPr/>
          <p:nvPr/>
        </p:nvSpPr>
        <p:spPr>
          <a:xfrm>
            <a:off x="8100059" y="2971800"/>
            <a:ext cx="167487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ABLE_SHAPE"/>
          <p:cNvSpPr/>
          <p:nvPr/>
        </p:nvSpPr>
        <p:spPr>
          <a:xfrm>
            <a:off x="8100059" y="3570732"/>
            <a:ext cx="1673352"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ABLE_SHAPE"/>
          <p:cNvSpPr/>
          <p:nvPr/>
        </p:nvSpPr>
        <p:spPr>
          <a:xfrm>
            <a:off x="8098535" y="4171188"/>
            <a:ext cx="1674876"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ABLE_SHAPE"/>
          <p:cNvSpPr/>
          <p:nvPr/>
        </p:nvSpPr>
        <p:spPr>
          <a:xfrm>
            <a:off x="8100059" y="4771644"/>
            <a:ext cx="1673352"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ABLE_SHAPE"/>
          <p:cNvSpPr/>
          <p:nvPr/>
        </p:nvSpPr>
        <p:spPr>
          <a:xfrm>
            <a:off x="8098535" y="5376671"/>
            <a:ext cx="1674876"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ABLE_TEXT_7"/>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7</a:t>
            </a:r>
          </a:p>
        </p:txBody>
      </p:sp>
      <p:sp>
        <p:nvSpPr>
          <p:cNvPr id="22" name="EDITABLE_TEXT_服务包上架流程"/>
          <p:cNvSpPr txBox="1"/>
          <p:nvPr/>
        </p:nvSpPr>
        <p:spPr>
          <a:xfrm>
            <a:off x="2207895" y="1159955"/>
            <a:ext cx="13468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服务包上架流程</a:t>
            </a:r>
          </a:p>
        </p:txBody>
      </p:sp>
      <p:sp>
        <p:nvSpPr>
          <p:cNvPr id="23" name="EDITABLE_TEXT_设计服务包"/>
          <p:cNvSpPr txBox="1"/>
          <p:nvPr/>
        </p:nvSpPr>
        <p:spPr>
          <a:xfrm>
            <a:off x="2532379" y="1812185"/>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设计服务包</a:t>
            </a:r>
          </a:p>
        </p:txBody>
      </p:sp>
      <p:sp>
        <p:nvSpPr>
          <p:cNvPr id="24" name="EDITABLE_TEXT_市场部等职能部门审核"/>
          <p:cNvSpPr txBox="1"/>
          <p:nvPr/>
        </p:nvSpPr>
        <p:spPr>
          <a:xfrm>
            <a:off x="2214879" y="2336848"/>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市场部等职能部门审核</a:t>
            </a:r>
          </a:p>
        </p:txBody>
      </p:sp>
      <p:sp>
        <p:nvSpPr>
          <p:cNvPr id="25" name="EDITABLE_TEXT_服务包规划"/>
          <p:cNvSpPr txBox="1"/>
          <p:nvPr/>
        </p:nvSpPr>
        <p:spPr>
          <a:xfrm>
            <a:off x="2532379" y="2489248"/>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服务包规划</a:t>
            </a:r>
          </a:p>
        </p:txBody>
      </p:sp>
      <p:sp>
        <p:nvSpPr>
          <p:cNvPr id="26" name="EDITABLE_TEXT_公司领导决策会"/>
          <p:cNvSpPr txBox="1"/>
          <p:nvPr/>
        </p:nvSpPr>
        <p:spPr>
          <a:xfrm>
            <a:off x="2407285" y="3012488"/>
            <a:ext cx="989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公司领导决策会</a:t>
            </a:r>
          </a:p>
        </p:txBody>
      </p:sp>
      <p:sp>
        <p:nvSpPr>
          <p:cNvPr id="27" name="EDITABLE_TEXT_甄选合作伙伴"/>
          <p:cNvSpPr txBox="1"/>
          <p:nvPr/>
        </p:nvSpPr>
        <p:spPr>
          <a:xfrm>
            <a:off x="2470150" y="3612563"/>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甄选合作伙伴</a:t>
            </a:r>
          </a:p>
        </p:txBody>
      </p:sp>
      <p:sp>
        <p:nvSpPr>
          <p:cNvPr id="28" name="EDITABLE_TEXT_上架需求及甄选结果报"/>
          <p:cNvSpPr txBox="1"/>
          <p:nvPr/>
        </p:nvSpPr>
        <p:spPr>
          <a:xfrm>
            <a:off x="2214879" y="4137073"/>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上架需求及甄选结果报</a:t>
            </a:r>
          </a:p>
        </p:txBody>
      </p:sp>
      <p:sp>
        <p:nvSpPr>
          <p:cNvPr id="29" name="EDITABLE_TEXT_集团政企审核"/>
          <p:cNvSpPr txBox="1"/>
          <p:nvPr/>
        </p:nvSpPr>
        <p:spPr>
          <a:xfrm>
            <a:off x="2468879" y="4289473"/>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集团政企审核</a:t>
            </a:r>
          </a:p>
        </p:txBody>
      </p:sp>
      <p:sp>
        <p:nvSpPr>
          <p:cNvPr id="30" name="EDITABLE_TEXT_甄选结果及政企意见"/>
          <p:cNvSpPr txBox="1"/>
          <p:nvPr/>
        </p:nvSpPr>
        <p:spPr>
          <a:xfrm>
            <a:off x="2279014" y="4737148"/>
            <a:ext cx="1243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甄选结果及政企意见</a:t>
            </a:r>
          </a:p>
        </p:txBody>
      </p:sp>
      <p:sp>
        <p:nvSpPr>
          <p:cNvPr id="31" name="EDITABLE_TEXT_报公司领导决策"/>
          <p:cNvSpPr txBox="1"/>
          <p:nvPr/>
        </p:nvSpPr>
        <p:spPr>
          <a:xfrm>
            <a:off x="2406014" y="4889548"/>
            <a:ext cx="989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报公司领导决策</a:t>
            </a:r>
          </a:p>
        </p:txBody>
      </p:sp>
      <p:sp>
        <p:nvSpPr>
          <p:cNvPr id="32" name="EDITABLE_TEXT_签署结算合同"/>
          <p:cNvSpPr txBox="1"/>
          <p:nvPr/>
        </p:nvSpPr>
        <p:spPr>
          <a:xfrm>
            <a:off x="1657350" y="5438035"/>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签署结算合同</a:t>
            </a:r>
          </a:p>
        </p:txBody>
      </p:sp>
      <p:sp>
        <p:nvSpPr>
          <p:cNvPr id="33" name="EDITABLE_TEXT_业支改造，服务包"/>
          <p:cNvSpPr txBox="1"/>
          <p:nvPr/>
        </p:nvSpPr>
        <p:spPr>
          <a:xfrm>
            <a:off x="3168650" y="5814590"/>
            <a:ext cx="1116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业支改造，服务包</a:t>
            </a:r>
          </a:p>
        </p:txBody>
      </p:sp>
      <p:sp>
        <p:nvSpPr>
          <p:cNvPr id="34" name="EDITABLE_TEXT_资费上架"/>
          <p:cNvSpPr txBox="1"/>
          <p:nvPr/>
        </p:nvSpPr>
        <p:spPr>
          <a:xfrm>
            <a:off x="3422650" y="5966990"/>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资费上架</a:t>
            </a:r>
          </a:p>
        </p:txBody>
      </p:sp>
      <p:sp>
        <p:nvSpPr>
          <p:cNvPr id="35" name="EDITABLE_TEXT_服务包具备销售条件"/>
          <p:cNvSpPr txBox="1"/>
          <p:nvPr/>
        </p:nvSpPr>
        <p:spPr>
          <a:xfrm>
            <a:off x="2315845" y="6495945"/>
            <a:ext cx="1243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服务包具备销售条件</a:t>
            </a:r>
          </a:p>
        </p:txBody>
      </p:sp>
      <p:sp>
        <p:nvSpPr>
          <p:cNvPr id="36" name="EDITABLE_TEXT_附件：千里眼服务包业务责任对照表"/>
          <p:cNvSpPr txBox="1"/>
          <p:nvPr/>
        </p:nvSpPr>
        <p:spPr>
          <a:xfrm>
            <a:off x="706285" y="319723"/>
            <a:ext cx="4166234" cy="3993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37" name="EDITABLE_TEXT_视频部负责"/>
          <p:cNvSpPr txBox="1"/>
          <p:nvPr/>
        </p:nvSpPr>
        <p:spPr>
          <a:xfrm>
            <a:off x="480059" y="1846475"/>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38" name="EDITABLE_TEXT_产创中心负责，"/>
          <p:cNvSpPr txBox="1"/>
          <p:nvPr/>
        </p:nvSpPr>
        <p:spPr>
          <a:xfrm>
            <a:off x="4547870" y="1719870"/>
            <a:ext cx="989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39" name="EDITABLE_TEXT_视频部支撑"/>
          <p:cNvSpPr txBox="1"/>
          <p:nvPr/>
        </p:nvSpPr>
        <p:spPr>
          <a:xfrm>
            <a:off x="4674870" y="1872270"/>
            <a:ext cx="735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视频部支撑</a:t>
            </a:r>
          </a:p>
        </p:txBody>
      </p:sp>
      <p:sp>
        <p:nvSpPr>
          <p:cNvPr id="40" name="EDITABLE_TEXT_产创中心负责，"/>
          <p:cNvSpPr txBox="1"/>
          <p:nvPr/>
        </p:nvSpPr>
        <p:spPr>
          <a:xfrm>
            <a:off x="4547870" y="2975265"/>
            <a:ext cx="989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41" name="EDITABLE_TEXT_视频部列席"/>
          <p:cNvSpPr txBox="1"/>
          <p:nvPr/>
        </p:nvSpPr>
        <p:spPr>
          <a:xfrm>
            <a:off x="4674870" y="3127665"/>
            <a:ext cx="735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视频部列席</a:t>
            </a:r>
          </a:p>
        </p:txBody>
      </p:sp>
      <p:sp>
        <p:nvSpPr>
          <p:cNvPr id="42" name="EDITABLE_TEXT_视频部负责"/>
          <p:cNvSpPr txBox="1"/>
          <p:nvPr/>
        </p:nvSpPr>
        <p:spPr>
          <a:xfrm>
            <a:off x="480059" y="3017415"/>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43" name="EDITABLE_TEXT_视频部负责"/>
          <p:cNvSpPr txBox="1"/>
          <p:nvPr/>
        </p:nvSpPr>
        <p:spPr>
          <a:xfrm>
            <a:off x="480059" y="4188355"/>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44" name="EDITABLE_TEXT_视频部负责"/>
          <p:cNvSpPr txBox="1"/>
          <p:nvPr/>
        </p:nvSpPr>
        <p:spPr>
          <a:xfrm>
            <a:off x="480059" y="4830340"/>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45" name="EDITABLE_TEXT_视频部负责"/>
          <p:cNvSpPr txBox="1"/>
          <p:nvPr/>
        </p:nvSpPr>
        <p:spPr>
          <a:xfrm>
            <a:off x="4623434" y="4188355"/>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46" name="EDITABLE_TEXT_产创中心负责，"/>
          <p:cNvSpPr txBox="1"/>
          <p:nvPr/>
        </p:nvSpPr>
        <p:spPr>
          <a:xfrm>
            <a:off x="4547870" y="4750725"/>
            <a:ext cx="989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47" name="EDITABLE_TEXT_视频部列席"/>
          <p:cNvSpPr txBox="1"/>
          <p:nvPr/>
        </p:nvSpPr>
        <p:spPr>
          <a:xfrm>
            <a:off x="4674870" y="4903125"/>
            <a:ext cx="735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视频部列席</a:t>
            </a:r>
          </a:p>
        </p:txBody>
      </p:sp>
      <p:sp>
        <p:nvSpPr>
          <p:cNvPr id="48" name="EDITABLE_TEXT_视频部负责"/>
          <p:cNvSpPr txBox="1"/>
          <p:nvPr/>
        </p:nvSpPr>
        <p:spPr>
          <a:xfrm>
            <a:off x="480059" y="5415810"/>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49" name="EDITABLE_TEXT_视频部负责"/>
          <p:cNvSpPr txBox="1"/>
          <p:nvPr/>
        </p:nvSpPr>
        <p:spPr>
          <a:xfrm>
            <a:off x="480059" y="5870470"/>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50" name="EDITABLE_TEXT_视频部服务包"/>
          <p:cNvSpPr txBox="1"/>
          <p:nvPr/>
        </p:nvSpPr>
        <p:spPr>
          <a:xfrm>
            <a:off x="437515" y="1211173"/>
            <a:ext cx="1015999"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51" name="EDITABLE_TEXT_属地服务包"/>
          <p:cNvSpPr txBox="1"/>
          <p:nvPr/>
        </p:nvSpPr>
        <p:spPr>
          <a:xfrm>
            <a:off x="4592320" y="1211173"/>
            <a:ext cx="863600"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52" name="EDITABLE_TEXT_集客大厅订单受理流程"/>
          <p:cNvSpPr txBox="1"/>
          <p:nvPr/>
        </p:nvSpPr>
        <p:spPr>
          <a:xfrm>
            <a:off x="7975599" y="1159955"/>
            <a:ext cx="18802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集客大厅订单受理流程</a:t>
            </a:r>
          </a:p>
        </p:txBody>
      </p:sp>
      <p:sp>
        <p:nvSpPr>
          <p:cNvPr id="53" name="EDITABLE_TEXT_视频部服务包"/>
          <p:cNvSpPr txBox="1"/>
          <p:nvPr/>
        </p:nvSpPr>
        <p:spPr>
          <a:xfrm>
            <a:off x="6471920" y="1211173"/>
            <a:ext cx="1015999"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54" name="EDITABLE_TEXT_属地服务包"/>
          <p:cNvSpPr txBox="1"/>
          <p:nvPr/>
        </p:nvSpPr>
        <p:spPr>
          <a:xfrm>
            <a:off x="10626725" y="1211173"/>
            <a:ext cx="863600"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55" name="EDITABLE_TEXT_网格售前：客户商机获"/>
          <p:cNvSpPr txBox="1"/>
          <p:nvPr/>
        </p:nvSpPr>
        <p:spPr>
          <a:xfrm>
            <a:off x="8300719" y="1756305"/>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网格售前：客户商机获</a:t>
            </a:r>
          </a:p>
        </p:txBody>
      </p:sp>
      <p:sp>
        <p:nvSpPr>
          <p:cNvPr id="56" name="EDITABLE_TEXT_取"/>
          <p:cNvSpPr txBox="1"/>
          <p:nvPr/>
        </p:nvSpPr>
        <p:spPr>
          <a:xfrm>
            <a:off x="8872219" y="1908705"/>
            <a:ext cx="227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取</a:t>
            </a:r>
          </a:p>
        </p:txBody>
      </p:sp>
      <p:sp>
        <p:nvSpPr>
          <p:cNvPr id="57" name="EDITABLE_TEXT_网格销售经理和产品售前"/>
          <p:cNvSpPr txBox="1"/>
          <p:nvPr/>
        </p:nvSpPr>
        <p:spPr>
          <a:xfrm>
            <a:off x="8237219" y="2356380"/>
            <a:ext cx="1497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网格销售经理和产品售前</a:t>
            </a:r>
          </a:p>
        </p:txBody>
      </p:sp>
      <p:sp>
        <p:nvSpPr>
          <p:cNvPr id="58" name="EDITABLE_TEXT_经理进行售前支撑"/>
          <p:cNvSpPr txBox="1"/>
          <p:nvPr/>
        </p:nvSpPr>
        <p:spPr>
          <a:xfrm>
            <a:off x="8427719" y="2508780"/>
            <a:ext cx="1116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经理进行售前支撑</a:t>
            </a:r>
          </a:p>
        </p:txBody>
      </p:sp>
      <p:sp>
        <p:nvSpPr>
          <p:cNvPr id="59" name="EDITABLE_TEXT_签署售前沟通确认书"/>
          <p:cNvSpPr txBox="1"/>
          <p:nvPr/>
        </p:nvSpPr>
        <p:spPr>
          <a:xfrm>
            <a:off x="8366125" y="3032020"/>
            <a:ext cx="1243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签署售前沟通确认书</a:t>
            </a:r>
          </a:p>
        </p:txBody>
      </p:sp>
      <p:sp>
        <p:nvSpPr>
          <p:cNvPr id="60" name="EDITABLE_TEXT_  客户经理订购标品资费和"/>
          <p:cNvSpPr txBox="1"/>
          <p:nvPr/>
        </p:nvSpPr>
        <p:spPr>
          <a:xfrm>
            <a:off x="8201025" y="3556530"/>
            <a:ext cx="157289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  客户经理订购标品资费和</a:t>
            </a:r>
          </a:p>
        </p:txBody>
      </p:sp>
      <p:sp>
        <p:nvSpPr>
          <p:cNvPr id="61" name="EDITABLE_TEXT_服务包资费（集客大厅）"/>
          <p:cNvSpPr txBox="1"/>
          <p:nvPr/>
        </p:nvSpPr>
        <p:spPr>
          <a:xfrm>
            <a:off x="8238490" y="3708930"/>
            <a:ext cx="1497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服务包资费（集客大厅）</a:t>
            </a:r>
          </a:p>
        </p:txBody>
      </p:sp>
      <p:sp>
        <p:nvSpPr>
          <p:cNvPr id="62" name="EDITABLE_TEXT_合作伙伴、地市业管、省"/>
          <p:cNvSpPr txBox="1"/>
          <p:nvPr/>
        </p:nvSpPr>
        <p:spPr>
          <a:xfrm>
            <a:off x="8237219" y="4156605"/>
            <a:ext cx="1497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合作伙伴、地市业管、省</a:t>
            </a:r>
          </a:p>
        </p:txBody>
      </p:sp>
      <p:sp>
        <p:nvSpPr>
          <p:cNvPr id="63" name="EDITABLE_TEXT_侧业管审批"/>
          <p:cNvSpPr txBox="1"/>
          <p:nvPr/>
        </p:nvSpPr>
        <p:spPr>
          <a:xfrm>
            <a:off x="8618219" y="4309005"/>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侧业管审批</a:t>
            </a:r>
          </a:p>
        </p:txBody>
      </p:sp>
      <p:sp>
        <p:nvSpPr>
          <p:cNvPr id="64" name="EDITABLE_TEXT_物联网公司审批"/>
          <p:cNvSpPr txBox="1"/>
          <p:nvPr/>
        </p:nvSpPr>
        <p:spPr>
          <a:xfrm>
            <a:off x="8491855" y="4832245"/>
            <a:ext cx="989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物联网公司审批</a:t>
            </a:r>
          </a:p>
        </p:txBody>
      </p:sp>
      <p:sp>
        <p:nvSpPr>
          <p:cNvPr id="65" name="EDITABLE_TEXT_订单生效"/>
          <p:cNvSpPr txBox="1"/>
          <p:nvPr/>
        </p:nvSpPr>
        <p:spPr>
          <a:xfrm>
            <a:off x="8681719" y="5438035"/>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订单生效</a:t>
            </a:r>
          </a:p>
        </p:txBody>
      </p:sp>
      <p:sp>
        <p:nvSpPr>
          <p:cNvPr id="66" name="EDITABLE_TEXT_视频部负责"/>
          <p:cNvSpPr txBox="1"/>
          <p:nvPr/>
        </p:nvSpPr>
        <p:spPr>
          <a:xfrm>
            <a:off x="6611619" y="4830340"/>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67" name="EDITABLE_TEXT_产创中心负责"/>
          <p:cNvSpPr txBox="1"/>
          <p:nvPr/>
        </p:nvSpPr>
        <p:spPr>
          <a:xfrm>
            <a:off x="6548119" y="184647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68" name="EDITABLE_TEXT_产创中心负责、"/>
          <p:cNvSpPr txBox="1"/>
          <p:nvPr/>
        </p:nvSpPr>
        <p:spPr>
          <a:xfrm>
            <a:off x="6484620" y="2397655"/>
            <a:ext cx="989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69" name="EDITABLE_TEXT_视频部支撑"/>
          <p:cNvSpPr txBox="1"/>
          <p:nvPr/>
        </p:nvSpPr>
        <p:spPr>
          <a:xfrm>
            <a:off x="6611619" y="2550055"/>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视频部支撑</a:t>
            </a:r>
          </a:p>
        </p:txBody>
      </p:sp>
      <p:sp>
        <p:nvSpPr>
          <p:cNvPr id="70" name="EDITABLE_TEXT_产创中心负责"/>
          <p:cNvSpPr txBox="1"/>
          <p:nvPr/>
        </p:nvSpPr>
        <p:spPr>
          <a:xfrm>
            <a:off x="6548119" y="2997730"/>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71" name="EDITABLE_TEXT_产创中心负责"/>
          <p:cNvSpPr txBox="1"/>
          <p:nvPr/>
        </p:nvSpPr>
        <p:spPr>
          <a:xfrm>
            <a:off x="10626725" y="184647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72" name="EDITABLE_TEXT_产创中心负责"/>
          <p:cNvSpPr txBox="1"/>
          <p:nvPr/>
        </p:nvSpPr>
        <p:spPr>
          <a:xfrm>
            <a:off x="10626725" y="2453930"/>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73" name="EDITABLE_TEXT_产创中心负责"/>
          <p:cNvSpPr txBox="1"/>
          <p:nvPr/>
        </p:nvSpPr>
        <p:spPr>
          <a:xfrm>
            <a:off x="10626725" y="2997730"/>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74" name="EDITABLE_TEXT_产创中心负责"/>
          <p:cNvSpPr txBox="1"/>
          <p:nvPr/>
        </p:nvSpPr>
        <p:spPr>
          <a:xfrm>
            <a:off x="10664825" y="4750725"/>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75" name="EDITABLE_TEXT_（由于业支系统改造流程停"/>
          <p:cNvSpPr txBox="1"/>
          <p:nvPr/>
        </p:nvSpPr>
        <p:spPr>
          <a:xfrm>
            <a:off x="10283825" y="4903125"/>
            <a:ext cx="1624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（由于业支系统改造流程停</a:t>
            </a:r>
          </a:p>
        </p:txBody>
      </p:sp>
      <p:sp>
        <p:nvSpPr>
          <p:cNvPr id="76" name="EDITABLE_TEXT_滞，存量包划转初期，新订"/>
          <p:cNvSpPr txBox="1"/>
          <p:nvPr/>
        </p:nvSpPr>
        <p:spPr>
          <a:xfrm>
            <a:off x="10283825" y="5055525"/>
            <a:ext cx="1624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滞，存量包划转初期，新订</a:t>
            </a:r>
          </a:p>
        </p:txBody>
      </p:sp>
      <p:sp>
        <p:nvSpPr>
          <p:cNvPr id="77" name="EDITABLE_TEXT_单由视频部代产创中心接单）"/>
          <p:cNvSpPr txBox="1"/>
          <p:nvPr/>
        </p:nvSpPr>
        <p:spPr>
          <a:xfrm>
            <a:off x="10220325" y="5207925"/>
            <a:ext cx="1751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单由视频部代产创中心接单）</a:t>
            </a:r>
          </a:p>
        </p:txBody>
      </p:sp>
      <p:sp>
        <p:nvSpPr>
          <p:cNvPr id="78" name="EDITABLE_TEXT_视频部负责"/>
          <p:cNvSpPr txBox="1"/>
          <p:nvPr/>
        </p:nvSpPr>
        <p:spPr>
          <a:xfrm>
            <a:off x="4623434" y="5870470"/>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79" name="EDITABLE_TEXT_产创中心负责"/>
          <p:cNvSpPr txBox="1"/>
          <p:nvPr/>
        </p:nvSpPr>
        <p:spPr>
          <a:xfrm>
            <a:off x="4559934" y="5413030"/>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SHAPE"/>
          <p:cNvSpPr/>
          <p:nvPr/>
        </p:nvSpPr>
        <p:spPr>
          <a:xfrm>
            <a:off x="1833372" y="995172"/>
            <a:ext cx="1994916" cy="34594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ITABLE_SHAPE"/>
          <p:cNvSpPr/>
          <p:nvPr/>
        </p:nvSpPr>
        <p:spPr>
          <a:xfrm>
            <a:off x="2084832" y="1618488"/>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DITABLE_SHAPE"/>
          <p:cNvSpPr/>
          <p:nvPr/>
        </p:nvSpPr>
        <p:spPr>
          <a:xfrm>
            <a:off x="2084832" y="2218944"/>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DITABLE_SHAPE"/>
          <p:cNvSpPr/>
          <p:nvPr/>
        </p:nvSpPr>
        <p:spPr>
          <a:xfrm>
            <a:off x="2086355" y="28178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DITABLE_SHAPE"/>
          <p:cNvSpPr/>
          <p:nvPr/>
        </p:nvSpPr>
        <p:spPr>
          <a:xfrm>
            <a:off x="2086355" y="3418332"/>
            <a:ext cx="1530096"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ABLE_SHAPE"/>
          <p:cNvSpPr/>
          <p:nvPr/>
        </p:nvSpPr>
        <p:spPr>
          <a:xfrm>
            <a:off x="2084832" y="4619244"/>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ABLE_SHAPE"/>
          <p:cNvSpPr/>
          <p:nvPr/>
        </p:nvSpPr>
        <p:spPr>
          <a:xfrm>
            <a:off x="7866888" y="995172"/>
            <a:ext cx="1994916" cy="34594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ABLE_SHAPE"/>
          <p:cNvSpPr/>
          <p:nvPr/>
        </p:nvSpPr>
        <p:spPr>
          <a:xfrm>
            <a:off x="8098535" y="1905000"/>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ABLE_SHAPE"/>
          <p:cNvSpPr/>
          <p:nvPr/>
        </p:nvSpPr>
        <p:spPr>
          <a:xfrm>
            <a:off x="8100059" y="3704844"/>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ABLE_SHAPE"/>
          <p:cNvSpPr/>
          <p:nvPr/>
        </p:nvSpPr>
        <p:spPr>
          <a:xfrm>
            <a:off x="8098535" y="4305300"/>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ABLE_SHAPE"/>
          <p:cNvSpPr/>
          <p:nvPr/>
        </p:nvSpPr>
        <p:spPr>
          <a:xfrm>
            <a:off x="2084832" y="5234940"/>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ABLE_SHAPE"/>
          <p:cNvSpPr/>
          <p:nvPr/>
        </p:nvSpPr>
        <p:spPr>
          <a:xfrm>
            <a:off x="2084832" y="5856732"/>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ABLE_TEXT_8"/>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8</a:t>
            </a:r>
          </a:p>
        </p:txBody>
      </p:sp>
      <p:sp>
        <p:nvSpPr>
          <p:cNvPr id="16" name="EDITABLE_TEXT_订单及交付流程"/>
          <p:cNvSpPr txBox="1"/>
          <p:nvPr/>
        </p:nvSpPr>
        <p:spPr>
          <a:xfrm>
            <a:off x="2207895" y="1026605"/>
            <a:ext cx="13468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订单及交付流程</a:t>
            </a:r>
          </a:p>
        </p:txBody>
      </p:sp>
      <p:sp>
        <p:nvSpPr>
          <p:cNvPr id="17" name="EDITABLE_TEXT_下销售订单（市场销售"/>
          <p:cNvSpPr txBox="1"/>
          <p:nvPr/>
        </p:nvSpPr>
        <p:spPr>
          <a:xfrm>
            <a:off x="2214879" y="1603270"/>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下销售订单（市场销售</a:t>
            </a:r>
          </a:p>
        </p:txBody>
      </p:sp>
      <p:sp>
        <p:nvSpPr>
          <p:cNvPr id="18" name="EDITABLE_TEXT_支撑系统）"/>
          <p:cNvSpPr txBox="1"/>
          <p:nvPr/>
        </p:nvSpPr>
        <p:spPr>
          <a:xfrm>
            <a:off x="2532379" y="1755670"/>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支撑系统）</a:t>
            </a:r>
          </a:p>
        </p:txBody>
      </p:sp>
      <p:sp>
        <p:nvSpPr>
          <p:cNvPr id="19" name="EDITABLE_TEXT_订单报价封装"/>
          <p:cNvSpPr txBox="1"/>
          <p:nvPr/>
        </p:nvSpPr>
        <p:spPr>
          <a:xfrm>
            <a:off x="2468879" y="2279063"/>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订单报价封装</a:t>
            </a:r>
          </a:p>
        </p:txBody>
      </p:sp>
      <p:sp>
        <p:nvSpPr>
          <p:cNvPr id="20" name="EDITABLE_TEXT_发起甄选委托单"/>
          <p:cNvSpPr txBox="1"/>
          <p:nvPr/>
        </p:nvSpPr>
        <p:spPr>
          <a:xfrm>
            <a:off x="2407285" y="2879138"/>
            <a:ext cx="989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发起甄选委托单</a:t>
            </a:r>
          </a:p>
        </p:txBody>
      </p:sp>
      <p:sp>
        <p:nvSpPr>
          <p:cNvPr id="21" name="EDITABLE_TEXT_甄选委托单审批"/>
          <p:cNvSpPr txBox="1"/>
          <p:nvPr/>
        </p:nvSpPr>
        <p:spPr>
          <a:xfrm>
            <a:off x="2406650" y="3479213"/>
            <a:ext cx="989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甄选委托单审批</a:t>
            </a:r>
          </a:p>
        </p:txBody>
      </p:sp>
      <p:sp>
        <p:nvSpPr>
          <p:cNvPr id="22" name="EDITABLE_TEXT_交付支撑部、采购部审"/>
          <p:cNvSpPr txBox="1"/>
          <p:nvPr/>
        </p:nvSpPr>
        <p:spPr>
          <a:xfrm>
            <a:off x="2214879" y="4003723"/>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交付支撑部、采购部审</a:t>
            </a:r>
          </a:p>
        </p:txBody>
      </p:sp>
      <p:sp>
        <p:nvSpPr>
          <p:cNvPr id="23" name="EDITABLE_TEXT_批"/>
          <p:cNvSpPr txBox="1"/>
          <p:nvPr/>
        </p:nvSpPr>
        <p:spPr>
          <a:xfrm>
            <a:off x="2786379" y="4156123"/>
            <a:ext cx="227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批</a:t>
            </a:r>
          </a:p>
        </p:txBody>
      </p:sp>
      <p:sp>
        <p:nvSpPr>
          <p:cNvPr id="24" name="EDITABLE_TEXT_订单审批完成，下发合"/>
          <p:cNvSpPr txBox="1"/>
          <p:nvPr/>
        </p:nvSpPr>
        <p:spPr>
          <a:xfrm>
            <a:off x="2215514" y="4603798"/>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订单审批完成，下发合</a:t>
            </a:r>
          </a:p>
        </p:txBody>
      </p:sp>
      <p:sp>
        <p:nvSpPr>
          <p:cNvPr id="25" name="EDITABLE_TEXT_作伙伴"/>
          <p:cNvSpPr txBox="1"/>
          <p:nvPr/>
        </p:nvSpPr>
        <p:spPr>
          <a:xfrm>
            <a:off x="2660014" y="4756198"/>
            <a:ext cx="481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作伙伴</a:t>
            </a:r>
          </a:p>
        </p:txBody>
      </p:sp>
      <p:sp>
        <p:nvSpPr>
          <p:cNvPr id="26" name="EDITABLE_TEXT_视频部负责"/>
          <p:cNvSpPr txBox="1"/>
          <p:nvPr/>
        </p:nvSpPr>
        <p:spPr>
          <a:xfrm>
            <a:off x="577215" y="2884065"/>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27" name="EDITABLE_TEXT_视频部负责"/>
          <p:cNvSpPr txBox="1"/>
          <p:nvPr/>
        </p:nvSpPr>
        <p:spPr>
          <a:xfrm>
            <a:off x="577215" y="4696990"/>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28" name="EDITABLE_TEXT_视频部服务包"/>
          <p:cNvSpPr txBox="1"/>
          <p:nvPr/>
        </p:nvSpPr>
        <p:spPr>
          <a:xfrm>
            <a:off x="437515" y="1077823"/>
            <a:ext cx="1015999"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29" name="EDITABLE_TEXT_属地服务包"/>
          <p:cNvSpPr txBox="1"/>
          <p:nvPr/>
        </p:nvSpPr>
        <p:spPr>
          <a:xfrm>
            <a:off x="4592320" y="1077823"/>
            <a:ext cx="863600"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30" name="EDITABLE_TEXT_订单及交付流程"/>
          <p:cNvSpPr txBox="1"/>
          <p:nvPr/>
        </p:nvSpPr>
        <p:spPr>
          <a:xfrm>
            <a:off x="8242300" y="1026605"/>
            <a:ext cx="13468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订单及交付流程</a:t>
            </a:r>
          </a:p>
        </p:txBody>
      </p:sp>
      <p:sp>
        <p:nvSpPr>
          <p:cNvPr id="31" name="EDITABLE_TEXT_视频部服务包"/>
          <p:cNvSpPr txBox="1"/>
          <p:nvPr/>
        </p:nvSpPr>
        <p:spPr>
          <a:xfrm>
            <a:off x="6471920" y="1077823"/>
            <a:ext cx="1015999"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32" name="EDITABLE_TEXT_属地服务包"/>
          <p:cNvSpPr txBox="1"/>
          <p:nvPr/>
        </p:nvSpPr>
        <p:spPr>
          <a:xfrm>
            <a:off x="10626725" y="1077823"/>
            <a:ext cx="863600"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33" name="EDITABLE_TEXT_客户侧验收"/>
          <p:cNvSpPr txBox="1"/>
          <p:nvPr/>
        </p:nvSpPr>
        <p:spPr>
          <a:xfrm>
            <a:off x="8546465" y="1965220"/>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客户侧验收</a:t>
            </a:r>
          </a:p>
        </p:txBody>
      </p:sp>
      <p:sp>
        <p:nvSpPr>
          <p:cNvPr id="34" name="EDITABLE_TEXT_地市移动发起交付确认"/>
          <p:cNvSpPr txBox="1"/>
          <p:nvPr/>
        </p:nvSpPr>
        <p:spPr>
          <a:xfrm>
            <a:off x="8228965" y="2489883"/>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地市移动发起交付确认</a:t>
            </a:r>
          </a:p>
        </p:txBody>
      </p:sp>
      <p:sp>
        <p:nvSpPr>
          <p:cNvPr id="35" name="EDITABLE_TEXT_（集客大厅）"/>
          <p:cNvSpPr txBox="1"/>
          <p:nvPr/>
        </p:nvSpPr>
        <p:spPr>
          <a:xfrm>
            <a:off x="8482965" y="2642283"/>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（集客大厅）</a:t>
            </a:r>
          </a:p>
        </p:txBody>
      </p:sp>
      <p:sp>
        <p:nvSpPr>
          <p:cNvPr id="36" name="EDITABLE_TEXT_地市业管、省侧业管审"/>
          <p:cNvSpPr txBox="1"/>
          <p:nvPr/>
        </p:nvSpPr>
        <p:spPr>
          <a:xfrm>
            <a:off x="8230869" y="3089958"/>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地市业管、省侧业管审</a:t>
            </a:r>
          </a:p>
        </p:txBody>
      </p:sp>
      <p:sp>
        <p:nvSpPr>
          <p:cNvPr id="37" name="EDITABLE_TEXT_批"/>
          <p:cNvSpPr txBox="1"/>
          <p:nvPr/>
        </p:nvSpPr>
        <p:spPr>
          <a:xfrm>
            <a:off x="8802369" y="3242358"/>
            <a:ext cx="227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批</a:t>
            </a:r>
          </a:p>
        </p:txBody>
      </p:sp>
      <p:sp>
        <p:nvSpPr>
          <p:cNvPr id="38" name="EDITABLE_TEXT_  物联网公司审核材料"/>
          <p:cNvSpPr txBox="1"/>
          <p:nvPr/>
        </p:nvSpPr>
        <p:spPr>
          <a:xfrm>
            <a:off x="8256269" y="3765598"/>
            <a:ext cx="131889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  物联网公司审核材料</a:t>
            </a:r>
          </a:p>
        </p:txBody>
      </p:sp>
      <p:sp>
        <p:nvSpPr>
          <p:cNvPr id="39" name="EDITABLE_TEXT_物联网公司审批"/>
          <p:cNvSpPr txBox="1"/>
          <p:nvPr/>
        </p:nvSpPr>
        <p:spPr>
          <a:xfrm>
            <a:off x="8419465" y="4365673"/>
            <a:ext cx="989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物联网公司审批</a:t>
            </a:r>
          </a:p>
        </p:txBody>
      </p:sp>
      <p:sp>
        <p:nvSpPr>
          <p:cNvPr id="40" name="EDITABLE_TEXT_产创中心负责"/>
          <p:cNvSpPr txBox="1"/>
          <p:nvPr/>
        </p:nvSpPr>
        <p:spPr>
          <a:xfrm>
            <a:off x="6548119" y="197982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1" name="EDITABLE_TEXT_产创中心负责"/>
          <p:cNvSpPr txBox="1"/>
          <p:nvPr/>
        </p:nvSpPr>
        <p:spPr>
          <a:xfrm>
            <a:off x="513715" y="2264305"/>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2" name="EDITABLE_TEXT_产创中心负责"/>
          <p:cNvSpPr txBox="1"/>
          <p:nvPr/>
        </p:nvSpPr>
        <p:spPr>
          <a:xfrm>
            <a:off x="513715" y="1644545"/>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3" name="EDITABLE_TEXT_视频部负责"/>
          <p:cNvSpPr txBox="1"/>
          <p:nvPr/>
        </p:nvSpPr>
        <p:spPr>
          <a:xfrm>
            <a:off x="577215" y="3472710"/>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44" name="EDITABLE_TEXT_产创中心负责"/>
          <p:cNvSpPr txBox="1"/>
          <p:nvPr/>
        </p:nvSpPr>
        <p:spPr>
          <a:xfrm>
            <a:off x="4592320" y="226430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5" name="EDITABLE_TEXT_产创中心负责"/>
          <p:cNvSpPr txBox="1"/>
          <p:nvPr/>
        </p:nvSpPr>
        <p:spPr>
          <a:xfrm>
            <a:off x="4592320" y="164454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6" name="EDITABLE_TEXT_产创中心负责"/>
          <p:cNvSpPr txBox="1"/>
          <p:nvPr/>
        </p:nvSpPr>
        <p:spPr>
          <a:xfrm>
            <a:off x="4592320" y="2881285"/>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47" name="EDITABLE_TEXT_产创中心负责"/>
          <p:cNvSpPr txBox="1"/>
          <p:nvPr/>
        </p:nvSpPr>
        <p:spPr>
          <a:xfrm>
            <a:off x="4592320" y="4694210"/>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48" name="EDITABLE_TEXT_组织供应商交付"/>
          <p:cNvSpPr txBox="1"/>
          <p:nvPr/>
        </p:nvSpPr>
        <p:spPr>
          <a:xfrm>
            <a:off x="2405379" y="5295313"/>
            <a:ext cx="989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组织供应商交付</a:t>
            </a:r>
          </a:p>
        </p:txBody>
      </p:sp>
      <p:sp>
        <p:nvSpPr>
          <p:cNvPr id="49" name="EDITABLE_TEXT_视频部负责"/>
          <p:cNvSpPr txBox="1"/>
          <p:nvPr/>
        </p:nvSpPr>
        <p:spPr>
          <a:xfrm>
            <a:off x="577215" y="5270395"/>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50" name="EDITABLE_TEXT_产创中心负责"/>
          <p:cNvSpPr txBox="1"/>
          <p:nvPr/>
        </p:nvSpPr>
        <p:spPr>
          <a:xfrm>
            <a:off x="4592320" y="5267615"/>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51" name="EDITABLE_TEXT_交付过程材料管理"/>
          <p:cNvSpPr txBox="1"/>
          <p:nvPr/>
        </p:nvSpPr>
        <p:spPr>
          <a:xfrm>
            <a:off x="2341879" y="5917613"/>
            <a:ext cx="1116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交付过程材料管理</a:t>
            </a:r>
          </a:p>
        </p:txBody>
      </p:sp>
      <p:sp>
        <p:nvSpPr>
          <p:cNvPr id="52" name="EDITABLE_TEXT_视频部负责"/>
          <p:cNvSpPr txBox="1"/>
          <p:nvPr/>
        </p:nvSpPr>
        <p:spPr>
          <a:xfrm>
            <a:off x="577215" y="5882535"/>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53" name="EDITABLE_TEXT_产创中心负责"/>
          <p:cNvSpPr txBox="1"/>
          <p:nvPr/>
        </p:nvSpPr>
        <p:spPr>
          <a:xfrm>
            <a:off x="4592320" y="5879755"/>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54" name="EDITABLE_TEXT_产创中心负责"/>
          <p:cNvSpPr txBox="1"/>
          <p:nvPr/>
        </p:nvSpPr>
        <p:spPr>
          <a:xfrm>
            <a:off x="10626725" y="197982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55" name="EDITABLE_TEXT_视频部负责"/>
          <p:cNvSpPr txBox="1"/>
          <p:nvPr/>
        </p:nvSpPr>
        <p:spPr>
          <a:xfrm>
            <a:off x="6611619" y="3731155"/>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56" name="EDITABLE_TEXT_视频部再审核"/>
          <p:cNvSpPr txBox="1"/>
          <p:nvPr/>
        </p:nvSpPr>
        <p:spPr>
          <a:xfrm>
            <a:off x="10626725" y="4409970"/>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视频部再审核</a:t>
            </a:r>
          </a:p>
        </p:txBody>
      </p:sp>
      <p:sp>
        <p:nvSpPr>
          <p:cNvPr id="57" name="EDITABLE_TEXT_产创中心先审核"/>
          <p:cNvSpPr txBox="1"/>
          <p:nvPr/>
        </p:nvSpPr>
        <p:spPr>
          <a:xfrm>
            <a:off x="10563859" y="3765840"/>
            <a:ext cx="989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产创中心先审核</a:t>
            </a:r>
          </a:p>
        </p:txBody>
      </p:sp>
      <p:sp>
        <p:nvSpPr>
          <p:cNvPr id="58" name="EDITABLE_TEXT_流程完结，次月出账"/>
          <p:cNvSpPr txBox="1"/>
          <p:nvPr/>
        </p:nvSpPr>
        <p:spPr>
          <a:xfrm>
            <a:off x="8292465" y="5003213"/>
            <a:ext cx="1243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流程完结，次月出账</a:t>
            </a:r>
          </a:p>
        </p:txBody>
      </p:sp>
      <p:sp>
        <p:nvSpPr>
          <p:cNvPr id="59" name="EDITABLE_TEXT_视频部负责"/>
          <p:cNvSpPr txBox="1"/>
          <p:nvPr/>
        </p:nvSpPr>
        <p:spPr>
          <a:xfrm>
            <a:off x="6611619" y="4399810"/>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60" name="EDITABLE_TEXT_（业支系统改造完成前，由产创中心"/>
          <p:cNvSpPr txBox="1"/>
          <p:nvPr/>
        </p:nvSpPr>
        <p:spPr>
          <a:xfrm>
            <a:off x="10061575" y="4720880"/>
            <a:ext cx="213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（业支系统改造完成前，由产创中心</a:t>
            </a:r>
          </a:p>
        </p:txBody>
      </p:sp>
      <p:sp>
        <p:nvSpPr>
          <p:cNvPr id="61" name="EDITABLE_TEXT_和视频部协同进行材料审核）"/>
          <p:cNvSpPr txBox="1"/>
          <p:nvPr/>
        </p:nvSpPr>
        <p:spPr>
          <a:xfrm>
            <a:off x="10252075" y="4873280"/>
            <a:ext cx="1751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和视频部协同进行材料审核）</a:t>
            </a:r>
          </a:p>
        </p:txBody>
      </p:sp>
      <p:sp>
        <p:nvSpPr>
          <p:cNvPr id="62" name="EDITABLE_TEXT_附件：千里眼服务包业务责任对照表"/>
          <p:cNvSpPr txBox="1"/>
          <p:nvPr/>
        </p:nvSpPr>
        <p:spPr>
          <a:xfrm>
            <a:off x="706285" y="319723"/>
            <a:ext cx="4166234" cy="3993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63" name="EDITABLE_TEXT_产创中心负责"/>
          <p:cNvSpPr txBox="1"/>
          <p:nvPr/>
        </p:nvSpPr>
        <p:spPr>
          <a:xfrm>
            <a:off x="4592320" y="3469930"/>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DELITY_BACKGROUND" descr="image.png"/>
          <p:cNvPicPr>
            <a:picLocks noChangeAspect="1"/>
          </p:cNvPicPr>
          <p:nvPr/>
        </p:nvPicPr>
        <p:blipFill>
          <a:blip r:embed="rId2"/>
          <a:stretch>
            <a:fillRect/>
          </a:stretch>
        </p:blipFill>
        <p:spPr>
          <a:xfrm>
            <a:off x="0" y="0"/>
            <a:ext cx="12192000" cy="6858000"/>
          </a:xfrm>
          <a:prstGeom prst="rect">
            <a:avLst/>
          </a:prstGeom>
        </p:spPr>
      </p:pic>
      <p:sp>
        <p:nvSpPr>
          <p:cNvPr id="3" name="EDITABLE_SHAPE"/>
          <p:cNvSpPr/>
          <p:nvPr/>
        </p:nvSpPr>
        <p:spPr>
          <a:xfrm>
            <a:off x="1897379" y="1024127"/>
            <a:ext cx="1996439"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ITABLE_SHAPE"/>
          <p:cNvSpPr/>
          <p:nvPr/>
        </p:nvSpPr>
        <p:spPr>
          <a:xfrm>
            <a:off x="2130551" y="1632204"/>
            <a:ext cx="1530095"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DITABLE_SHAPE"/>
          <p:cNvSpPr/>
          <p:nvPr/>
        </p:nvSpPr>
        <p:spPr>
          <a:xfrm>
            <a:off x="2132076" y="2232660"/>
            <a:ext cx="153009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DITABLE_SHAPE"/>
          <p:cNvSpPr/>
          <p:nvPr/>
        </p:nvSpPr>
        <p:spPr>
          <a:xfrm>
            <a:off x="2132076" y="2845307"/>
            <a:ext cx="153009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DITABLE_SHAPE"/>
          <p:cNvSpPr/>
          <p:nvPr/>
        </p:nvSpPr>
        <p:spPr>
          <a:xfrm>
            <a:off x="8159495" y="2901695"/>
            <a:ext cx="1531619"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ABLE_SHAPE"/>
          <p:cNvSpPr/>
          <p:nvPr/>
        </p:nvSpPr>
        <p:spPr>
          <a:xfrm>
            <a:off x="8159495" y="3526535"/>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ABLE_SHAPE"/>
          <p:cNvSpPr/>
          <p:nvPr/>
        </p:nvSpPr>
        <p:spPr>
          <a:xfrm>
            <a:off x="8159495" y="4149852"/>
            <a:ext cx="15316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ABLE_SHAPE"/>
          <p:cNvSpPr/>
          <p:nvPr/>
        </p:nvSpPr>
        <p:spPr>
          <a:xfrm>
            <a:off x="8159495" y="4774691"/>
            <a:ext cx="1531619"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ABLE_SHAPE"/>
          <p:cNvSpPr/>
          <p:nvPr/>
        </p:nvSpPr>
        <p:spPr>
          <a:xfrm>
            <a:off x="8159495" y="5398008"/>
            <a:ext cx="1531619"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ABLE_SHAPE"/>
          <p:cNvSpPr/>
          <p:nvPr/>
        </p:nvSpPr>
        <p:spPr>
          <a:xfrm>
            <a:off x="8159495" y="1653539"/>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ABLE_SHAPE"/>
          <p:cNvSpPr/>
          <p:nvPr/>
        </p:nvSpPr>
        <p:spPr>
          <a:xfrm>
            <a:off x="8159495" y="2278379"/>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ABLE_SHAPE"/>
          <p:cNvSpPr/>
          <p:nvPr/>
        </p:nvSpPr>
        <p:spPr>
          <a:xfrm>
            <a:off x="7927847" y="1024127"/>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ABLE_TEXT_9"/>
          <p:cNvSpPr txBox="1"/>
          <p:nvPr/>
        </p:nvSpPr>
        <p:spPr>
          <a:xfrm>
            <a:off x="11860771" y="6649554"/>
            <a:ext cx="165151" cy="2270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9</a:t>
            </a:r>
          </a:p>
        </p:txBody>
      </p:sp>
      <p:sp>
        <p:nvSpPr>
          <p:cNvPr id="16" name="EDITABLE_TEXT_视频部服务包"/>
          <p:cNvSpPr txBox="1"/>
          <p:nvPr/>
        </p:nvSpPr>
        <p:spPr>
          <a:xfrm>
            <a:off x="466090" y="1077823"/>
            <a:ext cx="1015999"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17" name="EDITABLE_TEXT_属地服务包"/>
          <p:cNvSpPr txBox="1"/>
          <p:nvPr/>
        </p:nvSpPr>
        <p:spPr>
          <a:xfrm>
            <a:off x="4535170" y="1077823"/>
            <a:ext cx="863600"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18" name="EDITABLE_TEXT_计收流程"/>
          <p:cNvSpPr txBox="1"/>
          <p:nvPr/>
        </p:nvSpPr>
        <p:spPr>
          <a:xfrm>
            <a:off x="2540000" y="1055815"/>
            <a:ext cx="8134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计收流程</a:t>
            </a:r>
          </a:p>
        </p:txBody>
      </p:sp>
      <p:sp>
        <p:nvSpPr>
          <p:cNvPr id="19" name="EDITABLE_TEXT_发起订单计收"/>
          <p:cNvSpPr txBox="1"/>
          <p:nvPr/>
        </p:nvSpPr>
        <p:spPr>
          <a:xfrm>
            <a:off x="2513964" y="1692958"/>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发起订单计收</a:t>
            </a:r>
          </a:p>
        </p:txBody>
      </p:sp>
      <p:sp>
        <p:nvSpPr>
          <p:cNvPr id="20" name="EDITABLE_TEXT_订单所属部门审批（核"/>
          <p:cNvSpPr txBox="1"/>
          <p:nvPr/>
        </p:nvSpPr>
        <p:spPr>
          <a:xfrm>
            <a:off x="2261870" y="2217468"/>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订单所属部门审批（核</a:t>
            </a:r>
          </a:p>
        </p:txBody>
      </p:sp>
      <p:sp>
        <p:nvSpPr>
          <p:cNvPr id="21" name="EDITABLE_TEXT_算系统）"/>
          <p:cNvSpPr txBox="1"/>
          <p:nvPr/>
        </p:nvSpPr>
        <p:spPr>
          <a:xfrm>
            <a:off x="2642870" y="2369868"/>
            <a:ext cx="608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算系统）</a:t>
            </a:r>
          </a:p>
        </p:txBody>
      </p:sp>
      <p:sp>
        <p:nvSpPr>
          <p:cNvPr id="22" name="EDITABLE_TEXT_产品合规专员审批"/>
          <p:cNvSpPr txBox="1"/>
          <p:nvPr/>
        </p:nvSpPr>
        <p:spPr>
          <a:xfrm>
            <a:off x="2388870" y="2905808"/>
            <a:ext cx="1116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产品合规专员审批</a:t>
            </a:r>
          </a:p>
        </p:txBody>
      </p:sp>
      <p:sp>
        <p:nvSpPr>
          <p:cNvPr id="23" name="EDITABLE_TEXT_交付支撑部审批"/>
          <p:cNvSpPr txBox="1"/>
          <p:nvPr/>
        </p:nvSpPr>
        <p:spPr>
          <a:xfrm>
            <a:off x="2452370" y="3517948"/>
            <a:ext cx="989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交付支撑部审批</a:t>
            </a:r>
          </a:p>
        </p:txBody>
      </p:sp>
      <p:sp>
        <p:nvSpPr>
          <p:cNvPr id="24" name="EDITABLE_TEXT_财务部审批"/>
          <p:cNvSpPr txBox="1"/>
          <p:nvPr/>
        </p:nvSpPr>
        <p:spPr>
          <a:xfrm>
            <a:off x="2579370" y="4130088"/>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财务部审批</a:t>
            </a:r>
          </a:p>
        </p:txBody>
      </p:sp>
      <p:sp>
        <p:nvSpPr>
          <p:cNvPr id="25" name="EDITABLE_TEXT_视频部负责"/>
          <p:cNvSpPr txBox="1"/>
          <p:nvPr/>
        </p:nvSpPr>
        <p:spPr>
          <a:xfrm>
            <a:off x="605790" y="2898670"/>
            <a:ext cx="735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26" name="EDITABLE_TEXT_计收完成"/>
          <p:cNvSpPr txBox="1"/>
          <p:nvPr/>
        </p:nvSpPr>
        <p:spPr>
          <a:xfrm>
            <a:off x="2642870" y="4742228"/>
            <a:ext cx="608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计收完成</a:t>
            </a:r>
          </a:p>
        </p:txBody>
      </p:sp>
      <p:sp>
        <p:nvSpPr>
          <p:cNvPr id="27" name="EDITABLE_TEXT_产创中心负责"/>
          <p:cNvSpPr txBox="1"/>
          <p:nvPr/>
        </p:nvSpPr>
        <p:spPr>
          <a:xfrm>
            <a:off x="542290" y="1737255"/>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28" name="EDITABLE_TEXT_产创中心负责"/>
          <p:cNvSpPr txBox="1"/>
          <p:nvPr/>
        </p:nvSpPr>
        <p:spPr>
          <a:xfrm>
            <a:off x="542290" y="2292880"/>
            <a:ext cx="862964"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29" name="EDITABLE_TEXT_产创中心负责"/>
          <p:cNvSpPr txBox="1"/>
          <p:nvPr/>
        </p:nvSpPr>
        <p:spPr>
          <a:xfrm>
            <a:off x="4535170" y="173725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30" name="EDITABLE_TEXT_产创中心负责"/>
          <p:cNvSpPr txBox="1"/>
          <p:nvPr/>
        </p:nvSpPr>
        <p:spPr>
          <a:xfrm>
            <a:off x="4535170" y="2292880"/>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31" name="EDITABLE_TEXT_客户财务部门打款"/>
          <p:cNvSpPr txBox="1"/>
          <p:nvPr/>
        </p:nvSpPr>
        <p:spPr>
          <a:xfrm>
            <a:off x="8417026" y="2962755"/>
            <a:ext cx="1116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客户财务部门打款</a:t>
            </a:r>
          </a:p>
        </p:txBody>
      </p:sp>
      <p:sp>
        <p:nvSpPr>
          <p:cNvPr id="32" name="EDITABLE_TEXT_业务部门核销应收单"/>
          <p:cNvSpPr txBox="1"/>
          <p:nvPr/>
        </p:nvSpPr>
        <p:spPr>
          <a:xfrm>
            <a:off x="8353526" y="3586960"/>
            <a:ext cx="1243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业务部门核销应收单</a:t>
            </a:r>
          </a:p>
        </p:txBody>
      </p:sp>
      <p:sp>
        <p:nvSpPr>
          <p:cNvPr id="33" name="EDITABLE_TEXT_根据回款情况向供应商"/>
          <p:cNvSpPr txBox="1"/>
          <p:nvPr/>
        </p:nvSpPr>
        <p:spPr>
          <a:xfrm>
            <a:off x="8290026" y="4135600"/>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根据回款情况向供应商</a:t>
            </a:r>
          </a:p>
        </p:txBody>
      </p:sp>
      <p:sp>
        <p:nvSpPr>
          <p:cNvPr id="34" name="EDITABLE_TEXT_报账"/>
          <p:cNvSpPr txBox="1"/>
          <p:nvPr/>
        </p:nvSpPr>
        <p:spPr>
          <a:xfrm>
            <a:off x="8798026" y="4288000"/>
            <a:ext cx="354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报账</a:t>
            </a:r>
          </a:p>
        </p:txBody>
      </p:sp>
      <p:sp>
        <p:nvSpPr>
          <p:cNvPr id="35" name="EDITABLE_TEXT_财务部付款给供应商"/>
          <p:cNvSpPr txBox="1"/>
          <p:nvPr/>
        </p:nvSpPr>
        <p:spPr>
          <a:xfrm>
            <a:off x="8353526" y="4835369"/>
            <a:ext cx="1243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财务部付款给供应商</a:t>
            </a:r>
          </a:p>
        </p:txBody>
      </p:sp>
      <p:sp>
        <p:nvSpPr>
          <p:cNvPr id="36" name="EDITABLE_TEXT_流程结束"/>
          <p:cNvSpPr txBox="1"/>
          <p:nvPr/>
        </p:nvSpPr>
        <p:spPr>
          <a:xfrm>
            <a:off x="8671026" y="5459575"/>
            <a:ext cx="608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流程结束</a:t>
            </a:r>
          </a:p>
        </p:txBody>
      </p:sp>
      <p:sp>
        <p:nvSpPr>
          <p:cNvPr id="37" name="EDITABLE_TEXT_开票、准备报账材料"/>
          <p:cNvSpPr txBox="1"/>
          <p:nvPr/>
        </p:nvSpPr>
        <p:spPr>
          <a:xfrm>
            <a:off x="8353526" y="1714345"/>
            <a:ext cx="1243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开票、准备报账材料</a:t>
            </a:r>
          </a:p>
        </p:txBody>
      </p:sp>
      <p:sp>
        <p:nvSpPr>
          <p:cNvPr id="38" name="EDITABLE_TEXT_递交报账材料，发起报"/>
          <p:cNvSpPr txBox="1"/>
          <p:nvPr/>
        </p:nvSpPr>
        <p:spPr>
          <a:xfrm>
            <a:off x="8290026" y="2262985"/>
            <a:ext cx="1370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递交报账材料，发起报</a:t>
            </a:r>
          </a:p>
        </p:txBody>
      </p:sp>
      <p:sp>
        <p:nvSpPr>
          <p:cNvPr id="39" name="EDITABLE_TEXT_账"/>
          <p:cNvSpPr txBox="1"/>
          <p:nvPr/>
        </p:nvSpPr>
        <p:spPr>
          <a:xfrm>
            <a:off x="8861526" y="2415385"/>
            <a:ext cx="227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账</a:t>
            </a:r>
          </a:p>
        </p:txBody>
      </p:sp>
      <p:sp>
        <p:nvSpPr>
          <p:cNvPr id="40" name="EDITABLE_TEXT_结算流程"/>
          <p:cNvSpPr txBox="1"/>
          <p:nvPr/>
        </p:nvSpPr>
        <p:spPr>
          <a:xfrm>
            <a:off x="8569959" y="1055815"/>
            <a:ext cx="813434" cy="2988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结算流程</a:t>
            </a:r>
          </a:p>
        </p:txBody>
      </p:sp>
      <p:sp>
        <p:nvSpPr>
          <p:cNvPr id="41" name="EDITABLE_TEXT_视频部服务包"/>
          <p:cNvSpPr txBox="1"/>
          <p:nvPr/>
        </p:nvSpPr>
        <p:spPr>
          <a:xfrm>
            <a:off x="6428740" y="1077823"/>
            <a:ext cx="1016000"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42" name="EDITABLE_TEXT_属地服务包"/>
          <p:cNvSpPr txBox="1"/>
          <p:nvPr/>
        </p:nvSpPr>
        <p:spPr>
          <a:xfrm>
            <a:off x="10583544" y="1077823"/>
            <a:ext cx="863600" cy="2602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43" name="EDITABLE_TEXT_产创中心负责"/>
          <p:cNvSpPr txBox="1"/>
          <p:nvPr/>
        </p:nvSpPr>
        <p:spPr>
          <a:xfrm>
            <a:off x="6664325" y="173725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4" name="EDITABLE_TEXT_产创中心负责"/>
          <p:cNvSpPr txBox="1"/>
          <p:nvPr/>
        </p:nvSpPr>
        <p:spPr>
          <a:xfrm>
            <a:off x="6664325" y="230875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5" name="EDITABLE_TEXT_产创中心负责"/>
          <p:cNvSpPr txBox="1"/>
          <p:nvPr/>
        </p:nvSpPr>
        <p:spPr>
          <a:xfrm>
            <a:off x="6664325" y="3574310"/>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6" name="EDITABLE_TEXT_产创中心负责"/>
          <p:cNvSpPr txBox="1"/>
          <p:nvPr/>
        </p:nvSpPr>
        <p:spPr>
          <a:xfrm>
            <a:off x="10583544" y="173725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7" name="EDITABLE_TEXT_产创中心负责"/>
          <p:cNvSpPr txBox="1"/>
          <p:nvPr/>
        </p:nvSpPr>
        <p:spPr>
          <a:xfrm>
            <a:off x="10583544" y="2308755"/>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8" name="EDITABLE_TEXT_产创中心负责"/>
          <p:cNvSpPr txBox="1"/>
          <p:nvPr/>
        </p:nvSpPr>
        <p:spPr>
          <a:xfrm>
            <a:off x="10583544" y="3574310"/>
            <a:ext cx="862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49" name="EDITABLE_TEXT_视频部负责"/>
          <p:cNvSpPr txBox="1"/>
          <p:nvPr/>
        </p:nvSpPr>
        <p:spPr>
          <a:xfrm>
            <a:off x="6717030" y="4227090"/>
            <a:ext cx="735965" cy="2266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50" name="EDITABLE_TEXT_附件：千里眼服务包业务责任对照表"/>
          <p:cNvSpPr txBox="1"/>
          <p:nvPr/>
        </p:nvSpPr>
        <p:spPr>
          <a:xfrm>
            <a:off x="706285" y="319723"/>
            <a:ext cx="4166234" cy="3993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51" name="EDITABLE_TEXT_产创中心负责"/>
          <p:cNvSpPr txBox="1"/>
          <p:nvPr/>
        </p:nvSpPr>
        <p:spPr>
          <a:xfrm>
            <a:off x="4535170" y="2895890"/>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52" name="EDITABLE_TEXT_产创中心负责"/>
          <p:cNvSpPr txBox="1"/>
          <p:nvPr/>
        </p:nvSpPr>
        <p:spPr>
          <a:xfrm>
            <a:off x="10583544" y="4224310"/>
            <a:ext cx="862965" cy="2301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