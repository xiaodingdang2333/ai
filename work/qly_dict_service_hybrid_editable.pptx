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jpg"/>
          <p:cNvPicPr>
            <a:picLocks noChangeAspect="1"/>
          </p:cNvPicPr>
          <p:nvPr/>
        </p:nvPicPr>
        <p:blipFill>
          <a:blip r:embed="rId3"/>
          <a:stretch>
            <a:fillRect/>
          </a:stretch>
        </p:blipFill>
        <p:spPr>
          <a:xfrm>
            <a:off x="0" y="0"/>
            <a:ext cx="12192000" cy="6858000"/>
          </a:xfrm>
          <a:prstGeom prst="rect">
            <a:avLst/>
          </a:prstGeom>
        </p:spPr>
      </p:pic>
      <p:pic>
        <p:nvPicPr>
          <p:cNvPr id="4" name="Picture 3" descr="image.jpg"/>
          <p:cNvPicPr>
            <a:picLocks noChangeAspect="1"/>
          </p:cNvPicPr>
          <p:nvPr/>
        </p:nvPicPr>
        <p:blipFill>
          <a:blip r:embed="rId4"/>
          <a:stretch>
            <a:fillRect/>
          </a:stretch>
        </p:blipFill>
        <p:spPr>
          <a:xfrm>
            <a:off x="0" y="0"/>
            <a:ext cx="12192000" cy="6858000"/>
          </a:xfrm>
          <a:prstGeom prst="rect">
            <a:avLst/>
          </a:prstGeom>
        </p:spPr>
      </p:pic>
      <p:pic>
        <p:nvPicPr>
          <p:cNvPr id="5" name="Picture 4" descr="image.jpg"/>
          <p:cNvPicPr>
            <a:picLocks noChangeAspect="1"/>
          </p:cNvPicPr>
          <p:nvPr/>
        </p:nvPicPr>
        <p:blipFill>
          <a:blip r:embed="rId5"/>
          <a:stretch>
            <a:fillRect/>
          </a:stretch>
        </p:blipFill>
        <p:spPr>
          <a:xfrm>
            <a:off x="9610343" y="230124"/>
            <a:ext cx="2581656" cy="557783"/>
          </a:xfrm>
          <a:prstGeom prst="rect">
            <a:avLst/>
          </a:prstGeom>
        </p:spPr>
      </p:pic>
      <p:pic>
        <p:nvPicPr>
          <p:cNvPr id="6" name="Picture 5" descr="image.jpg"/>
          <p:cNvPicPr>
            <a:picLocks noChangeAspect="1"/>
          </p:cNvPicPr>
          <p:nvPr/>
        </p:nvPicPr>
        <p:blipFill>
          <a:blip r:embed="rId6"/>
          <a:stretch>
            <a:fillRect/>
          </a:stretch>
        </p:blipFill>
        <p:spPr>
          <a:xfrm>
            <a:off x="10378440" y="384048"/>
            <a:ext cx="1559052" cy="251459"/>
          </a:xfrm>
          <a:prstGeom prst="rect">
            <a:avLst/>
          </a:prstGeom>
        </p:spPr>
      </p:pic>
      <p:sp>
        <p:nvSpPr>
          <p:cNvPr id="7" name="Rectangle 6"/>
          <p:cNvSpPr/>
          <p:nvPr/>
        </p:nvSpPr>
        <p:spPr>
          <a:xfrm>
            <a:off x="11854421" y="6655904"/>
            <a:ext cx="80061" cy="180072"/>
          </a:xfrm>
          <a:prstGeom prst="rect">
            <a:avLst/>
          </a:prstGeom>
          <a:solidFill>
            <a:srgbClr val="A1A7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1</a:t>
            </a:r>
          </a:p>
        </p:txBody>
      </p:sp>
      <p:sp>
        <p:nvSpPr>
          <p:cNvPr id="9" name="Rectangle 8"/>
          <p:cNvSpPr/>
          <p:nvPr/>
        </p:nvSpPr>
        <p:spPr>
          <a:xfrm>
            <a:off x="1415414" y="2372563"/>
            <a:ext cx="9363075" cy="89067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1764" y="2366213"/>
            <a:ext cx="9397365" cy="899566"/>
          </a:xfrm>
          <a:prstGeom prst="rect">
            <a:avLst/>
          </a:prstGeom>
          <a:noFill/>
        </p:spPr>
        <p:txBody>
          <a:bodyPr wrap="none" lIns="0" rIns="0" tIns="0" bIns="0">
            <a:spAutoFit/>
          </a:bodyPr>
          <a:lstStyle/>
          <a:p>
            <a:pPr>
              <a:lnSpc>
                <a:spcPct val="100000"/>
              </a:lnSpc>
              <a:spcBef>
                <a:spcPts val="0"/>
              </a:spcBef>
              <a:spcAft>
                <a:spcPts val="0"/>
              </a:spcAft>
            </a:pPr>
            <a:r>
              <a:rPr sz="4800" b="1" i="0">
                <a:solidFill>
                  <a:srgbClr val="008CFF"/>
                </a:solidFill>
                <a:latin typeface="Microsoft YaHei"/>
              </a:rPr>
              <a:t>千里眼</a:t>
            </a:r>
            <a:r>
              <a:rPr sz="4800" b="1" i="0">
                <a:solidFill>
                  <a:srgbClr val="008CFF"/>
                </a:solidFill>
                <a:latin typeface="Microsoft YaHei"/>
              </a:rPr>
              <a:t>DICT</a:t>
            </a:r>
            <a:r>
              <a:rPr sz="4800" b="1" i="0">
                <a:solidFill>
                  <a:srgbClr val="008CFF"/>
                </a:solidFill>
                <a:latin typeface="Microsoft YaHei"/>
              </a:rPr>
              <a:t>集成服务细化管理方案</a:t>
            </a:r>
          </a:p>
        </p:txBody>
      </p:sp>
      <p:sp>
        <p:nvSpPr>
          <p:cNvPr id="11" name="Rectangle 10"/>
          <p:cNvSpPr/>
          <p:nvPr/>
        </p:nvSpPr>
        <p:spPr>
          <a:xfrm>
            <a:off x="4506112" y="4845927"/>
            <a:ext cx="3455083" cy="363577"/>
          </a:xfrm>
          <a:prstGeom prst="rect">
            <a:avLst/>
          </a:prstGeom>
          <a:solidFill>
            <a:srgbClr val="0B9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2462" y="4839577"/>
            <a:ext cx="3489373" cy="3724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市场运营部</a:t>
            </a:r>
            <a:r>
              <a:rPr sz="2005" b="0" i="0">
                <a:solidFill>
                  <a:srgbClr val="008CFF"/>
                </a:solidFill>
                <a:latin typeface="Microsoft YaHei"/>
              </a:rPr>
              <a:t>|</a:t>
            </a:r>
            <a:r>
              <a:rPr sz="2005" b="0" i="0">
                <a:solidFill>
                  <a:srgbClr val="008CFF"/>
                </a:solidFill>
                <a:latin typeface="Microsoft YaHei"/>
              </a:rPr>
              <a:t>视频物联网产品部</a:t>
            </a:r>
            <a:r>
              <a:rPr sz="2005" b="0" i="0">
                <a:solidFill>
                  <a:srgbClr val="008CFF"/>
                </a:solidFill>
                <a:latin typeface="Microsoft YaHei"/>
              </a:rPr>
              <a:t> </a:t>
            </a:r>
          </a:p>
        </p:txBody>
      </p:sp>
      <p:sp>
        <p:nvSpPr>
          <p:cNvPr id="13" name="Rectangle 12"/>
          <p:cNvSpPr/>
          <p:nvPr/>
        </p:nvSpPr>
        <p:spPr>
          <a:xfrm>
            <a:off x="5583707" y="5242167"/>
            <a:ext cx="1229994" cy="363577"/>
          </a:xfrm>
          <a:prstGeom prst="rect">
            <a:avLst/>
          </a:prstGeom>
          <a:solidFill>
            <a:srgbClr val="FCF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90057" y="5235817"/>
            <a:ext cx="1264284" cy="372467"/>
          </a:xfrm>
          <a:prstGeom prst="rect">
            <a:avLst/>
          </a:prstGeom>
          <a:noFill/>
        </p:spPr>
        <p:txBody>
          <a:bodyPr wrap="none" lIns="0" rIns="0" tIns="0" bIns="0">
            <a:spAutoFit/>
          </a:bodyPr>
          <a:lstStyle/>
          <a:p>
            <a:pPr>
              <a:lnSpc>
                <a:spcPct val="100000"/>
              </a:lnSpc>
              <a:spcBef>
                <a:spcPts val="0"/>
              </a:spcBef>
              <a:spcAft>
                <a:spcPts val="0"/>
              </a:spcAft>
            </a:pPr>
            <a:r>
              <a:rPr sz="2005" b="0" i="0">
                <a:solidFill>
                  <a:srgbClr val="008CFF"/>
                </a:solidFill>
                <a:latin typeface="Microsoft YaHei"/>
              </a:rPr>
              <a:t>2026</a:t>
            </a:r>
            <a:r>
              <a:rPr sz="2005" b="0" i="0">
                <a:solidFill>
                  <a:srgbClr val="008CFF"/>
                </a:solidFill>
                <a:latin typeface="Microsoft YaHei"/>
              </a:rPr>
              <a:t>年</a:t>
            </a:r>
            <a:r>
              <a:rPr sz="2005" b="0" i="0">
                <a:solidFill>
                  <a:srgbClr val="008CFF"/>
                </a:solidFill>
                <a:latin typeface="Microsoft YaHei"/>
              </a:rPr>
              <a:t>5</a:t>
            </a:r>
            <a:r>
              <a:rPr sz="2005" b="0" i="0">
                <a:solidFill>
                  <a:srgbClr val="008CFF"/>
                </a:solidFill>
                <a:latin typeface="Microsoft YaHei"/>
              </a:rPr>
              <a:t>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465810" y="2954782"/>
            <a:ext cx="635000" cy="0"/>
          </a:xfrm>
          <a:prstGeom prst="line">
            <a:avLst/>
          </a:prstGeom>
          <a:ln w="6095">
            <a:solidFill>
              <a:srgbClr val="008C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65810" y="4825568"/>
            <a:ext cx="635000" cy="0"/>
          </a:xfrm>
          <a:prstGeom prst="line">
            <a:avLst/>
          </a:prstGeom>
          <a:ln w="6095">
            <a:solidFill>
              <a:srgbClr val="008CF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121082" y="1728012"/>
            <a:ext cx="5829935" cy="37550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3997" y="1722437"/>
            <a:ext cx="5829935" cy="37662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48383"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48956" y="1616963"/>
            <a:ext cx="2985516" cy="2453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940" y="241046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940" y="2608579"/>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0590"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34484"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0729" y="2416810"/>
            <a:ext cx="12700" cy="13868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56940" y="3797300"/>
            <a:ext cx="2390140"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40834" y="280670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40834" y="3004820"/>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40834" y="320293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40834" y="340105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40834" y="359917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58514" y="44031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58514" y="460129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52164"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36059"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304" y="4409528"/>
            <a:ext cx="12700" cy="9905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58514" y="5393778"/>
            <a:ext cx="239013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42409" y="4799419"/>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42409" y="499753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42409" y="5195658"/>
            <a:ext cx="170624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0933" y="3901808"/>
            <a:ext cx="5516879" cy="7620"/>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jpg"/>
          <p:cNvPicPr>
            <a:picLocks noChangeAspect="1"/>
          </p:cNvPicPr>
          <p:nvPr/>
        </p:nvPicPr>
        <p:blipFill>
          <a:blip r:embed="rId3"/>
          <a:stretch>
            <a:fillRect/>
          </a:stretch>
        </p:blipFill>
        <p:spPr>
          <a:xfrm>
            <a:off x="0" y="0"/>
            <a:ext cx="12192000" cy="6858000"/>
          </a:xfrm>
          <a:prstGeom prst="rect">
            <a:avLst/>
          </a:prstGeom>
        </p:spPr>
      </p:pic>
      <p:pic>
        <p:nvPicPr>
          <p:cNvPr id="32" name="Picture 31" descr="image.jpg"/>
          <p:cNvPicPr>
            <a:picLocks noChangeAspect="1"/>
          </p:cNvPicPr>
          <p:nvPr/>
        </p:nvPicPr>
        <p:blipFill>
          <a:blip r:embed="rId4"/>
          <a:stretch>
            <a:fillRect/>
          </a:stretch>
        </p:blipFill>
        <p:spPr>
          <a:xfrm>
            <a:off x="126492" y="277368"/>
            <a:ext cx="341376" cy="467868"/>
          </a:xfrm>
          <a:prstGeom prst="rect">
            <a:avLst/>
          </a:prstGeom>
        </p:spPr>
      </p:pic>
      <p:pic>
        <p:nvPicPr>
          <p:cNvPr id="33" name="Picture 32" descr="image.jpg"/>
          <p:cNvPicPr>
            <a:picLocks noChangeAspect="1"/>
          </p:cNvPicPr>
          <p:nvPr/>
        </p:nvPicPr>
        <p:blipFill>
          <a:blip r:embed="rId5"/>
          <a:stretch>
            <a:fillRect/>
          </a:stretch>
        </p:blipFill>
        <p:spPr>
          <a:xfrm>
            <a:off x="9610343" y="230124"/>
            <a:ext cx="2581656" cy="557783"/>
          </a:xfrm>
          <a:prstGeom prst="rect">
            <a:avLst/>
          </a:prstGeom>
        </p:spPr>
      </p:pic>
      <p:pic>
        <p:nvPicPr>
          <p:cNvPr id="34" name="Picture 33" descr="image.jpg"/>
          <p:cNvPicPr>
            <a:picLocks noChangeAspect="1"/>
          </p:cNvPicPr>
          <p:nvPr/>
        </p:nvPicPr>
        <p:blipFill>
          <a:blip r:embed="rId6"/>
          <a:stretch>
            <a:fillRect/>
          </a:stretch>
        </p:blipFill>
        <p:spPr>
          <a:xfrm>
            <a:off x="10216895" y="365759"/>
            <a:ext cx="1784604" cy="288036"/>
          </a:xfrm>
          <a:prstGeom prst="rect">
            <a:avLst/>
          </a:prstGeom>
        </p:spPr>
      </p:pic>
      <p:sp>
        <p:nvSpPr>
          <p:cNvPr id="35" name="Rectangle 34"/>
          <p:cNvSpPr/>
          <p:nvPr/>
        </p:nvSpPr>
        <p:spPr>
          <a:xfrm>
            <a:off x="11854421" y="6655904"/>
            <a:ext cx="80061" cy="180072"/>
          </a:xfrm>
          <a:prstGeom prst="rect">
            <a:avLst/>
          </a:prstGeom>
          <a:solidFill>
            <a:srgbClr val="84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2</a:t>
            </a:r>
          </a:p>
        </p:txBody>
      </p:sp>
      <p:sp>
        <p:nvSpPr>
          <p:cNvPr id="37" name="Rectangle 36"/>
          <p:cNvSpPr/>
          <p:nvPr/>
        </p:nvSpPr>
        <p:spPr>
          <a:xfrm>
            <a:off x="699935" y="325997"/>
            <a:ext cx="6367132" cy="3523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6285" y="319647"/>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一、服务包分类管理，产品部门与产创中心按需规划建设</a:t>
            </a:r>
          </a:p>
        </p:txBody>
      </p:sp>
      <p:sp>
        <p:nvSpPr>
          <p:cNvPr id="39" name="Rectangle 38"/>
          <p:cNvSpPr/>
          <p:nvPr/>
        </p:nvSpPr>
        <p:spPr>
          <a:xfrm>
            <a:off x="323850" y="947992"/>
            <a:ext cx="78962" cy="25971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0200" y="941642"/>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41" name="Rectangle 40"/>
          <p:cNvSpPr/>
          <p:nvPr/>
        </p:nvSpPr>
        <p:spPr>
          <a:xfrm>
            <a:off x="575944" y="944601"/>
            <a:ext cx="9796144" cy="25186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2294" y="938251"/>
            <a:ext cx="9830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公司内部对服务包细化管理，分成</a:t>
            </a:r>
            <a:r>
              <a:rPr sz="1405" b="1" i="0">
                <a:solidFill>
                  <a:srgbClr val="C00000"/>
                </a:solidFill>
                <a:latin typeface="Microsoft YaHei"/>
              </a:rPr>
              <a:t>“产品定制类”和“集成装维类”两类</a:t>
            </a:r>
            <a:r>
              <a:rPr sz="1405" b="1" i="0">
                <a:solidFill>
                  <a:srgbClr val="008CFF"/>
                </a:solidFill>
                <a:latin typeface="Microsoft YaHei"/>
              </a:rPr>
              <a:t>，由各产品部门、产创中心共同参与服务包立项建设</a:t>
            </a:r>
          </a:p>
        </p:txBody>
      </p:sp>
      <p:sp>
        <p:nvSpPr>
          <p:cNvPr id="43" name="Rectangle 42"/>
          <p:cNvSpPr/>
          <p:nvPr/>
        </p:nvSpPr>
        <p:spPr>
          <a:xfrm>
            <a:off x="323850" y="1268032"/>
            <a:ext cx="78962" cy="259716"/>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200" y="1261682"/>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C00000"/>
                </a:solidFill>
                <a:latin typeface="Microsoft YaHei"/>
              </a:rPr>
              <a:t>•</a:t>
            </a:r>
          </a:p>
        </p:txBody>
      </p:sp>
      <p:sp>
        <p:nvSpPr>
          <p:cNvPr id="45" name="Rectangle 44"/>
          <p:cNvSpPr/>
          <p:nvPr/>
        </p:nvSpPr>
        <p:spPr>
          <a:xfrm>
            <a:off x="575944" y="1264641"/>
            <a:ext cx="113963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2294" y="1258291"/>
            <a:ext cx="11430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C00000"/>
                </a:solidFill>
                <a:latin typeface="Microsoft YaHei"/>
              </a:rPr>
              <a:t>“产品定制类”</a:t>
            </a:r>
            <a:r>
              <a:rPr sz="1405" b="1" i="0">
                <a:solidFill>
                  <a:srgbClr val="008CFF"/>
                </a:solidFill>
                <a:latin typeface="Microsoft YaHei"/>
              </a:rPr>
              <a:t>服务包明确场景、明确应用，按行业产品功能形态、应用场景分类设计资费条目；</a:t>
            </a:r>
            <a:r>
              <a:rPr sz="1405" b="1" i="0">
                <a:solidFill>
                  <a:srgbClr val="C00000"/>
                </a:solidFill>
                <a:latin typeface="Microsoft YaHei"/>
              </a:rPr>
              <a:t>“集成装维类”服务包继续使用通用性资费条目</a:t>
            </a:r>
          </a:p>
        </p:txBody>
      </p:sp>
      <p:sp>
        <p:nvSpPr>
          <p:cNvPr id="47" name="Rectangle 46"/>
          <p:cNvSpPr/>
          <p:nvPr/>
        </p:nvSpPr>
        <p:spPr>
          <a:xfrm>
            <a:off x="1362710" y="2499255"/>
            <a:ext cx="852169"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69060" y="2492905"/>
            <a:ext cx="886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1、自研类产品</a:t>
            </a:r>
          </a:p>
        </p:txBody>
      </p:sp>
      <p:sp>
        <p:nvSpPr>
          <p:cNvPr id="49" name="Rectangle 48"/>
          <p:cNvSpPr/>
          <p:nvPr/>
        </p:nvSpPr>
        <p:spPr>
          <a:xfrm>
            <a:off x="1362710" y="2727855"/>
            <a:ext cx="979169"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69060" y="2721505"/>
            <a:ext cx="1013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2、融能生态产品</a:t>
            </a:r>
          </a:p>
        </p:txBody>
      </p:sp>
      <p:sp>
        <p:nvSpPr>
          <p:cNvPr id="51" name="Rectangle 50"/>
          <p:cNvSpPr/>
          <p:nvPr/>
        </p:nvSpPr>
        <p:spPr>
          <a:xfrm>
            <a:off x="1362710" y="2956455"/>
            <a:ext cx="1614169" cy="179647"/>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369060" y="2950105"/>
            <a:ext cx="1648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3、行业场景化标准方案产品</a:t>
            </a:r>
          </a:p>
        </p:txBody>
      </p:sp>
      <p:sp>
        <p:nvSpPr>
          <p:cNvPr id="53" name="Rectangle 52"/>
          <p:cNvSpPr/>
          <p:nvPr/>
        </p:nvSpPr>
        <p:spPr>
          <a:xfrm>
            <a:off x="1362710" y="3185055"/>
            <a:ext cx="192214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369060" y="3178705"/>
            <a:ext cx="195643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4、主流行业云化/入驻式标杆项目</a:t>
            </a:r>
          </a:p>
        </p:txBody>
      </p:sp>
      <p:sp>
        <p:nvSpPr>
          <p:cNvPr id="55" name="Rectangle 54"/>
          <p:cNvSpPr/>
          <p:nvPr/>
        </p:nvSpPr>
        <p:spPr>
          <a:xfrm>
            <a:off x="1362075" y="4365520"/>
            <a:ext cx="1360170" cy="179647"/>
          </a:xfrm>
          <a:prstGeom prst="rect">
            <a:avLst/>
          </a:prstGeom>
          <a:solidFill>
            <a:srgbClr val="D1D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68425" y="4359170"/>
            <a:ext cx="1394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1、属地化简单集成项目</a:t>
            </a:r>
          </a:p>
        </p:txBody>
      </p:sp>
      <p:sp>
        <p:nvSpPr>
          <p:cNvPr id="57" name="Rectangle 56"/>
          <p:cNvSpPr/>
          <p:nvPr/>
        </p:nvSpPr>
        <p:spPr>
          <a:xfrm>
            <a:off x="1362075" y="4594120"/>
            <a:ext cx="1233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68425" y="4587770"/>
            <a:ext cx="1267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2、属地化运维类项目</a:t>
            </a:r>
          </a:p>
        </p:txBody>
      </p:sp>
      <p:sp>
        <p:nvSpPr>
          <p:cNvPr id="59" name="Rectangle 58"/>
          <p:cNvSpPr/>
          <p:nvPr/>
        </p:nvSpPr>
        <p:spPr>
          <a:xfrm>
            <a:off x="1362075" y="4822720"/>
            <a:ext cx="1233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368425" y="4816370"/>
            <a:ext cx="1267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3、属地化装维类项目</a:t>
            </a:r>
          </a:p>
        </p:txBody>
      </p:sp>
      <p:sp>
        <p:nvSpPr>
          <p:cNvPr id="61" name="Rectangle 60"/>
          <p:cNvSpPr/>
          <p:nvPr/>
        </p:nvSpPr>
        <p:spPr>
          <a:xfrm>
            <a:off x="1362075" y="5051320"/>
            <a:ext cx="1614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68425" y="5044970"/>
            <a:ext cx="1648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4、属地化简单定制开发项目</a:t>
            </a:r>
          </a:p>
        </p:txBody>
      </p:sp>
      <p:sp>
        <p:nvSpPr>
          <p:cNvPr id="63" name="Rectangle 62"/>
          <p:cNvSpPr/>
          <p:nvPr/>
        </p:nvSpPr>
        <p:spPr>
          <a:xfrm>
            <a:off x="459460" y="2790607"/>
            <a:ext cx="650874"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5810" y="2784257"/>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产品定制类</a:t>
            </a:r>
          </a:p>
        </p:txBody>
      </p:sp>
      <p:sp>
        <p:nvSpPr>
          <p:cNvPr id="65" name="Rectangle 64"/>
          <p:cNvSpPr/>
          <p:nvPr/>
        </p:nvSpPr>
        <p:spPr>
          <a:xfrm>
            <a:off x="459460" y="4661394"/>
            <a:ext cx="650874"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5810" y="4655044"/>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a:t>
            </a:r>
          </a:p>
        </p:txBody>
      </p:sp>
      <p:sp>
        <p:nvSpPr>
          <p:cNvPr id="67" name="Rectangle 66"/>
          <p:cNvSpPr/>
          <p:nvPr/>
        </p:nvSpPr>
        <p:spPr>
          <a:xfrm>
            <a:off x="2500642" y="1623580"/>
            <a:ext cx="1083310" cy="217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506992" y="1617230"/>
            <a:ext cx="11176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服务包分类发展</a:t>
            </a:r>
          </a:p>
        </p:txBody>
      </p:sp>
      <p:sp>
        <p:nvSpPr>
          <p:cNvPr id="69" name="Rectangle 68"/>
          <p:cNvSpPr/>
          <p:nvPr/>
        </p:nvSpPr>
        <p:spPr>
          <a:xfrm>
            <a:off x="8448776" y="1623580"/>
            <a:ext cx="1388109" cy="217525"/>
          </a:xfrm>
          <a:prstGeom prst="rect">
            <a:avLst/>
          </a:prstGeom>
          <a:solidFill>
            <a:srgbClr val="77A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55126" y="1617230"/>
            <a:ext cx="14224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FFFFFF"/>
                </a:solidFill>
                <a:latin typeface="Microsoft YaHei"/>
              </a:rPr>
              <a:t>服务包业务融能标准</a:t>
            </a:r>
          </a:p>
        </p:txBody>
      </p:sp>
      <p:sp>
        <p:nvSpPr>
          <p:cNvPr id="71" name="Rectangle 70"/>
          <p:cNvSpPr/>
          <p:nvPr/>
        </p:nvSpPr>
        <p:spPr>
          <a:xfrm>
            <a:off x="269811" y="5788901"/>
            <a:ext cx="9027159" cy="227126"/>
          </a:xfrm>
          <a:prstGeom prst="rect">
            <a:avLst/>
          </a:prstGeom>
          <a:solidFill>
            <a:srgbClr val="E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6161" y="5782551"/>
            <a:ext cx="9061449"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产品部门</a:t>
            </a:r>
            <a:r>
              <a:rPr sz="1200" b="1" i="0">
                <a:solidFill>
                  <a:srgbClr val="008CFF"/>
                </a:solidFill>
                <a:latin typeface="Microsoft YaHei"/>
              </a:rPr>
              <a:t>主要</a:t>
            </a:r>
            <a:r>
              <a:rPr sz="1200" b="1" i="0">
                <a:solidFill>
                  <a:srgbClr val="C00000"/>
                </a:solidFill>
                <a:latin typeface="Microsoft YaHei"/>
              </a:rPr>
              <a:t>发展“产品定制类”服务包，</a:t>
            </a:r>
            <a:r>
              <a:rPr sz="1200" b="1" i="0">
                <a:solidFill>
                  <a:srgbClr val="008CFF"/>
                </a:solidFill>
                <a:latin typeface="Microsoft YaHei"/>
              </a:rPr>
              <a:t>打造符合融能规范的标准化产品，按需通过“集成装维类”服务包支撑装维、集成类项目</a:t>
            </a:r>
          </a:p>
        </p:txBody>
      </p:sp>
      <p:sp>
        <p:nvSpPr>
          <p:cNvPr id="73" name="Rectangle 72"/>
          <p:cNvSpPr/>
          <p:nvPr/>
        </p:nvSpPr>
        <p:spPr>
          <a:xfrm>
            <a:off x="269811" y="6063221"/>
            <a:ext cx="6893559" cy="227126"/>
          </a:xfrm>
          <a:prstGeom prst="rect">
            <a:avLst/>
          </a:prstGeom>
          <a:solidFill>
            <a:srgbClr val="D6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76161" y="6056871"/>
            <a:ext cx="6927849"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C00000"/>
                </a:solidFill>
                <a:latin typeface="Microsoft YaHei"/>
              </a:rPr>
              <a:t>•</a:t>
            </a:r>
            <a:r>
              <a:rPr sz="1200" b="1" i="0">
                <a:solidFill>
                  <a:srgbClr val="C00000"/>
                </a:solidFill>
                <a:latin typeface="Microsoft YaHei"/>
              </a:rPr>
              <a:t> </a:t>
            </a:r>
            <a:r>
              <a:rPr sz="1200" b="1" i="0">
                <a:solidFill>
                  <a:srgbClr val="C00000"/>
                </a:solidFill>
                <a:latin typeface="Microsoft YaHei"/>
              </a:rPr>
              <a:t>产创中心仅支持按需规划属地“集成装维类”服务包，</a:t>
            </a:r>
            <a:r>
              <a:rPr sz="1200" b="1" i="0">
                <a:solidFill>
                  <a:srgbClr val="008CFF"/>
                </a:solidFill>
                <a:latin typeface="Microsoft YaHei"/>
              </a:rPr>
              <a:t>支撑交付属地装维、属地简单集成交付的项目</a:t>
            </a:r>
          </a:p>
        </p:txBody>
      </p:sp>
      <p:sp>
        <p:nvSpPr>
          <p:cNvPr id="75" name="Rectangle 74"/>
          <p:cNvSpPr/>
          <p:nvPr/>
        </p:nvSpPr>
        <p:spPr>
          <a:xfrm>
            <a:off x="269811" y="6337541"/>
            <a:ext cx="9244965" cy="22712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6161" y="6331191"/>
            <a:ext cx="9279255" cy="236016"/>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8CFF"/>
                </a:solidFill>
                <a:latin typeface="Microsoft YaHei"/>
              </a:rPr>
              <a:t>•</a:t>
            </a:r>
            <a:r>
              <a:rPr sz="1200" b="1" i="0">
                <a:solidFill>
                  <a:srgbClr val="008CFF"/>
                </a:solidFill>
                <a:latin typeface="Microsoft YaHei"/>
              </a:rPr>
              <a:t> </a:t>
            </a:r>
            <a:r>
              <a:rPr sz="1200" b="1" i="0">
                <a:solidFill>
                  <a:srgbClr val="008CFF"/>
                </a:solidFill>
                <a:latin typeface="Microsoft YaHei"/>
              </a:rPr>
              <a:t>原则上DICT服务包</a:t>
            </a:r>
            <a:r>
              <a:rPr sz="1200" b="1" i="0">
                <a:solidFill>
                  <a:srgbClr val="C00000"/>
                </a:solidFill>
                <a:latin typeface="Microsoft YaHei"/>
              </a:rPr>
              <a:t>谁规划设计，谁负责</a:t>
            </a:r>
            <a:r>
              <a:rPr sz="1200" b="1" i="0">
                <a:solidFill>
                  <a:srgbClr val="008CFF"/>
                </a:solidFill>
                <a:latin typeface="Microsoft YaHei"/>
              </a:rPr>
              <a:t>；产品线主责部门对全量服务包负管理责任（如：千里眼产品线服务包，视频部均负管理责任）</a:t>
            </a:r>
          </a:p>
        </p:txBody>
      </p:sp>
      <p:sp>
        <p:nvSpPr>
          <p:cNvPr id="77" name="Rectangle 76"/>
          <p:cNvSpPr/>
          <p:nvPr/>
        </p:nvSpPr>
        <p:spPr>
          <a:xfrm>
            <a:off x="460006" y="1987840"/>
            <a:ext cx="650874" cy="183185"/>
          </a:xfrm>
          <a:prstGeom prst="rect">
            <a:avLst/>
          </a:prstGeom>
          <a:solidFill>
            <a:srgbClr val="C9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66356" y="1981490"/>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79" name="Rectangle 78"/>
          <p:cNvSpPr/>
          <p:nvPr/>
        </p:nvSpPr>
        <p:spPr>
          <a:xfrm>
            <a:off x="2115566" y="1987840"/>
            <a:ext cx="523874" cy="183185"/>
          </a:xfrm>
          <a:prstGeom prst="rect">
            <a:avLst/>
          </a:prstGeom>
          <a:solidFill>
            <a:srgbClr val="FC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121916" y="1981490"/>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81" name="Rectangle 80"/>
          <p:cNvSpPr/>
          <p:nvPr/>
        </p:nvSpPr>
        <p:spPr>
          <a:xfrm>
            <a:off x="4560570" y="1987840"/>
            <a:ext cx="523875" cy="183185"/>
          </a:xfrm>
          <a:prstGeom prst="rect">
            <a:avLst/>
          </a:prstGeom>
          <a:solidFill>
            <a:srgbClr val="EE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66920" y="1981490"/>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
        <p:nvSpPr>
          <p:cNvPr id="83" name="Rectangle 82"/>
          <p:cNvSpPr/>
          <p:nvPr/>
        </p:nvSpPr>
        <p:spPr>
          <a:xfrm>
            <a:off x="3658870" y="2449790"/>
            <a:ext cx="282575" cy="1329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665220" y="2443440"/>
            <a:ext cx="3168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85" name="Rectangle 84"/>
          <p:cNvSpPr/>
          <p:nvPr/>
        </p:nvSpPr>
        <p:spPr>
          <a:xfrm>
            <a:off x="4898390" y="2449790"/>
            <a:ext cx="193675" cy="1329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904740" y="2443440"/>
            <a:ext cx="2279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87" name="Rectangle 86"/>
          <p:cNvSpPr/>
          <p:nvPr/>
        </p:nvSpPr>
        <p:spPr>
          <a:xfrm>
            <a:off x="3614420" y="3145152"/>
            <a:ext cx="3714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620770" y="3138802"/>
            <a:ext cx="4057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a:t>
            </a:r>
          </a:p>
        </p:txBody>
      </p:sp>
      <p:sp>
        <p:nvSpPr>
          <p:cNvPr id="89" name="Rectangle 88"/>
          <p:cNvSpPr/>
          <p:nvPr/>
        </p:nvSpPr>
        <p:spPr>
          <a:xfrm>
            <a:off x="4542790" y="2649852"/>
            <a:ext cx="904875" cy="130460"/>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49140" y="264350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沿街商铺无人看店服务</a:t>
            </a:r>
          </a:p>
        </p:txBody>
      </p:sp>
      <p:sp>
        <p:nvSpPr>
          <p:cNvPr id="91" name="Rectangle 90"/>
          <p:cNvSpPr/>
          <p:nvPr/>
        </p:nvSpPr>
        <p:spPr>
          <a:xfrm>
            <a:off x="4542790" y="2847972"/>
            <a:ext cx="904875" cy="130460"/>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549140" y="284162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沿街商铺安全消防服务</a:t>
            </a:r>
          </a:p>
        </p:txBody>
      </p:sp>
      <p:sp>
        <p:nvSpPr>
          <p:cNvPr id="93" name="Rectangle 92"/>
          <p:cNvSpPr/>
          <p:nvPr/>
        </p:nvSpPr>
        <p:spPr>
          <a:xfrm>
            <a:off x="4631690" y="3046092"/>
            <a:ext cx="7270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638040" y="3039742"/>
            <a:ext cx="7613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沿街商铺客流服务</a:t>
            </a:r>
          </a:p>
        </p:txBody>
      </p:sp>
      <p:sp>
        <p:nvSpPr>
          <p:cNvPr id="95" name="Rectangle 94"/>
          <p:cNvSpPr/>
          <p:nvPr/>
        </p:nvSpPr>
        <p:spPr>
          <a:xfrm>
            <a:off x="4542790" y="3244212"/>
            <a:ext cx="9048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549140" y="3237862"/>
            <a:ext cx="9391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沿街商铺人脸识别服务</a:t>
            </a:r>
          </a:p>
        </p:txBody>
      </p:sp>
      <p:sp>
        <p:nvSpPr>
          <p:cNvPr id="97" name="Rectangle 96"/>
          <p:cNvSpPr/>
          <p:nvPr/>
        </p:nvSpPr>
        <p:spPr>
          <a:xfrm>
            <a:off x="4498340" y="3442332"/>
            <a:ext cx="993775" cy="1304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04690" y="3435982"/>
            <a:ext cx="10280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沿街商铺平台定制化服务</a:t>
            </a:r>
          </a:p>
        </p:txBody>
      </p:sp>
      <p:sp>
        <p:nvSpPr>
          <p:cNvPr id="99" name="Rectangle 98"/>
          <p:cNvSpPr/>
          <p:nvPr/>
        </p:nvSpPr>
        <p:spPr>
          <a:xfrm>
            <a:off x="4453890" y="3640452"/>
            <a:ext cx="1082675" cy="130460"/>
          </a:xfrm>
          <a:prstGeom prst="rect">
            <a:avLst/>
          </a:prstGeom>
          <a:solidFill>
            <a:srgbClr val="E7E7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460240" y="3634102"/>
            <a:ext cx="11169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沿街商铺平台终端接入调试</a:t>
            </a:r>
          </a:p>
        </p:txBody>
      </p:sp>
      <p:sp>
        <p:nvSpPr>
          <p:cNvPr id="101" name="Rectangle 100"/>
          <p:cNvSpPr/>
          <p:nvPr/>
        </p:nvSpPr>
        <p:spPr>
          <a:xfrm>
            <a:off x="3660444" y="4442509"/>
            <a:ext cx="282575" cy="132931"/>
          </a:xfrm>
          <a:prstGeom prst="rect">
            <a:avLst/>
          </a:prstGeom>
          <a:solidFill>
            <a:srgbClr val="A9A9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666794" y="4436159"/>
            <a:ext cx="3168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服务包</a:t>
            </a:r>
          </a:p>
        </p:txBody>
      </p:sp>
      <p:sp>
        <p:nvSpPr>
          <p:cNvPr id="103" name="Rectangle 102"/>
          <p:cNvSpPr/>
          <p:nvPr/>
        </p:nvSpPr>
        <p:spPr>
          <a:xfrm>
            <a:off x="4899964" y="4442509"/>
            <a:ext cx="193675" cy="132931"/>
          </a:xfrm>
          <a:prstGeom prst="rect">
            <a:avLst/>
          </a:prstGeom>
          <a:solidFill>
            <a:srgbClr val="FB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906314" y="4436159"/>
            <a:ext cx="227965" cy="141821"/>
          </a:xfrm>
          <a:prstGeom prst="rect">
            <a:avLst/>
          </a:prstGeom>
          <a:noFill/>
        </p:spPr>
        <p:txBody>
          <a:bodyPr wrap="none" lIns="0" rIns="0" tIns="0" bIns="0">
            <a:spAutoFit/>
          </a:bodyPr>
          <a:lstStyle/>
          <a:p>
            <a:pPr>
              <a:lnSpc>
                <a:spcPct val="100000"/>
              </a:lnSpc>
              <a:spcBef>
                <a:spcPts val="0"/>
              </a:spcBef>
              <a:spcAft>
                <a:spcPts val="0"/>
              </a:spcAft>
            </a:pPr>
            <a:r>
              <a:rPr sz="695" b="1" i="0">
                <a:solidFill>
                  <a:srgbClr val="000000"/>
                </a:solidFill>
                <a:latin typeface="Microsoft YaHei"/>
              </a:rPr>
              <a:t>条目</a:t>
            </a:r>
          </a:p>
        </p:txBody>
      </p:sp>
      <p:sp>
        <p:nvSpPr>
          <p:cNvPr id="105" name="Rectangle 104"/>
          <p:cNvSpPr/>
          <p:nvPr/>
        </p:nvSpPr>
        <p:spPr>
          <a:xfrm>
            <a:off x="3571544" y="4886411"/>
            <a:ext cx="460375" cy="130460"/>
          </a:xfrm>
          <a:prstGeom prst="rect">
            <a:avLst/>
          </a:prstGeom>
          <a:solidFill>
            <a:srgbClr val="707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577894" y="4880061"/>
            <a:ext cx="4946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a:t>
            </a:r>
          </a:p>
        </p:txBody>
      </p:sp>
      <p:sp>
        <p:nvSpPr>
          <p:cNvPr id="107" name="Rectangle 106"/>
          <p:cNvSpPr/>
          <p:nvPr/>
        </p:nvSpPr>
        <p:spPr>
          <a:xfrm>
            <a:off x="4499914" y="4642571"/>
            <a:ext cx="9937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506264" y="4636221"/>
            <a:ext cx="10280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泛视频安防平台入驻部署</a:t>
            </a:r>
          </a:p>
        </p:txBody>
      </p:sp>
      <p:sp>
        <p:nvSpPr>
          <p:cNvPr id="109" name="Rectangle 108"/>
          <p:cNvSpPr/>
          <p:nvPr/>
        </p:nvSpPr>
        <p:spPr>
          <a:xfrm>
            <a:off x="4455464" y="4840691"/>
            <a:ext cx="10826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1814" y="4834341"/>
            <a:ext cx="11169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泛视频安防平台的定制开发</a:t>
            </a:r>
          </a:p>
        </p:txBody>
      </p:sp>
      <p:sp>
        <p:nvSpPr>
          <p:cNvPr id="111" name="Rectangle 110"/>
          <p:cNvSpPr/>
          <p:nvPr/>
        </p:nvSpPr>
        <p:spPr>
          <a:xfrm>
            <a:off x="4233214" y="5038811"/>
            <a:ext cx="1527175" cy="1304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239564" y="5032461"/>
            <a:ext cx="15614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泛视频安防客户侧系统的对接集成开发</a:t>
            </a:r>
          </a:p>
        </p:txBody>
      </p:sp>
      <p:sp>
        <p:nvSpPr>
          <p:cNvPr id="113" name="Rectangle 112"/>
          <p:cNvSpPr/>
          <p:nvPr/>
        </p:nvSpPr>
        <p:spPr>
          <a:xfrm>
            <a:off x="4411014" y="5236931"/>
            <a:ext cx="1171575" cy="1304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417364" y="5230581"/>
            <a:ext cx="1205865" cy="139350"/>
          </a:xfrm>
          <a:prstGeom prst="rect">
            <a:avLst/>
          </a:prstGeom>
          <a:noFill/>
        </p:spPr>
        <p:txBody>
          <a:bodyPr wrap="none" lIns="0" rIns="0" tIns="0" bIns="0">
            <a:spAutoFit/>
          </a:bodyPr>
          <a:lstStyle/>
          <a:p>
            <a:pPr>
              <a:lnSpc>
                <a:spcPct val="100000"/>
              </a:lnSpc>
              <a:spcBef>
                <a:spcPts val="0"/>
              </a:spcBef>
              <a:spcAft>
                <a:spcPts val="0"/>
              </a:spcAft>
            </a:pPr>
            <a:r>
              <a:rPr sz="695" b="0" i="0">
                <a:solidFill>
                  <a:srgbClr val="000000"/>
                </a:solidFill>
                <a:latin typeface="Microsoft YaHei"/>
              </a:rPr>
              <a:t>泛视频安防平台终端接入调试</a:t>
            </a:r>
          </a:p>
        </p:txBody>
      </p:sp>
      <p:sp>
        <p:nvSpPr>
          <p:cNvPr id="115" name="Rectangle 114"/>
          <p:cNvSpPr/>
          <p:nvPr/>
        </p:nvSpPr>
        <p:spPr>
          <a:xfrm>
            <a:off x="3500754" y="2197864"/>
            <a:ext cx="2455544" cy="14849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07104" y="2191514"/>
            <a:ext cx="2489834" cy="1573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主要按行业产品功能形态、应用场景分类设计资费条目</a:t>
            </a:r>
          </a:p>
        </p:txBody>
      </p:sp>
      <p:sp>
        <p:nvSpPr>
          <p:cNvPr id="117" name="Rectangle 116"/>
          <p:cNvSpPr/>
          <p:nvPr/>
        </p:nvSpPr>
        <p:spPr>
          <a:xfrm>
            <a:off x="3549256" y="4208007"/>
            <a:ext cx="1642744" cy="148495"/>
          </a:xfrm>
          <a:prstGeom prst="rect">
            <a:avLst/>
          </a:prstGeom>
          <a:solidFill>
            <a:srgbClr val="E2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555606" y="4201657"/>
            <a:ext cx="1677034" cy="157385"/>
          </a:xfrm>
          <a:prstGeom prst="rect">
            <a:avLst/>
          </a:prstGeom>
          <a:noFill/>
        </p:spPr>
        <p:txBody>
          <a:bodyPr wrap="none" lIns="0" rIns="0" tIns="0" bIns="0">
            <a:spAutoFit/>
          </a:bodyPr>
          <a:lstStyle/>
          <a:p>
            <a:pPr>
              <a:lnSpc>
                <a:spcPct val="100000"/>
              </a:lnSpc>
              <a:spcBef>
                <a:spcPts val="0"/>
              </a:spcBef>
              <a:spcAft>
                <a:spcPts val="0"/>
              </a:spcAft>
            </a:pPr>
            <a:r>
              <a:rPr sz="805" b="0" i="0">
                <a:solidFill>
                  <a:srgbClr val="000000"/>
                </a:solidFill>
                <a:latin typeface="Microsoft YaHei"/>
              </a:rPr>
              <a:t>延用系统集成、部署等通用资费条目</a:t>
            </a:r>
          </a:p>
        </p:txBody>
      </p:sp>
      <p:sp>
        <p:nvSpPr>
          <p:cNvPr id="119" name="Rectangle 118"/>
          <p:cNvSpPr/>
          <p:nvPr/>
        </p:nvSpPr>
        <p:spPr>
          <a:xfrm>
            <a:off x="8159115" y="2027124"/>
            <a:ext cx="1958974" cy="201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8165465" y="2020774"/>
            <a:ext cx="199326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标准一：标准化服务/DICT项目</a:t>
            </a:r>
          </a:p>
        </p:txBody>
      </p:sp>
      <p:sp>
        <p:nvSpPr>
          <p:cNvPr id="121" name="Rectangle 120"/>
          <p:cNvSpPr/>
          <p:nvPr/>
        </p:nvSpPr>
        <p:spPr>
          <a:xfrm>
            <a:off x="6630034" y="2323564"/>
            <a:ext cx="4117283"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636384" y="2317214"/>
            <a:ext cx="4151573"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1、生态硬件融合 AIoT 平台或自有 SaaS 能力：设备接入率不得低于10%</a:t>
            </a:r>
          </a:p>
        </p:txBody>
      </p:sp>
      <p:sp>
        <p:nvSpPr>
          <p:cNvPr id="123" name="Rectangle 122"/>
          <p:cNvSpPr/>
          <p:nvPr/>
        </p:nvSpPr>
        <p:spPr>
          <a:xfrm>
            <a:off x="6630034" y="2552164"/>
            <a:ext cx="2122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636384" y="2545814"/>
            <a:ext cx="2156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2、生态硬件融合自研芯片、模组产品</a:t>
            </a:r>
          </a:p>
        </p:txBody>
      </p:sp>
      <p:sp>
        <p:nvSpPr>
          <p:cNvPr id="125" name="Rectangle 124"/>
          <p:cNvSpPr/>
          <p:nvPr/>
        </p:nvSpPr>
        <p:spPr>
          <a:xfrm>
            <a:off x="6630034" y="2780764"/>
            <a:ext cx="2817439"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636384" y="2774414"/>
            <a:ext cx="285172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3、使用自研产品：自研产品金额占比不得低于5%</a:t>
            </a:r>
          </a:p>
        </p:txBody>
      </p:sp>
      <p:sp>
        <p:nvSpPr>
          <p:cNvPr id="127" name="Rectangle 126"/>
          <p:cNvSpPr/>
          <p:nvPr/>
        </p:nvSpPr>
        <p:spPr>
          <a:xfrm>
            <a:off x="8541384" y="3101544"/>
            <a:ext cx="1194434" cy="201612"/>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8547734" y="3095194"/>
            <a:ext cx="1228725" cy="210502"/>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008CFF"/>
                </a:solidFill>
                <a:latin typeface="Microsoft YaHei"/>
              </a:rPr>
              <a:t>标准二：DICT项目</a:t>
            </a:r>
          </a:p>
        </p:txBody>
      </p:sp>
      <p:sp>
        <p:nvSpPr>
          <p:cNvPr id="129" name="Rectangle 128"/>
          <p:cNvSpPr/>
          <p:nvPr/>
        </p:nvSpPr>
        <p:spPr>
          <a:xfrm>
            <a:off x="6630034" y="3486680"/>
            <a:ext cx="2684145" cy="179647"/>
          </a:xfrm>
          <a:prstGeom prst="rect">
            <a:avLst/>
          </a:prstGeom>
          <a:solidFill>
            <a:srgbClr val="FB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636384" y="3480330"/>
            <a:ext cx="271843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1、自主集成：我司作为总集成方中标/支撑项目</a:t>
            </a:r>
          </a:p>
        </p:txBody>
      </p:sp>
      <p:sp>
        <p:nvSpPr>
          <p:cNvPr id="131" name="Rectangle 130"/>
          <p:cNvSpPr/>
          <p:nvPr/>
        </p:nvSpPr>
        <p:spPr>
          <a:xfrm>
            <a:off x="6630034" y="3715280"/>
            <a:ext cx="388620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636384" y="3708930"/>
            <a:ext cx="392049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2、自主交付：参照《中移物联网有限公司 DICT 项目关键文档清单》</a:t>
            </a:r>
          </a:p>
        </p:txBody>
      </p:sp>
      <p:sp>
        <p:nvSpPr>
          <p:cNvPr id="133" name="Rectangle 132"/>
          <p:cNvSpPr/>
          <p:nvPr/>
        </p:nvSpPr>
        <p:spPr>
          <a:xfrm>
            <a:off x="6630034" y="3943880"/>
            <a:ext cx="2757170" cy="179647"/>
          </a:xfrm>
          <a:prstGeom prst="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636384" y="3937530"/>
            <a:ext cx="2791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3、自主研发：体现自有或自控团队负责研发工作</a:t>
            </a:r>
          </a:p>
        </p:txBody>
      </p:sp>
      <p:sp>
        <p:nvSpPr>
          <p:cNvPr id="135" name="Rectangle 134"/>
          <p:cNvSpPr/>
          <p:nvPr/>
        </p:nvSpPr>
        <p:spPr>
          <a:xfrm>
            <a:off x="6630034" y="4172480"/>
            <a:ext cx="3011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636384" y="4166130"/>
            <a:ext cx="3045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4、自主运维：体现自有或自控团队负责运维运营工作</a:t>
            </a:r>
          </a:p>
        </p:txBody>
      </p:sp>
      <p:sp>
        <p:nvSpPr>
          <p:cNvPr id="137" name="Rectangle 136"/>
          <p:cNvSpPr/>
          <p:nvPr/>
        </p:nvSpPr>
        <p:spPr>
          <a:xfrm>
            <a:off x="6283959" y="4591519"/>
            <a:ext cx="60737" cy="18874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290309" y="4585169"/>
            <a:ext cx="10160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139" name="Rectangle 138"/>
          <p:cNvSpPr/>
          <p:nvPr/>
        </p:nvSpPr>
        <p:spPr>
          <a:xfrm>
            <a:off x="6455409" y="4589118"/>
            <a:ext cx="5404088" cy="183185"/>
          </a:xfrm>
          <a:prstGeom prst="rect">
            <a:avLst/>
          </a:prstGeom>
          <a:solidFill>
            <a:srgbClr val="3B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6461759" y="4582768"/>
            <a:ext cx="5438378"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“产品定制类”服务包，</a:t>
            </a:r>
            <a:r>
              <a:rPr sz="994" b="1" i="0">
                <a:solidFill>
                  <a:srgbClr val="008CFF"/>
                </a:solidFill>
                <a:latin typeface="Microsoft YaHei"/>
              </a:rPr>
              <a:t>主要按照标准一支撑省侧接入核心平台的融能产品项目；若前向为DICT</a:t>
            </a:r>
          </a:p>
        </p:txBody>
      </p:sp>
      <p:sp>
        <p:nvSpPr>
          <p:cNvPr id="141" name="Rectangle 140"/>
          <p:cNvSpPr/>
          <p:nvPr/>
        </p:nvSpPr>
        <p:spPr>
          <a:xfrm>
            <a:off x="6455409" y="4817718"/>
            <a:ext cx="2936875"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461759" y="4811368"/>
            <a:ext cx="297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项目，可按标准二“四个自主”方式满足融能要求；</a:t>
            </a:r>
          </a:p>
        </p:txBody>
      </p:sp>
      <p:sp>
        <p:nvSpPr>
          <p:cNvPr id="143" name="Rectangle 142"/>
          <p:cNvSpPr/>
          <p:nvPr/>
        </p:nvSpPr>
        <p:spPr>
          <a:xfrm>
            <a:off x="6283959" y="5048719"/>
            <a:ext cx="60737" cy="18874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290309" y="5042369"/>
            <a:ext cx="10160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C00000"/>
                </a:solidFill>
                <a:latin typeface="Microsoft YaHei"/>
              </a:rPr>
              <a:t>•</a:t>
            </a:r>
          </a:p>
        </p:txBody>
      </p:sp>
      <p:sp>
        <p:nvSpPr>
          <p:cNvPr id="145" name="Rectangle 144"/>
          <p:cNvSpPr/>
          <p:nvPr/>
        </p:nvSpPr>
        <p:spPr>
          <a:xfrm>
            <a:off x="6455409" y="5046318"/>
            <a:ext cx="5222875" cy="183185"/>
          </a:xfrm>
          <a:prstGeom prst="rect">
            <a:avLst/>
          </a:prstGeom>
          <a:solidFill>
            <a:srgbClr val="2B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6461759" y="5039968"/>
            <a:ext cx="525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“集成装维类”服务包，</a:t>
            </a:r>
            <a:r>
              <a:rPr sz="994" b="1" i="0">
                <a:solidFill>
                  <a:srgbClr val="008CFF"/>
                </a:solidFill>
                <a:latin typeface="Microsoft YaHei"/>
              </a:rPr>
              <a:t>支撑集成和装维类项目，按标准二“四个自主”方式满足融能要求；</a:t>
            </a:r>
          </a:p>
        </p:txBody>
      </p:sp>
      <p:sp>
        <p:nvSpPr>
          <p:cNvPr id="147" name="Rectangle 146"/>
          <p:cNvSpPr/>
          <p:nvPr/>
        </p:nvSpPr>
        <p:spPr>
          <a:xfrm>
            <a:off x="460006" y="3952302"/>
            <a:ext cx="650874" cy="183185"/>
          </a:xfrm>
          <a:prstGeom prst="rect">
            <a:avLst/>
          </a:prstGeom>
          <a:solidFill>
            <a:srgbClr val="C9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466356" y="3945952"/>
            <a:ext cx="685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服务包分类</a:t>
            </a:r>
          </a:p>
        </p:txBody>
      </p:sp>
      <p:sp>
        <p:nvSpPr>
          <p:cNvPr id="149" name="Rectangle 148"/>
          <p:cNvSpPr/>
          <p:nvPr/>
        </p:nvSpPr>
        <p:spPr>
          <a:xfrm>
            <a:off x="2115566" y="3952302"/>
            <a:ext cx="523874" cy="183185"/>
          </a:xfrm>
          <a:prstGeom prst="rect">
            <a:avLst/>
          </a:prstGeom>
          <a:solidFill>
            <a:srgbClr val="FC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2121916" y="3945952"/>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业务范围</a:t>
            </a:r>
          </a:p>
        </p:txBody>
      </p:sp>
      <p:sp>
        <p:nvSpPr>
          <p:cNvPr id="151" name="Rectangle 150"/>
          <p:cNvSpPr/>
          <p:nvPr/>
        </p:nvSpPr>
        <p:spPr>
          <a:xfrm>
            <a:off x="4544605" y="3952302"/>
            <a:ext cx="523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550955" y="3945952"/>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资费设计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113788" y="1924811"/>
            <a:ext cx="2602992" cy="5638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13788" y="3741420"/>
            <a:ext cx="2598420"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13788" y="5618988"/>
            <a:ext cx="2598420" cy="641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60670" y="194449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60670" y="2828417"/>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54320" y="1950847"/>
            <a:ext cx="12700" cy="235711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63069" y="1950847"/>
            <a:ext cx="12700" cy="235711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60670" y="313067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28740" y="2834767"/>
            <a:ext cx="12700" cy="147319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360670" y="3621532"/>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60670" y="4301616"/>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60670" y="46180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60670" y="530385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54320" y="4624400"/>
            <a:ext cx="12700" cy="18040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863069" y="4624400"/>
            <a:ext cx="12700" cy="18040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60670" y="556674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28740" y="5310200"/>
            <a:ext cx="12700" cy="111823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60670" y="5994730"/>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60670" y="6422085"/>
            <a:ext cx="6508749"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4819" y="1981199"/>
            <a:ext cx="1531619" cy="38709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8469" y="1974850"/>
            <a:ext cx="1543684" cy="39941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80388" y="2366632"/>
            <a:ext cx="101536" cy="5556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4819" y="3863340"/>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8469" y="3857625"/>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79868" y="4251325"/>
            <a:ext cx="101523" cy="5772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4819" y="5747003"/>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8469" y="5741034"/>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4819" y="2923032"/>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9105" y="2916554"/>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79868" y="3309620"/>
            <a:ext cx="101523" cy="55498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4819" y="4805171"/>
            <a:ext cx="1531619" cy="387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9105" y="4799329"/>
            <a:ext cx="1543684" cy="399415"/>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79868" y="5193665"/>
            <a:ext cx="101523" cy="57721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00193" y="2230501"/>
            <a:ext cx="373417" cy="1802891"/>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900193" y="5387568"/>
            <a:ext cx="373417" cy="78295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jpg"/>
          <p:cNvPicPr>
            <a:picLocks noChangeAspect="1"/>
          </p:cNvPicPr>
          <p:nvPr/>
        </p:nvPicPr>
        <p:blipFill>
          <a:blip r:embed="rId3"/>
          <a:stretch>
            <a:fillRect/>
          </a:stretch>
        </p:blipFill>
        <p:spPr>
          <a:xfrm>
            <a:off x="0" y="0"/>
            <a:ext cx="12192000" cy="6858000"/>
          </a:xfrm>
          <a:prstGeom prst="rect">
            <a:avLst/>
          </a:prstGeom>
        </p:spPr>
      </p:pic>
      <p:pic>
        <p:nvPicPr>
          <p:cNvPr id="40" name="Picture 39" descr="image.jpg"/>
          <p:cNvPicPr>
            <a:picLocks noChangeAspect="1"/>
          </p:cNvPicPr>
          <p:nvPr/>
        </p:nvPicPr>
        <p:blipFill>
          <a:blip r:embed="rId4"/>
          <a:stretch>
            <a:fillRect/>
          </a:stretch>
        </p:blipFill>
        <p:spPr>
          <a:xfrm>
            <a:off x="126492" y="277368"/>
            <a:ext cx="341376" cy="467868"/>
          </a:xfrm>
          <a:prstGeom prst="rect">
            <a:avLst/>
          </a:prstGeom>
        </p:spPr>
      </p:pic>
      <p:pic>
        <p:nvPicPr>
          <p:cNvPr id="41" name="Picture 40" descr="image.jpg"/>
          <p:cNvPicPr>
            <a:picLocks noChangeAspect="1"/>
          </p:cNvPicPr>
          <p:nvPr/>
        </p:nvPicPr>
        <p:blipFill>
          <a:blip r:embed="rId5"/>
          <a:stretch>
            <a:fillRect/>
          </a:stretch>
        </p:blipFill>
        <p:spPr>
          <a:xfrm>
            <a:off x="9610343" y="230124"/>
            <a:ext cx="2581656" cy="557783"/>
          </a:xfrm>
          <a:prstGeom prst="rect">
            <a:avLst/>
          </a:prstGeom>
        </p:spPr>
      </p:pic>
      <p:pic>
        <p:nvPicPr>
          <p:cNvPr id="42" name="Picture 41" descr="image.jpg"/>
          <p:cNvPicPr>
            <a:picLocks noChangeAspect="1"/>
          </p:cNvPicPr>
          <p:nvPr/>
        </p:nvPicPr>
        <p:blipFill>
          <a:blip r:embed="rId6"/>
          <a:stretch>
            <a:fillRect/>
          </a:stretch>
        </p:blipFill>
        <p:spPr>
          <a:xfrm>
            <a:off x="10216895" y="365759"/>
            <a:ext cx="1784604" cy="288036"/>
          </a:xfrm>
          <a:prstGeom prst="rect">
            <a:avLst/>
          </a:prstGeom>
        </p:spPr>
      </p:pic>
      <p:sp>
        <p:nvSpPr>
          <p:cNvPr id="43" name="Rectangle 42"/>
          <p:cNvSpPr/>
          <p:nvPr/>
        </p:nvSpPr>
        <p:spPr>
          <a:xfrm>
            <a:off x="11854421" y="6655904"/>
            <a:ext cx="80061" cy="180072"/>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3</a:t>
            </a:r>
          </a:p>
        </p:txBody>
      </p:sp>
      <p:sp>
        <p:nvSpPr>
          <p:cNvPr id="45" name="Rectangle 44"/>
          <p:cNvSpPr/>
          <p:nvPr/>
        </p:nvSpPr>
        <p:spPr>
          <a:xfrm>
            <a:off x="699935" y="326061"/>
            <a:ext cx="6367132" cy="3523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6285" y="319711"/>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二、千里眼属地“集成装维类”服务包规划上架责任分工</a:t>
            </a:r>
          </a:p>
        </p:txBody>
      </p:sp>
      <p:sp>
        <p:nvSpPr>
          <p:cNvPr id="47" name="Rectangle 46"/>
          <p:cNvSpPr/>
          <p:nvPr/>
        </p:nvSpPr>
        <p:spPr>
          <a:xfrm>
            <a:off x="791375" y="1000074"/>
            <a:ext cx="78962" cy="25971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7725" y="993724"/>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49" name="Rectangle 48"/>
          <p:cNvSpPr/>
          <p:nvPr/>
        </p:nvSpPr>
        <p:spPr>
          <a:xfrm>
            <a:off x="1077125" y="996684"/>
            <a:ext cx="9516732"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3475" y="990334"/>
            <a:ext cx="9551022"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视频部负责统筹管理千里眼产品线DICT服务包，根据属地业务需求，由</a:t>
            </a:r>
            <a:r>
              <a:rPr sz="1405" b="1" i="0">
                <a:solidFill>
                  <a:srgbClr val="C00000"/>
                </a:solidFill>
                <a:latin typeface="Microsoft YaHei"/>
              </a:rPr>
              <a:t>产创中心负责属地“集成装维类”服务包规划设计</a:t>
            </a:r>
          </a:p>
        </p:txBody>
      </p:sp>
      <p:sp>
        <p:nvSpPr>
          <p:cNvPr id="51" name="Rectangle 50"/>
          <p:cNvSpPr/>
          <p:nvPr/>
        </p:nvSpPr>
        <p:spPr>
          <a:xfrm>
            <a:off x="791375" y="1320114"/>
            <a:ext cx="78962" cy="25971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7725" y="1313764"/>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53" name="Rectangle 52"/>
          <p:cNvSpPr/>
          <p:nvPr/>
        </p:nvSpPr>
        <p:spPr>
          <a:xfrm>
            <a:off x="1077125" y="1316724"/>
            <a:ext cx="8373732"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83475" y="1310374"/>
            <a:ext cx="8408022"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上架阶段，产创中心负责需求立项上会、甄选属地合作伙伴，视频部负责评估上架需求、推进业支系统改造</a:t>
            </a:r>
          </a:p>
        </p:txBody>
      </p:sp>
      <p:sp>
        <p:nvSpPr>
          <p:cNvPr id="55" name="Rectangle 54"/>
          <p:cNvSpPr/>
          <p:nvPr/>
        </p:nvSpPr>
        <p:spPr>
          <a:xfrm>
            <a:off x="2199004" y="1912275"/>
            <a:ext cx="2252980"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05354" y="1905925"/>
            <a:ext cx="2287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差异点1：产创中心按需规划千里眼属地</a:t>
            </a:r>
          </a:p>
        </p:txBody>
      </p:sp>
      <p:sp>
        <p:nvSpPr>
          <p:cNvPr id="57" name="Rectangle 56"/>
          <p:cNvSpPr/>
          <p:nvPr/>
        </p:nvSpPr>
        <p:spPr>
          <a:xfrm>
            <a:off x="2199004" y="2140875"/>
            <a:ext cx="2428875"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05354" y="2134525"/>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“集成装维类”服务包，提交视频部进行初</a:t>
            </a:r>
          </a:p>
        </p:txBody>
      </p:sp>
      <p:sp>
        <p:nvSpPr>
          <p:cNvPr id="59" name="Rectangle 58"/>
          <p:cNvSpPr/>
          <p:nvPr/>
        </p:nvSpPr>
        <p:spPr>
          <a:xfrm>
            <a:off x="2199004" y="2369475"/>
            <a:ext cx="142874"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205354" y="2363125"/>
            <a:ext cx="177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审</a:t>
            </a:r>
          </a:p>
        </p:txBody>
      </p:sp>
      <p:sp>
        <p:nvSpPr>
          <p:cNvPr id="61" name="Rectangle 60"/>
          <p:cNvSpPr/>
          <p:nvPr/>
        </p:nvSpPr>
        <p:spPr>
          <a:xfrm>
            <a:off x="2199004" y="3665510"/>
            <a:ext cx="2379980" cy="183185"/>
          </a:xfrm>
          <a:prstGeom prst="rect">
            <a:avLst/>
          </a:prstGeom>
          <a:solidFill>
            <a:srgbClr val="63B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05354" y="3659160"/>
            <a:ext cx="2414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差异点2：千里眼属地“集成装维类”服务</a:t>
            </a:r>
          </a:p>
        </p:txBody>
      </p:sp>
      <p:sp>
        <p:nvSpPr>
          <p:cNvPr id="63" name="Rectangle 62"/>
          <p:cNvSpPr/>
          <p:nvPr/>
        </p:nvSpPr>
        <p:spPr>
          <a:xfrm>
            <a:off x="2199004" y="3894110"/>
            <a:ext cx="2428875" cy="183185"/>
          </a:xfrm>
          <a:prstGeom prst="rect">
            <a:avLst/>
          </a:prstGeom>
          <a:solidFill>
            <a:srgbClr val="A0D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05354" y="3887760"/>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包由产创中心立项上会，形成甄选方案，视</a:t>
            </a:r>
          </a:p>
        </p:txBody>
      </p:sp>
      <p:sp>
        <p:nvSpPr>
          <p:cNvPr id="65" name="Rectangle 64"/>
          <p:cNvSpPr/>
          <p:nvPr/>
        </p:nvSpPr>
        <p:spPr>
          <a:xfrm>
            <a:off x="2199004" y="4122710"/>
            <a:ext cx="1412875" cy="18318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05354" y="4116360"/>
            <a:ext cx="144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频部及相关管理部门列席</a:t>
            </a:r>
          </a:p>
        </p:txBody>
      </p:sp>
      <p:sp>
        <p:nvSpPr>
          <p:cNvPr id="67" name="Rectangle 66"/>
          <p:cNvSpPr/>
          <p:nvPr/>
        </p:nvSpPr>
        <p:spPr>
          <a:xfrm>
            <a:off x="2199004" y="5645440"/>
            <a:ext cx="2379980" cy="183185"/>
          </a:xfrm>
          <a:prstGeom prst="rect">
            <a:avLst/>
          </a:prstGeom>
          <a:solidFill>
            <a:srgbClr val="B8D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05354" y="5639090"/>
            <a:ext cx="2414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差异点3：通过公司决策后，产创中心向视</a:t>
            </a:r>
          </a:p>
        </p:txBody>
      </p:sp>
      <p:sp>
        <p:nvSpPr>
          <p:cNvPr id="69" name="Rectangle 68"/>
          <p:cNvSpPr/>
          <p:nvPr/>
        </p:nvSpPr>
        <p:spPr>
          <a:xfrm>
            <a:off x="2199004" y="5874040"/>
            <a:ext cx="2428875" cy="183185"/>
          </a:xfrm>
          <a:prstGeom prst="rect">
            <a:avLst/>
          </a:prstGeom>
          <a:solidFill>
            <a:srgbClr val="33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05354" y="5867690"/>
            <a:ext cx="246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频部提交服务包上架需求，视频部统筹推进</a:t>
            </a:r>
          </a:p>
        </p:txBody>
      </p:sp>
      <p:sp>
        <p:nvSpPr>
          <p:cNvPr id="71" name="Rectangle 70"/>
          <p:cNvSpPr/>
          <p:nvPr/>
        </p:nvSpPr>
        <p:spPr>
          <a:xfrm>
            <a:off x="2199004" y="6102640"/>
            <a:ext cx="523874"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05354" y="6096290"/>
            <a:ext cx="558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业支改造</a:t>
            </a:r>
          </a:p>
        </p:txBody>
      </p:sp>
      <p:sp>
        <p:nvSpPr>
          <p:cNvPr id="73" name="Rectangle 72"/>
          <p:cNvSpPr/>
          <p:nvPr/>
        </p:nvSpPr>
        <p:spPr>
          <a:xfrm>
            <a:off x="5445759" y="2018447"/>
            <a:ext cx="1666875" cy="183185"/>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452109" y="2012097"/>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千里眼服务包总体规划原则：</a:t>
            </a:r>
          </a:p>
        </p:txBody>
      </p:sp>
      <p:sp>
        <p:nvSpPr>
          <p:cNvPr id="75" name="Rectangle 74"/>
          <p:cNvSpPr/>
          <p:nvPr/>
        </p:nvSpPr>
        <p:spPr>
          <a:xfrm>
            <a:off x="5445759" y="2216567"/>
            <a:ext cx="4662170" cy="183185"/>
          </a:xfrm>
          <a:prstGeom prst="rect">
            <a:avLst/>
          </a:prstGeom>
          <a:solidFill>
            <a:srgbClr val="C9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52109" y="2210217"/>
            <a:ext cx="4696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1、产创中心属地</a:t>
            </a:r>
            <a:r>
              <a:rPr sz="994" b="1" i="0">
                <a:solidFill>
                  <a:srgbClr val="C00000"/>
                </a:solidFill>
                <a:latin typeface="Microsoft YaHei"/>
              </a:rPr>
              <a:t>“集成装维类”服务包仅可支撑属地化简单集成及属地装维类业务</a:t>
            </a:r>
          </a:p>
        </p:txBody>
      </p:sp>
      <p:sp>
        <p:nvSpPr>
          <p:cNvPr id="77" name="Rectangle 76"/>
          <p:cNvSpPr/>
          <p:nvPr/>
        </p:nvSpPr>
        <p:spPr>
          <a:xfrm>
            <a:off x="5445759" y="2414687"/>
            <a:ext cx="6313170" cy="183185"/>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52109" y="2408337"/>
            <a:ext cx="6347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视频类核心产品</a:t>
            </a:r>
            <a:r>
              <a:rPr sz="994" b="0" i="0">
                <a:solidFill>
                  <a:srgbClr val="000000"/>
                </a:solidFill>
                <a:latin typeface="Microsoft YaHei"/>
              </a:rPr>
              <a:t>，如监控摄像头、视频存储设备等，属于视频部业务范围，客户有相关需求时，应优先使用视</a:t>
            </a:r>
          </a:p>
        </p:txBody>
      </p:sp>
      <p:sp>
        <p:nvSpPr>
          <p:cNvPr id="79" name="Rectangle 78"/>
          <p:cNvSpPr/>
          <p:nvPr/>
        </p:nvSpPr>
        <p:spPr>
          <a:xfrm>
            <a:off x="5445759" y="2612807"/>
            <a:ext cx="6111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52109" y="2606457"/>
            <a:ext cx="6146165"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频部负责的服务包进行支撑，</a:t>
            </a:r>
            <a:r>
              <a:rPr sz="994" b="1" i="0">
                <a:solidFill>
                  <a:srgbClr val="C00000"/>
                </a:solidFill>
                <a:latin typeface="Microsoft YaHei"/>
              </a:rPr>
              <a:t>视频部邮件明确无法支撑的产品需求，使用属地“集成装维类”服务包进行交付</a:t>
            </a:r>
          </a:p>
        </p:txBody>
      </p:sp>
      <p:sp>
        <p:nvSpPr>
          <p:cNvPr id="81" name="Rectangle 80"/>
          <p:cNvSpPr/>
          <p:nvPr/>
        </p:nvSpPr>
        <p:spPr>
          <a:xfrm>
            <a:off x="5764529" y="2894112"/>
            <a:ext cx="269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770879" y="2887762"/>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83" name="Rectangle 82"/>
          <p:cNvSpPr/>
          <p:nvPr/>
        </p:nvSpPr>
        <p:spPr>
          <a:xfrm>
            <a:off x="8891905" y="2894112"/>
            <a:ext cx="523875" cy="183185"/>
          </a:xfrm>
          <a:prstGeom prst="rect">
            <a:avLst/>
          </a:prstGeom>
          <a:solidFill>
            <a:srgbClr val="E7E7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98255" y="2887762"/>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85" name="Rectangle 84"/>
          <p:cNvSpPr/>
          <p:nvPr/>
        </p:nvSpPr>
        <p:spPr>
          <a:xfrm>
            <a:off x="5445759" y="3293132"/>
            <a:ext cx="396875" cy="179647"/>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452109" y="3286782"/>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87" name="Rectangle 86"/>
          <p:cNvSpPr/>
          <p:nvPr/>
        </p:nvSpPr>
        <p:spPr>
          <a:xfrm>
            <a:off x="6520180" y="3214152"/>
            <a:ext cx="2630169"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526530" y="3207802"/>
            <a:ext cx="2664459"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1、评估</a:t>
            </a:r>
            <a:r>
              <a:rPr sz="994" b="1" i="0">
                <a:solidFill>
                  <a:srgbClr val="C00000"/>
                </a:solidFill>
                <a:latin typeface="Microsoft YaHei"/>
              </a:rPr>
              <a:t>服务包规划是否符合千里眼产品线规划</a:t>
            </a:r>
          </a:p>
        </p:txBody>
      </p:sp>
      <p:sp>
        <p:nvSpPr>
          <p:cNvPr id="89" name="Rectangle 88"/>
          <p:cNvSpPr/>
          <p:nvPr/>
        </p:nvSpPr>
        <p:spPr>
          <a:xfrm>
            <a:off x="6520180" y="3369332"/>
            <a:ext cx="2884169"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526530" y="3362982"/>
            <a:ext cx="2918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2、评估服务包规划业务范围是否超出规划原则限制</a:t>
            </a:r>
          </a:p>
        </p:txBody>
      </p:sp>
      <p:sp>
        <p:nvSpPr>
          <p:cNvPr id="91" name="Rectangle 90"/>
          <p:cNvSpPr/>
          <p:nvPr/>
        </p:nvSpPr>
        <p:spPr>
          <a:xfrm>
            <a:off x="5445759" y="3878602"/>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452109" y="3872252"/>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93" name="Rectangle 92"/>
          <p:cNvSpPr/>
          <p:nvPr/>
        </p:nvSpPr>
        <p:spPr>
          <a:xfrm>
            <a:off x="6520180" y="3726202"/>
            <a:ext cx="5170169" cy="179647"/>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526530" y="3719852"/>
            <a:ext cx="5204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1、结合本部门业务发展及与千里眼产品业务关系，规划本部门需要上架的“集成装维类”服</a:t>
            </a:r>
          </a:p>
        </p:txBody>
      </p:sp>
      <p:sp>
        <p:nvSpPr>
          <p:cNvPr id="95" name="Rectangle 94"/>
          <p:cNvSpPr/>
          <p:nvPr/>
        </p:nvSpPr>
        <p:spPr>
          <a:xfrm>
            <a:off x="6520180" y="3878602"/>
            <a:ext cx="269875" cy="179647"/>
          </a:xfrm>
          <a:prstGeom prst="rect">
            <a:avLst/>
          </a:prstGeom>
          <a:solidFill>
            <a:srgbClr val="D7D7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526530" y="3872252"/>
            <a:ext cx="304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务包</a:t>
            </a:r>
          </a:p>
        </p:txBody>
      </p:sp>
      <p:sp>
        <p:nvSpPr>
          <p:cNvPr id="97" name="Rectangle 96"/>
          <p:cNvSpPr/>
          <p:nvPr/>
        </p:nvSpPr>
        <p:spPr>
          <a:xfrm>
            <a:off x="6520180" y="4031002"/>
            <a:ext cx="4408169" cy="179647"/>
          </a:xfrm>
          <a:prstGeom prst="rect">
            <a:avLst/>
          </a:prstGeom>
          <a:solidFill>
            <a:srgbClr val="949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526530" y="4024652"/>
            <a:ext cx="4442459"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2、与视频部沟通服务包业务规划合理性，视频部同意后方可进行后续工作推进</a:t>
            </a:r>
          </a:p>
        </p:txBody>
      </p:sp>
      <p:sp>
        <p:nvSpPr>
          <p:cNvPr id="99" name="Rectangle 98"/>
          <p:cNvSpPr/>
          <p:nvPr/>
        </p:nvSpPr>
        <p:spPr>
          <a:xfrm>
            <a:off x="5445759" y="4692001"/>
            <a:ext cx="1539875" cy="183185"/>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452109" y="4685651"/>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服务包业支上架管理说明：</a:t>
            </a:r>
          </a:p>
        </p:txBody>
      </p:sp>
      <p:sp>
        <p:nvSpPr>
          <p:cNvPr id="101" name="Rectangle 100"/>
          <p:cNvSpPr/>
          <p:nvPr/>
        </p:nvSpPr>
        <p:spPr>
          <a:xfrm>
            <a:off x="5445759" y="4892521"/>
            <a:ext cx="6224905" cy="18874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452109" y="4886171"/>
            <a:ext cx="6259195"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因集团</a:t>
            </a:r>
            <a:r>
              <a:rPr sz="994" b="0" i="0">
                <a:solidFill>
                  <a:srgbClr val="000000"/>
                </a:solidFill>
                <a:latin typeface="Microsoft YaHei"/>
              </a:rPr>
              <a:t>IT</a:t>
            </a:r>
            <a:r>
              <a:rPr sz="994" b="0" i="0">
                <a:solidFill>
                  <a:srgbClr val="000000"/>
                </a:solidFill>
                <a:latin typeface="Microsoft YaHei"/>
              </a:rPr>
              <a:t>需求管理变更，目前还未明确千里眼产品需求管理流程，各部门需提前计划报备上架需求，待流程确定</a:t>
            </a:r>
          </a:p>
        </p:txBody>
      </p:sp>
      <p:sp>
        <p:nvSpPr>
          <p:cNvPr id="103" name="Rectangle 102"/>
          <p:cNvSpPr/>
          <p:nvPr/>
        </p:nvSpPr>
        <p:spPr>
          <a:xfrm>
            <a:off x="5445759" y="5091021"/>
            <a:ext cx="2174875" cy="179647"/>
          </a:xfrm>
          <a:prstGeom prst="rect">
            <a:avLst/>
          </a:prstGeom>
          <a:solidFill>
            <a:srgbClr val="7B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452109" y="5084671"/>
            <a:ext cx="220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后，视频部将进一步明确相关机制流程</a:t>
            </a:r>
          </a:p>
        </p:txBody>
      </p:sp>
      <p:sp>
        <p:nvSpPr>
          <p:cNvPr id="105" name="Rectangle 104"/>
          <p:cNvSpPr/>
          <p:nvPr/>
        </p:nvSpPr>
        <p:spPr>
          <a:xfrm>
            <a:off x="5764529" y="5340336"/>
            <a:ext cx="269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770879" y="5333986"/>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107" name="Rectangle 106"/>
          <p:cNvSpPr/>
          <p:nvPr/>
        </p:nvSpPr>
        <p:spPr>
          <a:xfrm>
            <a:off x="8891905" y="5340336"/>
            <a:ext cx="523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898255" y="5333986"/>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109" name="Rectangle 108"/>
          <p:cNvSpPr/>
          <p:nvPr/>
        </p:nvSpPr>
        <p:spPr>
          <a:xfrm>
            <a:off x="5445759" y="5698081"/>
            <a:ext cx="396875" cy="179647"/>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452109" y="5691731"/>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111" name="Rectangle 110"/>
          <p:cNvSpPr/>
          <p:nvPr/>
        </p:nvSpPr>
        <p:spPr>
          <a:xfrm>
            <a:off x="6520180" y="5603226"/>
            <a:ext cx="5039359" cy="191146"/>
          </a:xfrm>
          <a:prstGeom prst="rect">
            <a:avLst/>
          </a:prstGeom>
          <a:solidFill>
            <a:srgbClr val="FC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526530" y="5596876"/>
            <a:ext cx="5073650" cy="200036"/>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、收集各部门潜在服务包上架需求；</a:t>
            </a:r>
            <a:r>
              <a:rPr sz="994" b="1" i="0">
                <a:solidFill>
                  <a:srgbClr val="C00000"/>
                </a:solidFill>
                <a:latin typeface="Microsoft YaHei"/>
              </a:rPr>
              <a:t>向集团汇报千里眼服务包上架规划</a:t>
            </a:r>
            <a:r>
              <a:rPr sz="994" b="0" i="0">
                <a:solidFill>
                  <a:srgbClr val="000000"/>
                </a:solidFill>
                <a:latin typeface="Microsoft YaHei"/>
              </a:rPr>
              <a:t>，沟通相关流程；</a:t>
            </a:r>
          </a:p>
        </p:txBody>
      </p:sp>
      <p:sp>
        <p:nvSpPr>
          <p:cNvPr id="113" name="Rectangle 112"/>
          <p:cNvSpPr/>
          <p:nvPr/>
        </p:nvSpPr>
        <p:spPr>
          <a:xfrm>
            <a:off x="6520180" y="5758027"/>
            <a:ext cx="2753359" cy="18874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526530" y="5751677"/>
            <a:ext cx="2787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、评估服务包上架时间，跟进服务包上架进度。</a:t>
            </a:r>
          </a:p>
        </p:txBody>
      </p:sp>
      <p:sp>
        <p:nvSpPr>
          <p:cNvPr id="115" name="Rectangle 114"/>
          <p:cNvSpPr/>
          <p:nvPr/>
        </p:nvSpPr>
        <p:spPr>
          <a:xfrm>
            <a:off x="5445759" y="6125436"/>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452109" y="6119086"/>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117" name="Rectangle 116"/>
          <p:cNvSpPr/>
          <p:nvPr/>
        </p:nvSpPr>
        <p:spPr>
          <a:xfrm>
            <a:off x="6520180" y="6033616"/>
            <a:ext cx="2499359" cy="188745"/>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526530" y="6027266"/>
            <a:ext cx="2533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0" i="0">
                <a:solidFill>
                  <a:srgbClr val="000000"/>
                </a:solidFill>
                <a:latin typeface="Microsoft YaHei"/>
              </a:rPr>
              <a:t>、提前规划服务包上架需求，上报视频部；</a:t>
            </a:r>
          </a:p>
        </p:txBody>
      </p:sp>
      <p:sp>
        <p:nvSpPr>
          <p:cNvPr id="119" name="Rectangle 118"/>
          <p:cNvSpPr/>
          <p:nvPr/>
        </p:nvSpPr>
        <p:spPr>
          <a:xfrm>
            <a:off x="6520180" y="6186016"/>
            <a:ext cx="4150359" cy="18874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526530" y="6179666"/>
            <a:ext cx="4184650" cy="19763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0" i="0">
                <a:solidFill>
                  <a:srgbClr val="000000"/>
                </a:solidFill>
                <a:latin typeface="Microsoft YaHei"/>
              </a:rPr>
              <a:t>、配合视频部向集团大视频部汇报服务包上架需求，准备上架相关材料；</a:t>
            </a:r>
          </a:p>
        </p:txBody>
      </p:sp>
      <p:sp>
        <p:nvSpPr>
          <p:cNvPr id="121" name="Rectangle 120"/>
          <p:cNvSpPr/>
          <p:nvPr/>
        </p:nvSpPr>
        <p:spPr>
          <a:xfrm>
            <a:off x="779144" y="2080155"/>
            <a:ext cx="904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85494" y="2073805"/>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服务包规划设计</a:t>
            </a:r>
          </a:p>
        </p:txBody>
      </p:sp>
      <p:sp>
        <p:nvSpPr>
          <p:cNvPr id="123" name="Rectangle 122"/>
          <p:cNvSpPr/>
          <p:nvPr/>
        </p:nvSpPr>
        <p:spPr>
          <a:xfrm>
            <a:off x="779144" y="3962930"/>
            <a:ext cx="904875" cy="179647"/>
          </a:xfrm>
          <a:prstGeom prst="rect">
            <a:avLst/>
          </a:prstGeom>
          <a:solidFill>
            <a:srgbClr val="6B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85494" y="3956580"/>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服务包甄选决策</a:t>
            </a:r>
          </a:p>
        </p:txBody>
      </p:sp>
      <p:sp>
        <p:nvSpPr>
          <p:cNvPr id="125" name="Rectangle 124"/>
          <p:cNvSpPr/>
          <p:nvPr/>
        </p:nvSpPr>
        <p:spPr>
          <a:xfrm>
            <a:off x="969644" y="5846340"/>
            <a:ext cx="523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75994" y="5839990"/>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a:t>
            </a:r>
          </a:p>
        </p:txBody>
      </p:sp>
      <p:sp>
        <p:nvSpPr>
          <p:cNvPr id="127" name="Rectangle 126"/>
          <p:cNvSpPr/>
          <p:nvPr/>
        </p:nvSpPr>
        <p:spPr>
          <a:xfrm>
            <a:off x="589280" y="3021860"/>
            <a:ext cx="1285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95630" y="301551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129" name="Rectangle 128"/>
          <p:cNvSpPr/>
          <p:nvPr/>
        </p:nvSpPr>
        <p:spPr>
          <a:xfrm>
            <a:off x="589280" y="4829070"/>
            <a:ext cx="1285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95630" y="482272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甄选结果及上架需求上</a:t>
            </a:r>
          </a:p>
        </p:txBody>
      </p:sp>
      <p:sp>
        <p:nvSpPr>
          <p:cNvPr id="131" name="Rectangle 130"/>
          <p:cNvSpPr/>
          <p:nvPr/>
        </p:nvSpPr>
        <p:spPr>
          <a:xfrm>
            <a:off x="652780" y="4981470"/>
            <a:ext cx="1158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59130" y="4975120"/>
            <a:ext cx="1193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报集团政企管理部门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23516" y="1825751"/>
            <a:ext cx="2327148" cy="5654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83892" y="2849879"/>
            <a:ext cx="2331719"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89779" y="181863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89779" y="20624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83429"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73420"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792584" y="1824989"/>
            <a:ext cx="12700" cy="792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89779" y="261112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89462" y="389509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89462" y="429132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83112"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75007"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792267" y="3901440"/>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09800" y="4914900"/>
            <a:ext cx="2327147"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89462" y="473519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89462" y="5131434"/>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83112"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773102"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792267" y="4741545"/>
            <a:ext cx="12700" cy="79247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89462" y="552767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89779" y="5971540"/>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89779" y="6304279"/>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83429"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773420"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792584" y="5977890"/>
            <a:ext cx="12700" cy="3327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89462" y="305498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89462" y="3451225"/>
            <a:ext cx="7209155" cy="127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83112"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75007"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792267" y="3061335"/>
            <a:ext cx="12700" cy="396239"/>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183892" y="3840479"/>
            <a:ext cx="2327148" cy="435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2272" y="1825751"/>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6430" y="1818639"/>
            <a:ext cx="1543684" cy="35444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367828" y="2166734"/>
            <a:ext cx="101523" cy="68280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2272" y="2849879"/>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6430" y="2843187"/>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367828" y="5240363"/>
            <a:ext cx="101523" cy="68280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2272" y="5923788"/>
            <a:ext cx="1531619"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6430" y="5916815"/>
            <a:ext cx="1543684" cy="354444"/>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2272" y="4898135"/>
            <a:ext cx="1531619" cy="342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6430" y="4892281"/>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3795" y="3874008"/>
            <a:ext cx="1530096" cy="3413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7065" y="3867734"/>
            <a:ext cx="1543684" cy="354431"/>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367193" y="3191268"/>
            <a:ext cx="101523" cy="6828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66558" y="4215815"/>
            <a:ext cx="101523" cy="68281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03704" y="5931408"/>
            <a:ext cx="2327148" cy="3794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mage.jpg"/>
          <p:cNvPicPr>
            <a:picLocks noChangeAspect="1"/>
          </p:cNvPicPr>
          <p:nvPr/>
        </p:nvPicPr>
        <p:blipFill>
          <a:blip r:embed="rId3"/>
          <a:stretch>
            <a:fillRect/>
          </a:stretch>
        </p:blipFill>
        <p:spPr>
          <a:xfrm>
            <a:off x="0" y="0"/>
            <a:ext cx="12192000" cy="6858000"/>
          </a:xfrm>
          <a:prstGeom prst="rect">
            <a:avLst/>
          </a:prstGeom>
        </p:spPr>
      </p:pic>
      <p:pic>
        <p:nvPicPr>
          <p:cNvPr id="51" name="Picture 50" descr="image.jpg"/>
          <p:cNvPicPr>
            <a:picLocks noChangeAspect="1"/>
          </p:cNvPicPr>
          <p:nvPr/>
        </p:nvPicPr>
        <p:blipFill>
          <a:blip r:embed="rId4"/>
          <a:stretch>
            <a:fillRect/>
          </a:stretch>
        </p:blipFill>
        <p:spPr>
          <a:xfrm>
            <a:off x="126492" y="277368"/>
            <a:ext cx="341376" cy="467868"/>
          </a:xfrm>
          <a:prstGeom prst="rect">
            <a:avLst/>
          </a:prstGeom>
        </p:spPr>
      </p:pic>
      <p:pic>
        <p:nvPicPr>
          <p:cNvPr id="52" name="Picture 51" descr="image.jpg"/>
          <p:cNvPicPr>
            <a:picLocks noChangeAspect="1"/>
          </p:cNvPicPr>
          <p:nvPr/>
        </p:nvPicPr>
        <p:blipFill>
          <a:blip r:embed="rId5"/>
          <a:stretch>
            <a:fillRect/>
          </a:stretch>
        </p:blipFill>
        <p:spPr>
          <a:xfrm>
            <a:off x="9610343" y="230124"/>
            <a:ext cx="2581656" cy="557783"/>
          </a:xfrm>
          <a:prstGeom prst="rect">
            <a:avLst/>
          </a:prstGeom>
        </p:spPr>
      </p:pic>
      <p:pic>
        <p:nvPicPr>
          <p:cNvPr id="53" name="Picture 52" descr="image.jpg"/>
          <p:cNvPicPr>
            <a:picLocks noChangeAspect="1"/>
          </p:cNvPicPr>
          <p:nvPr/>
        </p:nvPicPr>
        <p:blipFill>
          <a:blip r:embed="rId6"/>
          <a:stretch>
            <a:fillRect/>
          </a:stretch>
        </p:blipFill>
        <p:spPr>
          <a:xfrm>
            <a:off x="10216895" y="365759"/>
            <a:ext cx="1784604" cy="288036"/>
          </a:xfrm>
          <a:prstGeom prst="rect">
            <a:avLst/>
          </a:prstGeom>
        </p:spPr>
      </p:pic>
      <p:sp>
        <p:nvSpPr>
          <p:cNvPr id="54" name="Rectangle 53"/>
          <p:cNvSpPr/>
          <p:nvPr/>
        </p:nvSpPr>
        <p:spPr>
          <a:xfrm>
            <a:off x="11854421" y="6655904"/>
            <a:ext cx="80061" cy="180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4</a:t>
            </a:r>
          </a:p>
        </p:txBody>
      </p:sp>
      <p:sp>
        <p:nvSpPr>
          <p:cNvPr id="56" name="Rectangle 55"/>
          <p:cNvSpPr/>
          <p:nvPr/>
        </p:nvSpPr>
        <p:spPr>
          <a:xfrm>
            <a:off x="699935" y="326061"/>
            <a:ext cx="6367132" cy="3523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6285" y="319711"/>
            <a:ext cx="6401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三、千里眼属地“集成装维类”服务包业务交付责任分工</a:t>
            </a:r>
          </a:p>
        </p:txBody>
      </p:sp>
      <p:sp>
        <p:nvSpPr>
          <p:cNvPr id="58" name="Rectangle 57"/>
          <p:cNvSpPr/>
          <p:nvPr/>
        </p:nvSpPr>
        <p:spPr>
          <a:xfrm>
            <a:off x="595045" y="981100"/>
            <a:ext cx="78962" cy="25971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1395" y="974750"/>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60" name="Rectangle 59"/>
          <p:cNvSpPr/>
          <p:nvPr/>
        </p:nvSpPr>
        <p:spPr>
          <a:xfrm>
            <a:off x="880795" y="977710"/>
            <a:ext cx="8018144" cy="251865"/>
          </a:xfrm>
          <a:prstGeom prst="rect">
            <a:avLst/>
          </a:prstGeom>
          <a:solidFill>
            <a:srgbClr val="FEF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7145" y="971360"/>
            <a:ext cx="8052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产创中心负责属地</a:t>
            </a:r>
            <a:r>
              <a:rPr sz="1405" b="1" i="0">
                <a:solidFill>
                  <a:srgbClr val="C00000"/>
                </a:solidFill>
                <a:latin typeface="Microsoft YaHei"/>
              </a:rPr>
              <a:t>“集成装维类”服务包的业务真实性</a:t>
            </a:r>
            <a:r>
              <a:rPr sz="1405" b="1" i="0">
                <a:solidFill>
                  <a:srgbClr val="008CFF"/>
                </a:solidFill>
                <a:latin typeface="Microsoft YaHei"/>
              </a:rPr>
              <a:t>，完成售前沟通及项目交付；视频部</a:t>
            </a:r>
            <a:r>
              <a:rPr sz="1405" b="1" i="0">
                <a:solidFill>
                  <a:srgbClr val="C00000"/>
                </a:solidFill>
                <a:latin typeface="Microsoft YaHei"/>
              </a:rPr>
              <a:t>负管理职责</a:t>
            </a:r>
          </a:p>
        </p:txBody>
      </p:sp>
      <p:sp>
        <p:nvSpPr>
          <p:cNvPr id="62" name="Rectangle 61"/>
          <p:cNvSpPr/>
          <p:nvPr/>
        </p:nvSpPr>
        <p:spPr>
          <a:xfrm>
            <a:off x="595045" y="1301141"/>
            <a:ext cx="78962" cy="259716"/>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1395" y="1294791"/>
            <a:ext cx="113252" cy="268606"/>
          </a:xfrm>
          <a:prstGeom prst="rect">
            <a:avLst/>
          </a:prstGeom>
          <a:noFill/>
        </p:spPr>
        <p:txBody>
          <a:bodyPr wrap="none" lIns="0" rIns="0" tIns="0" bIns="0">
            <a:spAutoFit/>
          </a:bodyPr>
          <a:lstStyle/>
          <a:p>
            <a:pPr>
              <a:lnSpc>
                <a:spcPct val="100000"/>
              </a:lnSpc>
              <a:spcBef>
                <a:spcPts val="0"/>
              </a:spcBef>
              <a:spcAft>
                <a:spcPts val="0"/>
              </a:spcAft>
            </a:pPr>
            <a:r>
              <a:rPr sz="1405" b="0" i="0">
                <a:solidFill>
                  <a:srgbClr val="008CFF"/>
                </a:solidFill>
                <a:latin typeface="Microsoft YaHei"/>
              </a:rPr>
              <a:t>•</a:t>
            </a:r>
          </a:p>
        </p:txBody>
      </p:sp>
      <p:sp>
        <p:nvSpPr>
          <p:cNvPr id="64" name="Rectangle 63"/>
          <p:cNvSpPr/>
          <p:nvPr/>
        </p:nvSpPr>
        <p:spPr>
          <a:xfrm>
            <a:off x="880795" y="1297750"/>
            <a:ext cx="72053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87145" y="1291400"/>
            <a:ext cx="7239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视频部作为千里眼产品线管理部门，负责属地DICT服务包</a:t>
            </a:r>
            <a:r>
              <a:rPr sz="1405" b="1" i="0">
                <a:solidFill>
                  <a:srgbClr val="C00000"/>
                </a:solidFill>
                <a:latin typeface="Microsoft YaHei"/>
              </a:rPr>
              <a:t>交付确认审核，计入订单产品收入</a:t>
            </a:r>
          </a:p>
        </p:txBody>
      </p:sp>
      <p:sp>
        <p:nvSpPr>
          <p:cNvPr id="66" name="Rectangle 65"/>
          <p:cNvSpPr/>
          <p:nvPr/>
        </p:nvSpPr>
        <p:spPr>
          <a:xfrm>
            <a:off x="2308225" y="1813850"/>
            <a:ext cx="2125980" cy="183185"/>
          </a:xfrm>
          <a:prstGeom prst="rect">
            <a:avLst/>
          </a:prstGeom>
          <a:solidFill>
            <a:srgbClr val="EC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314575" y="180750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差异点1：通过“四个自主”标准实现</a:t>
            </a:r>
          </a:p>
        </p:txBody>
      </p:sp>
      <p:sp>
        <p:nvSpPr>
          <p:cNvPr id="68" name="Rectangle 67"/>
          <p:cNvSpPr/>
          <p:nvPr/>
        </p:nvSpPr>
        <p:spPr>
          <a:xfrm>
            <a:off x="2308225" y="2042450"/>
            <a:ext cx="2101850" cy="183185"/>
          </a:xfrm>
          <a:prstGeom prst="rect">
            <a:avLst/>
          </a:prstGeom>
          <a:solidFill>
            <a:srgbClr val="6BB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314575" y="2036100"/>
            <a:ext cx="213614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融能的项目，产创中心按DICT项目管</a:t>
            </a:r>
          </a:p>
        </p:txBody>
      </p:sp>
      <p:sp>
        <p:nvSpPr>
          <p:cNvPr id="70" name="Rectangle 69"/>
          <p:cNvSpPr/>
          <p:nvPr/>
        </p:nvSpPr>
        <p:spPr>
          <a:xfrm>
            <a:off x="2308225" y="2271050"/>
            <a:ext cx="1666875" cy="183185"/>
          </a:xfrm>
          <a:prstGeom prst="rect">
            <a:avLst/>
          </a:prstGeom>
          <a:solidFill>
            <a:srgbClr val="6FB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14575" y="2264700"/>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理要求执行，发起项目预决策</a:t>
            </a:r>
          </a:p>
        </p:txBody>
      </p:sp>
      <p:sp>
        <p:nvSpPr>
          <p:cNvPr id="72" name="Rectangle 71"/>
          <p:cNvSpPr/>
          <p:nvPr/>
        </p:nvSpPr>
        <p:spPr>
          <a:xfrm>
            <a:off x="2269489" y="2859060"/>
            <a:ext cx="212598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275839" y="285271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差异点2：产创中心自行完成属地“集</a:t>
            </a:r>
          </a:p>
        </p:txBody>
      </p:sp>
      <p:sp>
        <p:nvSpPr>
          <p:cNvPr id="74" name="Rectangle 73"/>
          <p:cNvSpPr/>
          <p:nvPr/>
        </p:nvSpPr>
        <p:spPr>
          <a:xfrm>
            <a:off x="2269489" y="3087660"/>
            <a:ext cx="1539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75839" y="3081310"/>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成装维类”服务包接单审核</a:t>
            </a:r>
          </a:p>
        </p:txBody>
      </p:sp>
      <p:sp>
        <p:nvSpPr>
          <p:cNvPr id="76" name="Rectangle 75"/>
          <p:cNvSpPr/>
          <p:nvPr/>
        </p:nvSpPr>
        <p:spPr>
          <a:xfrm>
            <a:off x="5051425" y="1855125"/>
            <a:ext cx="269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57775" y="1848775"/>
            <a:ext cx="30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部门</a:t>
            </a:r>
          </a:p>
        </p:txBody>
      </p:sp>
      <p:sp>
        <p:nvSpPr>
          <p:cNvPr id="78" name="Rectangle 77"/>
          <p:cNvSpPr/>
          <p:nvPr/>
        </p:nvSpPr>
        <p:spPr>
          <a:xfrm>
            <a:off x="8528684" y="1855125"/>
            <a:ext cx="523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35034" y="1848775"/>
            <a:ext cx="558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0000"/>
                </a:solidFill>
                <a:latin typeface="Microsoft YaHei"/>
              </a:rPr>
              <a:t>责任分工</a:t>
            </a:r>
          </a:p>
        </p:txBody>
      </p:sp>
      <p:sp>
        <p:nvSpPr>
          <p:cNvPr id="80" name="Rectangle 79"/>
          <p:cNvSpPr/>
          <p:nvPr/>
        </p:nvSpPr>
        <p:spPr>
          <a:xfrm>
            <a:off x="4924425" y="2254145"/>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930775" y="224779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82" name="Rectangle 81"/>
          <p:cNvSpPr/>
          <p:nvPr/>
        </p:nvSpPr>
        <p:spPr>
          <a:xfrm>
            <a:off x="5864859" y="2098965"/>
            <a:ext cx="5805170" cy="183185"/>
          </a:xfrm>
          <a:prstGeom prst="rect">
            <a:avLst/>
          </a:prstGeom>
          <a:solidFill>
            <a:srgbClr val="FCF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871209" y="2092615"/>
            <a:ext cx="5839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对业务真实性负责</a:t>
            </a:r>
            <a:r>
              <a:rPr sz="994" b="0" i="0">
                <a:solidFill>
                  <a:srgbClr val="000000"/>
                </a:solidFill>
                <a:latin typeface="Microsoft YaHei"/>
              </a:rPr>
              <a:t>，搜集项目信息，包括交付实质内容、客户交付要求、服务包业务订购计划等，保</a:t>
            </a:r>
          </a:p>
        </p:txBody>
      </p:sp>
      <p:sp>
        <p:nvSpPr>
          <p:cNvPr id="84" name="Rectangle 83"/>
          <p:cNvSpPr/>
          <p:nvPr/>
        </p:nvSpPr>
        <p:spPr>
          <a:xfrm>
            <a:off x="5864859" y="2254145"/>
            <a:ext cx="1666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871209" y="2247795"/>
            <a:ext cx="170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证业务符合公司业务管理要求</a:t>
            </a:r>
          </a:p>
        </p:txBody>
      </p:sp>
      <p:sp>
        <p:nvSpPr>
          <p:cNvPr id="86" name="Rectangle 85"/>
          <p:cNvSpPr/>
          <p:nvPr/>
        </p:nvSpPr>
        <p:spPr>
          <a:xfrm>
            <a:off x="5864859" y="2403765"/>
            <a:ext cx="5605145" cy="183185"/>
          </a:xfrm>
          <a:prstGeom prst="rect">
            <a:avLst/>
          </a:prstGeom>
          <a:solidFill>
            <a:srgbClr val="CB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871209" y="2397415"/>
            <a:ext cx="5639435"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2、通过“四个自主”标准实现融能的项目，</a:t>
            </a:r>
            <a:r>
              <a:rPr sz="994" b="1" i="0">
                <a:solidFill>
                  <a:srgbClr val="C00000"/>
                </a:solidFill>
                <a:latin typeface="Microsoft YaHei"/>
              </a:rPr>
              <a:t>在售前阶段按DICT项目管理要求执行，发起项目预决策</a:t>
            </a:r>
          </a:p>
        </p:txBody>
      </p:sp>
      <p:sp>
        <p:nvSpPr>
          <p:cNvPr id="88" name="Rectangle 87"/>
          <p:cNvSpPr/>
          <p:nvPr/>
        </p:nvSpPr>
        <p:spPr>
          <a:xfrm>
            <a:off x="4924742" y="4010555"/>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931092" y="400420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90" name="Rectangle 89"/>
          <p:cNvSpPr/>
          <p:nvPr/>
        </p:nvSpPr>
        <p:spPr>
          <a:xfrm>
            <a:off x="5866447" y="3934355"/>
            <a:ext cx="3265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872797" y="3928005"/>
            <a:ext cx="3299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1、完成订单录入、选择物料进行报价封装、销售订单审批</a:t>
            </a:r>
          </a:p>
        </p:txBody>
      </p:sp>
      <p:sp>
        <p:nvSpPr>
          <p:cNvPr id="92" name="Rectangle 91"/>
          <p:cNvSpPr/>
          <p:nvPr/>
        </p:nvSpPr>
        <p:spPr>
          <a:xfrm>
            <a:off x="5866447" y="4083975"/>
            <a:ext cx="237617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872797" y="4077625"/>
            <a:ext cx="2410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a:t>
            </a:r>
            <a:r>
              <a:rPr sz="994" b="1" i="0">
                <a:solidFill>
                  <a:srgbClr val="C00000"/>
                </a:solidFill>
                <a:latin typeface="Microsoft YaHei"/>
              </a:rPr>
              <a:t>发起甄选委托单，完成甄选委托单审批</a:t>
            </a:r>
          </a:p>
        </p:txBody>
      </p:sp>
      <p:sp>
        <p:nvSpPr>
          <p:cNvPr id="94" name="Rectangle 93"/>
          <p:cNvSpPr/>
          <p:nvPr/>
        </p:nvSpPr>
        <p:spPr>
          <a:xfrm>
            <a:off x="2294254" y="4809780"/>
            <a:ext cx="212598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300604" y="480343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差异点4：产创中心全面负责属地“集</a:t>
            </a:r>
          </a:p>
        </p:txBody>
      </p:sp>
      <p:sp>
        <p:nvSpPr>
          <p:cNvPr id="96" name="Rectangle 95"/>
          <p:cNvSpPr/>
          <p:nvPr/>
        </p:nvSpPr>
        <p:spPr>
          <a:xfrm>
            <a:off x="2294254" y="5038380"/>
            <a:ext cx="204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00604" y="5032030"/>
            <a:ext cx="208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成装维类”服务包交付阶段，组织项</a:t>
            </a:r>
          </a:p>
        </p:txBody>
      </p:sp>
      <p:sp>
        <p:nvSpPr>
          <p:cNvPr id="98" name="Rectangle 97"/>
          <p:cNvSpPr/>
          <p:nvPr/>
        </p:nvSpPr>
        <p:spPr>
          <a:xfrm>
            <a:off x="2294254" y="5266980"/>
            <a:ext cx="396874"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300604" y="5260630"/>
            <a:ext cx="431164"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目交付</a:t>
            </a:r>
          </a:p>
        </p:txBody>
      </p:sp>
      <p:sp>
        <p:nvSpPr>
          <p:cNvPr id="100" name="Rectangle 99"/>
          <p:cNvSpPr/>
          <p:nvPr/>
        </p:nvSpPr>
        <p:spPr>
          <a:xfrm>
            <a:off x="4924107" y="4850660"/>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930457" y="4844310"/>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102" name="Rectangle 101"/>
          <p:cNvSpPr/>
          <p:nvPr/>
        </p:nvSpPr>
        <p:spPr>
          <a:xfrm>
            <a:off x="5864542" y="4771680"/>
            <a:ext cx="4535170" cy="18318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870892" y="4765330"/>
            <a:ext cx="4569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a:t>
            </a:r>
            <a:r>
              <a:rPr sz="994" b="1" i="0">
                <a:solidFill>
                  <a:srgbClr val="C00000"/>
                </a:solidFill>
                <a:latin typeface="Microsoft YaHei"/>
              </a:rPr>
              <a:t>属地“集成装维类”服务包业务由产创中心全面支撑，负责组织合作伙伴交付</a:t>
            </a:r>
          </a:p>
        </p:txBody>
      </p:sp>
      <p:sp>
        <p:nvSpPr>
          <p:cNvPr id="104" name="Rectangle 103"/>
          <p:cNvSpPr/>
          <p:nvPr/>
        </p:nvSpPr>
        <p:spPr>
          <a:xfrm>
            <a:off x="5864542" y="4926860"/>
            <a:ext cx="4281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870892" y="4920510"/>
            <a:ext cx="4315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2、交付完成后，对交付过程材料、验收材料进行审核，在交付确认环节审批</a:t>
            </a:r>
          </a:p>
        </p:txBody>
      </p:sp>
      <p:sp>
        <p:nvSpPr>
          <p:cNvPr id="106" name="Rectangle 105"/>
          <p:cNvSpPr/>
          <p:nvPr/>
        </p:nvSpPr>
        <p:spPr>
          <a:xfrm>
            <a:off x="4987607" y="5246901"/>
            <a:ext cx="396875" cy="179647"/>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993957" y="5240551"/>
            <a:ext cx="431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a:t>
            </a:r>
          </a:p>
        </p:txBody>
      </p:sp>
      <p:sp>
        <p:nvSpPr>
          <p:cNvPr id="108" name="Rectangle 107"/>
          <p:cNvSpPr/>
          <p:nvPr/>
        </p:nvSpPr>
        <p:spPr>
          <a:xfrm>
            <a:off x="5864542" y="5167920"/>
            <a:ext cx="5678170" cy="183185"/>
          </a:xfrm>
          <a:prstGeom prst="rect">
            <a:avLst/>
          </a:prstGeom>
          <a:solidFill>
            <a:srgbClr val="CD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870892" y="5161570"/>
            <a:ext cx="5712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1、在产创中心审批后，视频部</a:t>
            </a:r>
            <a:r>
              <a:rPr sz="994" b="1" i="0">
                <a:solidFill>
                  <a:srgbClr val="C00000"/>
                </a:solidFill>
                <a:latin typeface="Microsoft YaHei"/>
              </a:rPr>
              <a:t>对交付过程材料、验收材料进行审核，并在集客大厅完成交付确认审批</a:t>
            </a:r>
          </a:p>
        </p:txBody>
      </p:sp>
      <p:sp>
        <p:nvSpPr>
          <p:cNvPr id="110" name="Rectangle 109"/>
          <p:cNvSpPr/>
          <p:nvPr/>
        </p:nvSpPr>
        <p:spPr>
          <a:xfrm>
            <a:off x="5864542" y="5320320"/>
            <a:ext cx="4968875" cy="183185"/>
          </a:xfrm>
          <a:prstGeom prst="rect">
            <a:avLst/>
          </a:prstGeom>
          <a:solidFill>
            <a:srgbClr val="D45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870892" y="5313970"/>
            <a:ext cx="5003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（若遇特殊情况，材料未及时反馈，订单需要视频部审核，需产创中心一把手邮件确认）</a:t>
            </a:r>
          </a:p>
        </p:txBody>
      </p:sp>
      <p:sp>
        <p:nvSpPr>
          <p:cNvPr id="112" name="Rectangle 111"/>
          <p:cNvSpPr/>
          <p:nvPr/>
        </p:nvSpPr>
        <p:spPr>
          <a:xfrm>
            <a:off x="4924425" y="6055255"/>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930775" y="604890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114" name="Rectangle 113"/>
          <p:cNvSpPr/>
          <p:nvPr/>
        </p:nvSpPr>
        <p:spPr>
          <a:xfrm>
            <a:off x="5864859" y="6052475"/>
            <a:ext cx="4408170" cy="183185"/>
          </a:xfrm>
          <a:prstGeom prst="rect">
            <a:avLst/>
          </a:prstGeom>
          <a:solidFill>
            <a:srgbClr val="FC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871209" y="6046125"/>
            <a:ext cx="4442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1、在系统提交项目材料，</a:t>
            </a:r>
            <a:r>
              <a:rPr sz="994" b="1" i="0">
                <a:solidFill>
                  <a:srgbClr val="C00000"/>
                </a:solidFill>
                <a:latin typeface="Microsoft YaHei"/>
              </a:rPr>
              <a:t>发起订单计收</a:t>
            </a:r>
            <a:r>
              <a:rPr sz="994" b="0" i="0">
                <a:solidFill>
                  <a:srgbClr val="000000"/>
                </a:solidFill>
                <a:latin typeface="Microsoft YaHei"/>
              </a:rPr>
              <a:t>，对业务真实性及交付材料真实性负责</a:t>
            </a:r>
          </a:p>
        </p:txBody>
      </p:sp>
      <p:sp>
        <p:nvSpPr>
          <p:cNvPr id="116" name="Rectangle 115"/>
          <p:cNvSpPr/>
          <p:nvPr/>
        </p:nvSpPr>
        <p:spPr>
          <a:xfrm>
            <a:off x="4924742" y="3170451"/>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931092" y="3164101"/>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a:t>
            </a:r>
          </a:p>
        </p:txBody>
      </p:sp>
      <p:sp>
        <p:nvSpPr>
          <p:cNvPr id="118" name="Rectangle 117"/>
          <p:cNvSpPr/>
          <p:nvPr/>
        </p:nvSpPr>
        <p:spPr>
          <a:xfrm>
            <a:off x="5866447" y="3094250"/>
            <a:ext cx="3265170"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872797" y="3087900"/>
            <a:ext cx="3299460"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1、核实业务订单信息与材料，需与售前沟通情况保持一致</a:t>
            </a:r>
          </a:p>
        </p:txBody>
      </p:sp>
      <p:sp>
        <p:nvSpPr>
          <p:cNvPr id="120" name="Rectangle 119"/>
          <p:cNvSpPr/>
          <p:nvPr/>
        </p:nvSpPr>
        <p:spPr>
          <a:xfrm>
            <a:off x="5866447" y="3243870"/>
            <a:ext cx="3519170" cy="183185"/>
          </a:xfrm>
          <a:prstGeom prst="rect">
            <a:avLst/>
          </a:prstGeom>
          <a:solidFill>
            <a:srgbClr val="797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872797" y="3237520"/>
            <a:ext cx="3553460" cy="192075"/>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2、根据订单情况对服务包进行额度分配，</a:t>
            </a:r>
            <a:r>
              <a:rPr sz="994" b="1" i="0">
                <a:solidFill>
                  <a:srgbClr val="C00000"/>
                </a:solidFill>
                <a:latin typeface="Microsoft YaHei"/>
              </a:rPr>
              <a:t>审核项目内容并接单</a:t>
            </a:r>
          </a:p>
        </p:txBody>
      </p:sp>
      <p:sp>
        <p:nvSpPr>
          <p:cNvPr id="122" name="Rectangle 121"/>
          <p:cNvSpPr/>
          <p:nvPr/>
        </p:nvSpPr>
        <p:spPr>
          <a:xfrm>
            <a:off x="2269489" y="3878870"/>
            <a:ext cx="212598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275839" y="387252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差异点3：产创中心发起属地“集成装</a:t>
            </a:r>
          </a:p>
        </p:txBody>
      </p:sp>
      <p:sp>
        <p:nvSpPr>
          <p:cNvPr id="124" name="Rectangle 123"/>
          <p:cNvSpPr/>
          <p:nvPr/>
        </p:nvSpPr>
        <p:spPr>
          <a:xfrm>
            <a:off x="2269489" y="4107470"/>
            <a:ext cx="1412875" cy="183185"/>
          </a:xfrm>
          <a:prstGeom prst="rect">
            <a:avLst/>
          </a:prstGeom>
          <a:solidFill>
            <a:srgbClr val="149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275839" y="4101120"/>
            <a:ext cx="1447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维类”服务包甄选委托单</a:t>
            </a:r>
          </a:p>
        </p:txBody>
      </p:sp>
      <p:sp>
        <p:nvSpPr>
          <p:cNvPr id="126" name="Rectangle 125"/>
          <p:cNvSpPr/>
          <p:nvPr/>
        </p:nvSpPr>
        <p:spPr>
          <a:xfrm>
            <a:off x="1157605" y="1901085"/>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163955" y="189473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售前沟通</a:t>
            </a:r>
          </a:p>
        </p:txBody>
      </p:sp>
      <p:sp>
        <p:nvSpPr>
          <p:cNvPr id="128" name="Rectangle 127"/>
          <p:cNvSpPr/>
          <p:nvPr/>
        </p:nvSpPr>
        <p:spPr>
          <a:xfrm>
            <a:off x="1030605" y="2925633"/>
            <a:ext cx="777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036955" y="291928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集客大厅接单</a:t>
            </a:r>
          </a:p>
        </p:txBody>
      </p:sp>
      <p:sp>
        <p:nvSpPr>
          <p:cNvPr id="130" name="Rectangle 129"/>
          <p:cNvSpPr/>
          <p:nvPr/>
        </p:nvSpPr>
        <p:spPr>
          <a:xfrm>
            <a:off x="1284605" y="5999261"/>
            <a:ext cx="269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290955" y="5992911"/>
            <a:ext cx="304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a:t>
            </a:r>
          </a:p>
        </p:txBody>
      </p:sp>
      <p:sp>
        <p:nvSpPr>
          <p:cNvPr id="132" name="Rectangle 131"/>
          <p:cNvSpPr/>
          <p:nvPr/>
        </p:nvSpPr>
        <p:spPr>
          <a:xfrm>
            <a:off x="1157605" y="4974727"/>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63955" y="4968377"/>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项目交付</a:t>
            </a:r>
          </a:p>
        </p:txBody>
      </p:sp>
      <p:sp>
        <p:nvSpPr>
          <p:cNvPr id="134" name="Rectangle 133"/>
          <p:cNvSpPr/>
          <p:nvPr/>
        </p:nvSpPr>
        <p:spPr>
          <a:xfrm>
            <a:off x="777240" y="3950180"/>
            <a:ext cx="1285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83590" y="3943830"/>
            <a:ext cx="1320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市场销售支撑系统下单</a:t>
            </a:r>
          </a:p>
        </p:txBody>
      </p:sp>
      <p:sp>
        <p:nvSpPr>
          <p:cNvPr id="136" name="Rectangle 135"/>
          <p:cNvSpPr/>
          <p:nvPr/>
        </p:nvSpPr>
        <p:spPr>
          <a:xfrm>
            <a:off x="2289175" y="5941350"/>
            <a:ext cx="212598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295525" y="5935000"/>
            <a:ext cx="216027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差异点5：产创中心对属地“集成装维</a:t>
            </a:r>
          </a:p>
        </p:txBody>
      </p:sp>
      <p:sp>
        <p:nvSpPr>
          <p:cNvPr id="138" name="Rectangle 137"/>
          <p:cNvSpPr/>
          <p:nvPr/>
        </p:nvSpPr>
        <p:spPr>
          <a:xfrm>
            <a:off x="2289175" y="6169950"/>
            <a:ext cx="1920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295525" y="6163600"/>
            <a:ext cx="195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008CFF"/>
                </a:solidFill>
                <a:latin typeface="Microsoft YaHei"/>
              </a:rPr>
              <a:t>类”服务包项目交付过程材料负责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8300" y="3473450"/>
            <a:ext cx="11430000" cy="327596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6576" y="3270503"/>
            <a:ext cx="4514088" cy="42976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7904" y="4304665"/>
            <a:ext cx="7620" cy="152400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jpg"/>
          <p:cNvPicPr>
            <a:picLocks noChangeAspect="1"/>
          </p:cNvPicPr>
          <p:nvPr/>
        </p:nvPicPr>
        <p:blipFill>
          <a:blip r:embed="rId3"/>
          <a:stretch>
            <a:fillRect/>
          </a:stretch>
        </p:blipFill>
        <p:spPr>
          <a:xfrm>
            <a:off x="0" y="0"/>
            <a:ext cx="12192000" cy="6858000"/>
          </a:xfrm>
          <a:prstGeom prst="rect">
            <a:avLst/>
          </a:prstGeom>
        </p:spPr>
      </p:pic>
      <p:pic>
        <p:nvPicPr>
          <p:cNvPr id="8" name="Picture 7" descr="image.jpg"/>
          <p:cNvPicPr>
            <a:picLocks noChangeAspect="1"/>
          </p:cNvPicPr>
          <p:nvPr/>
        </p:nvPicPr>
        <p:blipFill>
          <a:blip r:embed="rId4"/>
          <a:stretch>
            <a:fillRect/>
          </a:stretch>
        </p:blipFill>
        <p:spPr>
          <a:xfrm>
            <a:off x="126492" y="277368"/>
            <a:ext cx="341376" cy="467868"/>
          </a:xfrm>
          <a:prstGeom prst="rect">
            <a:avLst/>
          </a:prstGeom>
        </p:spPr>
      </p:pic>
      <p:pic>
        <p:nvPicPr>
          <p:cNvPr id="9" name="Picture 8" descr="image.jpg"/>
          <p:cNvPicPr>
            <a:picLocks noChangeAspect="1"/>
          </p:cNvPicPr>
          <p:nvPr/>
        </p:nvPicPr>
        <p:blipFill>
          <a:blip r:embed="rId5"/>
          <a:stretch>
            <a:fillRect/>
          </a:stretch>
        </p:blipFill>
        <p:spPr>
          <a:xfrm>
            <a:off x="9610343" y="230124"/>
            <a:ext cx="2581656" cy="557783"/>
          </a:xfrm>
          <a:prstGeom prst="rect">
            <a:avLst/>
          </a:prstGeom>
        </p:spPr>
      </p:pic>
      <p:pic>
        <p:nvPicPr>
          <p:cNvPr id="10" name="Picture 9" descr="image.jpg"/>
          <p:cNvPicPr>
            <a:picLocks noChangeAspect="1"/>
          </p:cNvPicPr>
          <p:nvPr/>
        </p:nvPicPr>
        <p:blipFill>
          <a:blip r:embed="rId6"/>
          <a:stretch>
            <a:fillRect/>
          </a:stretch>
        </p:blipFill>
        <p:spPr>
          <a:xfrm>
            <a:off x="10216895" y="365759"/>
            <a:ext cx="1784604" cy="288036"/>
          </a:xfrm>
          <a:prstGeom prst="rect">
            <a:avLst/>
          </a:prstGeom>
        </p:spPr>
      </p:pic>
      <p:sp>
        <p:nvSpPr>
          <p:cNvPr id="11" name="Rectangle 10"/>
          <p:cNvSpPr/>
          <p:nvPr/>
        </p:nvSpPr>
        <p:spPr>
          <a:xfrm>
            <a:off x="11854421" y="6655904"/>
            <a:ext cx="80061" cy="180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5</a:t>
            </a:r>
          </a:p>
        </p:txBody>
      </p:sp>
      <p:sp>
        <p:nvSpPr>
          <p:cNvPr id="13" name="Rectangle 12"/>
          <p:cNvSpPr/>
          <p:nvPr/>
        </p:nvSpPr>
        <p:spPr>
          <a:xfrm>
            <a:off x="699935" y="326061"/>
            <a:ext cx="5351132" cy="352373"/>
          </a:xfrm>
          <a:prstGeom prst="rect">
            <a:avLst/>
          </a:prstGeom>
          <a:solidFill>
            <a:srgbClr val="48A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6285" y="319711"/>
            <a:ext cx="5385422"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四、千里眼属地“集成装维类”服务包执行方案</a:t>
            </a:r>
          </a:p>
        </p:txBody>
      </p:sp>
      <p:sp>
        <p:nvSpPr>
          <p:cNvPr id="15" name="Rectangle 14"/>
          <p:cNvSpPr/>
          <p:nvPr/>
        </p:nvSpPr>
        <p:spPr>
          <a:xfrm>
            <a:off x="257175" y="888719"/>
            <a:ext cx="1031874" cy="28369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3525" y="882369"/>
            <a:ext cx="1066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背景说明：</a:t>
            </a:r>
          </a:p>
        </p:txBody>
      </p:sp>
      <p:sp>
        <p:nvSpPr>
          <p:cNvPr id="17" name="Rectangle 16"/>
          <p:cNvSpPr/>
          <p:nvPr/>
        </p:nvSpPr>
        <p:spPr>
          <a:xfrm>
            <a:off x="457200" y="1230045"/>
            <a:ext cx="6981190" cy="217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550" y="1223695"/>
            <a:ext cx="701548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①26年1月完成</a:t>
            </a:r>
            <a:r>
              <a:rPr sz="1200" b="1" i="0">
                <a:solidFill>
                  <a:srgbClr val="C00000"/>
                </a:solidFill>
                <a:latin typeface="Microsoft YaHei"/>
              </a:rPr>
              <a:t>首批25个“产品定制类”服务包</a:t>
            </a:r>
            <a:r>
              <a:rPr sz="1200" b="1" i="0">
                <a:solidFill>
                  <a:srgbClr val="008CFF"/>
                </a:solidFill>
                <a:latin typeface="Microsoft YaHei"/>
              </a:rPr>
              <a:t>立项，已于3月下旬完成集客大厅上架，</a:t>
            </a:r>
            <a:r>
              <a:rPr sz="1200" b="1" i="0">
                <a:solidFill>
                  <a:srgbClr val="C00000"/>
                </a:solidFill>
                <a:latin typeface="Microsoft YaHei"/>
              </a:rPr>
              <a:t>目前已开放订购</a:t>
            </a:r>
          </a:p>
        </p:txBody>
      </p:sp>
      <p:sp>
        <p:nvSpPr>
          <p:cNvPr id="19" name="Rectangle 18"/>
          <p:cNvSpPr/>
          <p:nvPr/>
        </p:nvSpPr>
        <p:spPr>
          <a:xfrm>
            <a:off x="457200" y="1504365"/>
            <a:ext cx="6666229" cy="217525"/>
          </a:xfrm>
          <a:prstGeom prst="rect">
            <a:avLst/>
          </a:prstGeom>
          <a:solidFill>
            <a:srgbClr val="FA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550" y="1498015"/>
            <a:ext cx="6700519"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②26年3月31日，数智安防等</a:t>
            </a:r>
            <a:r>
              <a:rPr sz="1200" b="1" i="0">
                <a:solidFill>
                  <a:srgbClr val="C00000"/>
                </a:solidFill>
                <a:latin typeface="Microsoft YaHei"/>
              </a:rPr>
              <a:t>2025年及之前上架的21个存量服务包已冻结</a:t>
            </a:r>
            <a:r>
              <a:rPr sz="1200" b="1" i="0">
                <a:solidFill>
                  <a:srgbClr val="008CFF"/>
                </a:solidFill>
                <a:latin typeface="Microsoft YaHei"/>
              </a:rPr>
              <a:t>，自3月31日起</a:t>
            </a:r>
            <a:r>
              <a:rPr sz="1200" b="1" i="0">
                <a:solidFill>
                  <a:srgbClr val="C00000"/>
                </a:solidFill>
                <a:latin typeface="Microsoft YaHei"/>
              </a:rPr>
              <a:t>暂停订购</a:t>
            </a:r>
          </a:p>
        </p:txBody>
      </p:sp>
      <p:sp>
        <p:nvSpPr>
          <p:cNvPr id="21" name="Rectangle 20"/>
          <p:cNvSpPr/>
          <p:nvPr/>
        </p:nvSpPr>
        <p:spPr>
          <a:xfrm>
            <a:off x="457200" y="1778685"/>
            <a:ext cx="5878830" cy="217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550" y="1772335"/>
            <a:ext cx="591312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③以上46个服务包均已沟通</a:t>
            </a:r>
            <a:r>
              <a:rPr sz="1200" b="1" i="0">
                <a:solidFill>
                  <a:srgbClr val="C00000"/>
                </a:solidFill>
                <a:latin typeface="Microsoft YaHei"/>
              </a:rPr>
              <a:t>省侧签署结算合同</a:t>
            </a:r>
            <a:r>
              <a:rPr sz="1200" b="1" i="0">
                <a:solidFill>
                  <a:srgbClr val="008CFF"/>
                </a:solidFill>
                <a:latin typeface="Microsoft YaHei"/>
              </a:rPr>
              <a:t>，目前已完成20省签约，其他省份已立项</a:t>
            </a:r>
          </a:p>
        </p:txBody>
      </p:sp>
      <p:sp>
        <p:nvSpPr>
          <p:cNvPr id="23" name="Rectangle 22"/>
          <p:cNvSpPr/>
          <p:nvPr/>
        </p:nvSpPr>
        <p:spPr>
          <a:xfrm>
            <a:off x="257175" y="2157449"/>
            <a:ext cx="1031874" cy="283693"/>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3525" y="2151099"/>
            <a:ext cx="1066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008CFF"/>
                </a:solidFill>
                <a:latin typeface="Microsoft YaHei"/>
              </a:rPr>
              <a:t>存在问题：</a:t>
            </a:r>
          </a:p>
        </p:txBody>
      </p:sp>
      <p:sp>
        <p:nvSpPr>
          <p:cNvPr id="25" name="Rectangle 24"/>
          <p:cNvSpPr/>
          <p:nvPr/>
        </p:nvSpPr>
        <p:spPr>
          <a:xfrm>
            <a:off x="457200" y="2498775"/>
            <a:ext cx="9262744" cy="21752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550" y="2492425"/>
            <a:ext cx="9297034"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①产创中心新规划属地“集成装维类”服务包，甄选合作伙伴并进行资费上架，因目前</a:t>
            </a:r>
            <a:r>
              <a:rPr sz="1200" b="1" i="0">
                <a:solidFill>
                  <a:srgbClr val="C00000"/>
                </a:solidFill>
                <a:latin typeface="Microsoft YaHei"/>
              </a:rPr>
              <a:t>业支系统改造困难，新服务包上架预计耗时3-4个月</a:t>
            </a:r>
          </a:p>
        </p:txBody>
      </p:sp>
      <p:sp>
        <p:nvSpPr>
          <p:cNvPr id="27" name="Rectangle 26"/>
          <p:cNvSpPr/>
          <p:nvPr/>
        </p:nvSpPr>
        <p:spPr>
          <a:xfrm>
            <a:off x="457200" y="2773095"/>
            <a:ext cx="8644890" cy="217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550" y="2766745"/>
            <a:ext cx="867918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②属地</a:t>
            </a:r>
            <a:r>
              <a:rPr sz="1200" b="1" i="0">
                <a:solidFill>
                  <a:srgbClr val="C00000"/>
                </a:solidFill>
                <a:latin typeface="Microsoft YaHei"/>
              </a:rPr>
              <a:t>新服务包上架</a:t>
            </a:r>
            <a:r>
              <a:rPr sz="1200" b="1" i="0">
                <a:solidFill>
                  <a:srgbClr val="008CFF"/>
                </a:solidFill>
                <a:latin typeface="Microsoft YaHei"/>
              </a:rPr>
              <a:t>，</a:t>
            </a:r>
            <a:r>
              <a:rPr sz="1200" b="1" i="0">
                <a:solidFill>
                  <a:srgbClr val="C00000"/>
                </a:solidFill>
                <a:latin typeface="Microsoft YaHei"/>
              </a:rPr>
              <a:t>需产创中心沟通省公司签署结算补充协议</a:t>
            </a:r>
            <a:r>
              <a:rPr sz="1200" b="0" i="0">
                <a:solidFill>
                  <a:srgbClr val="000000"/>
                </a:solidFill>
                <a:latin typeface="Microsoft YaHei"/>
              </a:rPr>
              <a:t>，</a:t>
            </a:r>
            <a:r>
              <a:rPr sz="1200" b="1" i="0">
                <a:solidFill>
                  <a:srgbClr val="008CFF"/>
                </a:solidFill>
                <a:latin typeface="Microsoft YaHei"/>
              </a:rPr>
              <a:t>将新服务包资费纳入结算合同后方可发展业务，预计耗时3个月</a:t>
            </a:r>
          </a:p>
        </p:txBody>
      </p:sp>
      <p:sp>
        <p:nvSpPr>
          <p:cNvPr id="29" name="Rectangle 28"/>
          <p:cNvSpPr/>
          <p:nvPr/>
        </p:nvSpPr>
        <p:spPr>
          <a:xfrm>
            <a:off x="4573270" y="3332796"/>
            <a:ext cx="3063874" cy="28369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9620" y="3326446"/>
            <a:ext cx="3098164" cy="292583"/>
          </a:xfrm>
          <a:prstGeom prst="rect">
            <a:avLst/>
          </a:prstGeom>
          <a:noFill/>
        </p:spPr>
        <p:txBody>
          <a:bodyPr wrap="none" lIns="0" rIns="0" tIns="0" bIns="0">
            <a:spAutoFit/>
          </a:bodyPr>
          <a:lstStyle/>
          <a:p>
            <a:pPr>
              <a:lnSpc>
                <a:spcPct val="100000"/>
              </a:lnSpc>
              <a:spcBef>
                <a:spcPts val="0"/>
              </a:spcBef>
              <a:spcAft>
                <a:spcPts val="0"/>
              </a:spcAft>
            </a:pPr>
            <a:r>
              <a:rPr sz="1594" b="1" i="0">
                <a:solidFill>
                  <a:srgbClr val="FFFFFF"/>
                </a:solidFill>
                <a:latin typeface="Microsoft YaHei"/>
              </a:rPr>
              <a:t>建议：设置千里眼存量包划转方案</a:t>
            </a:r>
          </a:p>
        </p:txBody>
      </p:sp>
      <p:sp>
        <p:nvSpPr>
          <p:cNvPr id="31" name="Rectangle 30"/>
          <p:cNvSpPr/>
          <p:nvPr/>
        </p:nvSpPr>
        <p:spPr>
          <a:xfrm>
            <a:off x="596265" y="4763250"/>
            <a:ext cx="4290059" cy="201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2615" y="4756900"/>
            <a:ext cx="43243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33" name="Rectangle 32"/>
          <p:cNvSpPr/>
          <p:nvPr/>
        </p:nvSpPr>
        <p:spPr>
          <a:xfrm>
            <a:off x="596265" y="5014710"/>
            <a:ext cx="3451859" cy="20161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2615" y="5008360"/>
            <a:ext cx="34861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甄选属地合作伙伴</a:t>
            </a:r>
            <a:r>
              <a:rPr sz="1105" b="0" i="0">
                <a:solidFill>
                  <a:srgbClr val="000000"/>
                </a:solidFill>
                <a:latin typeface="Microsoft YaHei"/>
              </a:rPr>
              <a:t>；视频部列席；</a:t>
            </a:r>
          </a:p>
        </p:txBody>
      </p:sp>
      <p:sp>
        <p:nvSpPr>
          <p:cNvPr id="35" name="Rectangle 34"/>
          <p:cNvSpPr/>
          <p:nvPr/>
        </p:nvSpPr>
        <p:spPr>
          <a:xfrm>
            <a:off x="596265" y="5269257"/>
            <a:ext cx="2753359" cy="19768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2615" y="5262907"/>
            <a:ext cx="2787649"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3、产创中心甄选属地合作伙伴，签约引入；</a:t>
            </a:r>
          </a:p>
        </p:txBody>
      </p:sp>
      <p:sp>
        <p:nvSpPr>
          <p:cNvPr id="37" name="Rectangle 36"/>
          <p:cNvSpPr/>
          <p:nvPr/>
        </p:nvSpPr>
        <p:spPr>
          <a:xfrm>
            <a:off x="596265" y="5520717"/>
            <a:ext cx="3032759" cy="19768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2615" y="5514367"/>
            <a:ext cx="3067049"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4、视频部负责配置集客大厅属地合作伙伴账号；</a:t>
            </a:r>
          </a:p>
        </p:txBody>
      </p:sp>
      <p:sp>
        <p:nvSpPr>
          <p:cNvPr id="39" name="Rectangle 38"/>
          <p:cNvSpPr/>
          <p:nvPr/>
        </p:nvSpPr>
        <p:spPr>
          <a:xfrm>
            <a:off x="2964179" y="4116755"/>
            <a:ext cx="473710" cy="21752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0529" y="4110405"/>
            <a:ext cx="5080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方案一</a:t>
            </a:r>
          </a:p>
        </p:txBody>
      </p:sp>
      <p:sp>
        <p:nvSpPr>
          <p:cNvPr id="41" name="Rectangle 40"/>
          <p:cNvSpPr/>
          <p:nvPr/>
        </p:nvSpPr>
        <p:spPr>
          <a:xfrm>
            <a:off x="8700769" y="4116755"/>
            <a:ext cx="473709" cy="21752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07119" y="4110405"/>
            <a:ext cx="5080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方案二</a:t>
            </a:r>
          </a:p>
        </p:txBody>
      </p:sp>
      <p:sp>
        <p:nvSpPr>
          <p:cNvPr id="43" name="Rectangle 42"/>
          <p:cNvSpPr/>
          <p:nvPr/>
        </p:nvSpPr>
        <p:spPr>
          <a:xfrm>
            <a:off x="898525" y="4416476"/>
            <a:ext cx="4740910" cy="217525"/>
          </a:xfrm>
          <a:prstGeom prst="rect">
            <a:avLst/>
          </a:prstGeom>
          <a:solidFill>
            <a:srgbClr val="C9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4875" y="4410126"/>
            <a:ext cx="4775200"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a:t>
            </a:r>
            <a:r>
              <a:rPr sz="1200" b="1" i="0">
                <a:solidFill>
                  <a:srgbClr val="008CFF"/>
                </a:solidFill>
                <a:latin typeface="Microsoft YaHei"/>
              </a:rPr>
              <a:t>，甄选属地合作伙伴支撑业务</a:t>
            </a:r>
          </a:p>
        </p:txBody>
      </p:sp>
      <p:sp>
        <p:nvSpPr>
          <p:cNvPr id="45" name="Rectangle 44"/>
          <p:cNvSpPr/>
          <p:nvPr/>
        </p:nvSpPr>
        <p:spPr>
          <a:xfrm>
            <a:off x="6490970" y="4416476"/>
            <a:ext cx="4893309" cy="217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7320" y="4410126"/>
            <a:ext cx="4927599" cy="226415"/>
          </a:xfrm>
          <a:prstGeom prst="rect">
            <a:avLst/>
          </a:prstGeom>
          <a:noFill/>
        </p:spPr>
        <p:txBody>
          <a:bodyPr wrap="none" lIns="0" rIns="0" tIns="0" bIns="0">
            <a:spAutoFit/>
          </a:bodyPr>
          <a:lstStyle/>
          <a:p>
            <a:pPr>
              <a:lnSpc>
                <a:spcPct val="100000"/>
              </a:lnSpc>
              <a:spcBef>
                <a:spcPts val="0"/>
              </a:spcBef>
              <a:spcAft>
                <a:spcPts val="0"/>
              </a:spcAft>
            </a:pPr>
            <a:r>
              <a:rPr sz="1200" b="1" i="0">
                <a:solidFill>
                  <a:srgbClr val="008CFF"/>
                </a:solidFill>
                <a:latin typeface="Microsoft YaHei"/>
              </a:rPr>
              <a:t>产创中心上会决策，</a:t>
            </a:r>
            <a:r>
              <a:rPr sz="1200" b="1" i="0">
                <a:solidFill>
                  <a:srgbClr val="C00000"/>
                </a:solidFill>
                <a:latin typeface="Microsoft YaHei"/>
              </a:rPr>
              <a:t>划转存量服务包资费，划转存量服务包剩余合同额度</a:t>
            </a:r>
          </a:p>
        </p:txBody>
      </p:sp>
      <p:sp>
        <p:nvSpPr>
          <p:cNvPr id="47" name="Rectangle 46"/>
          <p:cNvSpPr/>
          <p:nvPr/>
        </p:nvSpPr>
        <p:spPr>
          <a:xfrm>
            <a:off x="2657475" y="5757660"/>
            <a:ext cx="1081404" cy="20161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663825" y="5751310"/>
            <a:ext cx="111569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预计耗时：2个月</a:t>
            </a:r>
          </a:p>
        </p:txBody>
      </p:sp>
      <p:sp>
        <p:nvSpPr>
          <p:cNvPr id="49" name="Rectangle 48"/>
          <p:cNvSpPr/>
          <p:nvPr/>
        </p:nvSpPr>
        <p:spPr>
          <a:xfrm>
            <a:off x="6329679" y="4763250"/>
            <a:ext cx="4290059" cy="201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36029" y="4756900"/>
            <a:ext cx="43243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1、产创中心提交属地服务包规划，</a:t>
            </a:r>
            <a:r>
              <a:rPr sz="1105" b="1" i="0">
                <a:solidFill>
                  <a:srgbClr val="C00000"/>
                </a:solidFill>
                <a:latin typeface="Microsoft YaHei"/>
              </a:rPr>
              <a:t>划转千里眼存量包</a:t>
            </a:r>
            <a:r>
              <a:rPr sz="1105" b="0" i="0">
                <a:solidFill>
                  <a:srgbClr val="000000"/>
                </a:solidFill>
                <a:latin typeface="Microsoft YaHei"/>
              </a:rPr>
              <a:t>；视频部审核；</a:t>
            </a:r>
          </a:p>
        </p:txBody>
      </p:sp>
      <p:sp>
        <p:nvSpPr>
          <p:cNvPr id="51" name="Rectangle 50"/>
          <p:cNvSpPr/>
          <p:nvPr/>
        </p:nvSpPr>
        <p:spPr>
          <a:xfrm>
            <a:off x="6329679" y="5014710"/>
            <a:ext cx="5407659" cy="201611"/>
          </a:xfrm>
          <a:prstGeom prst="rect">
            <a:avLst/>
          </a:prstGeom>
          <a:solidFill>
            <a:srgbClr val="F3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36029" y="5008360"/>
            <a:ext cx="5441949" cy="210501"/>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2、产创中心上会决策</a:t>
            </a:r>
            <a:r>
              <a:rPr sz="1105" b="1" i="0">
                <a:solidFill>
                  <a:srgbClr val="C00000"/>
                </a:solidFill>
                <a:latin typeface="Microsoft YaHei"/>
              </a:rPr>
              <a:t>划转存量服务包剩余合同额度（相关物料同步划转至产创中心）</a:t>
            </a:r>
            <a:r>
              <a:rPr sz="1105" b="0" i="0">
                <a:solidFill>
                  <a:srgbClr val="000000"/>
                </a:solidFill>
                <a:latin typeface="Microsoft YaHei"/>
              </a:rPr>
              <a:t>；</a:t>
            </a:r>
          </a:p>
        </p:txBody>
      </p:sp>
      <p:sp>
        <p:nvSpPr>
          <p:cNvPr id="53" name="Rectangle 52"/>
          <p:cNvSpPr/>
          <p:nvPr/>
        </p:nvSpPr>
        <p:spPr>
          <a:xfrm>
            <a:off x="6329679" y="5269257"/>
            <a:ext cx="855345" cy="19768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36029" y="5262907"/>
            <a:ext cx="889635" cy="206572"/>
          </a:xfrm>
          <a:prstGeom prst="rect">
            <a:avLst/>
          </a:prstGeom>
          <a:noFill/>
        </p:spPr>
        <p:txBody>
          <a:bodyPr wrap="none" lIns="0" rIns="0" tIns="0" bIns="0">
            <a:spAutoFit/>
          </a:bodyPr>
          <a:lstStyle/>
          <a:p>
            <a:pPr>
              <a:lnSpc>
                <a:spcPct val="100000"/>
              </a:lnSpc>
              <a:spcBef>
                <a:spcPts val="0"/>
              </a:spcBef>
              <a:spcAft>
                <a:spcPts val="0"/>
              </a:spcAft>
            </a:pPr>
            <a:r>
              <a:rPr sz="1105" b="0" i="0">
                <a:solidFill>
                  <a:srgbClr val="000000"/>
                </a:solidFill>
                <a:latin typeface="Microsoft YaHei"/>
              </a:rPr>
              <a:t>视频部列席；</a:t>
            </a:r>
          </a:p>
        </p:txBody>
      </p:sp>
      <p:sp>
        <p:nvSpPr>
          <p:cNvPr id="55" name="Rectangle 54"/>
          <p:cNvSpPr/>
          <p:nvPr/>
        </p:nvSpPr>
        <p:spPr>
          <a:xfrm>
            <a:off x="8462009" y="5717020"/>
            <a:ext cx="1081404" cy="20161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68359" y="5710670"/>
            <a:ext cx="1115694" cy="210501"/>
          </a:xfrm>
          <a:prstGeom prst="rect">
            <a:avLst/>
          </a:prstGeom>
          <a:noFill/>
        </p:spPr>
        <p:txBody>
          <a:bodyPr wrap="none" lIns="0" rIns="0" tIns="0" bIns="0">
            <a:spAutoFit/>
          </a:bodyPr>
          <a:lstStyle/>
          <a:p>
            <a:pPr>
              <a:lnSpc>
                <a:spcPct val="100000"/>
              </a:lnSpc>
              <a:spcBef>
                <a:spcPts val="0"/>
              </a:spcBef>
              <a:spcAft>
                <a:spcPts val="0"/>
              </a:spcAft>
            </a:pPr>
            <a:r>
              <a:rPr sz="1105" b="1" i="0">
                <a:solidFill>
                  <a:srgbClr val="C00000"/>
                </a:solidFill>
                <a:latin typeface="Microsoft YaHei"/>
              </a:rPr>
              <a:t>预计耗时：1个月</a:t>
            </a:r>
          </a:p>
        </p:txBody>
      </p:sp>
      <p:sp>
        <p:nvSpPr>
          <p:cNvPr id="57" name="Rectangle 56"/>
          <p:cNvSpPr/>
          <p:nvPr/>
        </p:nvSpPr>
        <p:spPr>
          <a:xfrm>
            <a:off x="502284" y="3816160"/>
            <a:ext cx="112185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8634" y="3809810"/>
            <a:ext cx="112528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产创中心可根据属地供应商的情况选择方案一或者方案二开展存量服务包划转工作；划转后，主体责任同步划转给产创中心，视频部负管理责任</a:t>
            </a:r>
          </a:p>
        </p:txBody>
      </p:sp>
      <p:sp>
        <p:nvSpPr>
          <p:cNvPr id="59" name="Rectangle 58"/>
          <p:cNvSpPr/>
          <p:nvPr/>
        </p:nvSpPr>
        <p:spPr>
          <a:xfrm>
            <a:off x="2615564" y="6180745"/>
            <a:ext cx="6995795" cy="183185"/>
          </a:xfrm>
          <a:prstGeom prst="rect">
            <a:avLst/>
          </a:prstGeom>
          <a:solidFill>
            <a:srgbClr val="C9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621914" y="6174395"/>
            <a:ext cx="703008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因集团暂停受理IT改造需求，存量包划转初期，新订单由视频部代产创中心接单，业务责任归属产创中心，视频部负管理责任</a:t>
            </a:r>
          </a:p>
        </p:txBody>
      </p:sp>
      <p:sp>
        <p:nvSpPr>
          <p:cNvPr id="61" name="Rectangle 60"/>
          <p:cNvSpPr/>
          <p:nvPr/>
        </p:nvSpPr>
        <p:spPr>
          <a:xfrm>
            <a:off x="1719579" y="6409345"/>
            <a:ext cx="8788400"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725929" y="6402995"/>
            <a:ext cx="8822690"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视频部负责完成存量服务包在途订单的闭环并负业务责任；在途订单：省侧前期已下单或能提供早于26年3月31日的省客合同或决策纪要，且由视频部接单的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3"/>
          <a:stretch>
            <a:fillRect/>
          </a:stretch>
        </p:blipFill>
        <p:spPr>
          <a:xfrm>
            <a:off x="0" y="0"/>
            <a:ext cx="12192000" cy="6858000"/>
          </a:xfrm>
          <a:prstGeom prst="rect">
            <a:avLst/>
          </a:prstGeom>
        </p:spPr>
      </p:pic>
      <p:pic>
        <p:nvPicPr>
          <p:cNvPr id="5" name="Picture 4" descr="image.jpg"/>
          <p:cNvPicPr>
            <a:picLocks noChangeAspect="1"/>
          </p:cNvPicPr>
          <p:nvPr/>
        </p:nvPicPr>
        <p:blipFill>
          <a:blip r:embed="rId4"/>
          <a:stretch>
            <a:fillRect/>
          </a:stretch>
        </p:blipFill>
        <p:spPr>
          <a:xfrm>
            <a:off x="126492" y="277368"/>
            <a:ext cx="341376" cy="467868"/>
          </a:xfrm>
          <a:prstGeom prst="rect">
            <a:avLst/>
          </a:prstGeom>
        </p:spPr>
      </p:pic>
      <p:pic>
        <p:nvPicPr>
          <p:cNvPr id="6" name="Picture 5" descr="image.jpg"/>
          <p:cNvPicPr>
            <a:picLocks noChangeAspect="1"/>
          </p:cNvPicPr>
          <p:nvPr/>
        </p:nvPicPr>
        <p:blipFill>
          <a:blip r:embed="rId5"/>
          <a:stretch>
            <a:fillRect/>
          </a:stretch>
        </p:blipFill>
        <p:spPr>
          <a:xfrm>
            <a:off x="9610343" y="230124"/>
            <a:ext cx="2581656" cy="557783"/>
          </a:xfrm>
          <a:prstGeom prst="rect">
            <a:avLst/>
          </a:prstGeom>
        </p:spPr>
      </p:pic>
      <p:pic>
        <p:nvPicPr>
          <p:cNvPr id="7" name="Picture 6" descr="image.jpg"/>
          <p:cNvPicPr>
            <a:picLocks noChangeAspect="1"/>
          </p:cNvPicPr>
          <p:nvPr/>
        </p:nvPicPr>
        <p:blipFill>
          <a:blip r:embed="rId6"/>
          <a:stretch>
            <a:fillRect/>
          </a:stretch>
        </p:blipFill>
        <p:spPr>
          <a:xfrm>
            <a:off x="10216895" y="365759"/>
            <a:ext cx="1784604" cy="288036"/>
          </a:xfrm>
          <a:prstGeom prst="rect">
            <a:avLst/>
          </a:prstGeom>
        </p:spPr>
      </p:pic>
      <p:sp>
        <p:nvSpPr>
          <p:cNvPr id="8" name="Rectangle 7"/>
          <p:cNvSpPr/>
          <p:nvPr/>
        </p:nvSpPr>
        <p:spPr>
          <a:xfrm>
            <a:off x="11854421" y="6655904"/>
            <a:ext cx="80061" cy="180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6</a:t>
            </a:r>
          </a:p>
        </p:txBody>
      </p:sp>
      <p:sp>
        <p:nvSpPr>
          <p:cNvPr id="10" name="Rectangle 9"/>
          <p:cNvSpPr/>
          <p:nvPr/>
        </p:nvSpPr>
        <p:spPr>
          <a:xfrm>
            <a:off x="699935" y="326061"/>
            <a:ext cx="1795145" cy="3523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6285" y="319711"/>
            <a:ext cx="1829435"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五、下一步工作</a:t>
            </a:r>
          </a:p>
        </p:txBody>
      </p:sp>
      <p:sp>
        <p:nvSpPr>
          <p:cNvPr id="12" name="Rectangle 11"/>
          <p:cNvSpPr/>
          <p:nvPr/>
        </p:nvSpPr>
        <p:spPr>
          <a:xfrm>
            <a:off x="257175" y="898639"/>
            <a:ext cx="1159510" cy="318033"/>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3525" y="892289"/>
            <a:ext cx="11938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产创中心：</a:t>
            </a:r>
          </a:p>
        </p:txBody>
      </p:sp>
      <p:sp>
        <p:nvSpPr>
          <p:cNvPr id="14" name="Rectangle 13"/>
          <p:cNvSpPr/>
          <p:nvPr/>
        </p:nvSpPr>
        <p:spPr>
          <a:xfrm>
            <a:off x="457200" y="1239965"/>
            <a:ext cx="5612764" cy="25186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550" y="1233615"/>
            <a:ext cx="564705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①26年6月中旬前</a:t>
            </a:r>
            <a:r>
              <a:rPr sz="1405" b="1" i="0">
                <a:solidFill>
                  <a:srgbClr val="C00000"/>
                </a:solidFill>
                <a:latin typeface="Microsoft YaHei"/>
              </a:rPr>
              <a:t>按需完成属地服务包需求</a:t>
            </a:r>
            <a:r>
              <a:rPr sz="1405" b="1" i="0">
                <a:solidFill>
                  <a:srgbClr val="008CFF"/>
                </a:solidFill>
                <a:latin typeface="Microsoft YaHei"/>
              </a:rPr>
              <a:t>立项，6月底前完成上会决策</a:t>
            </a:r>
          </a:p>
        </p:txBody>
      </p:sp>
      <p:sp>
        <p:nvSpPr>
          <p:cNvPr id="16" name="Rectangle 15"/>
          <p:cNvSpPr/>
          <p:nvPr/>
        </p:nvSpPr>
        <p:spPr>
          <a:xfrm>
            <a:off x="457200" y="1560005"/>
            <a:ext cx="39287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3550" y="1553655"/>
            <a:ext cx="3963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②更新属地合作伙伴库，招募满足条件的合作伙伴</a:t>
            </a:r>
          </a:p>
        </p:txBody>
      </p:sp>
      <p:sp>
        <p:nvSpPr>
          <p:cNvPr id="18" name="Rectangle 17"/>
          <p:cNvSpPr/>
          <p:nvPr/>
        </p:nvSpPr>
        <p:spPr>
          <a:xfrm>
            <a:off x="457200" y="1880045"/>
            <a:ext cx="64179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550" y="1873695"/>
            <a:ext cx="64522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③组建属地服务包团队，对于订单审核、交付管理、供应链支付环节配置专业人员</a:t>
            </a:r>
          </a:p>
        </p:txBody>
      </p:sp>
      <p:sp>
        <p:nvSpPr>
          <p:cNvPr id="20" name="Rectangle 19"/>
          <p:cNvSpPr/>
          <p:nvPr/>
        </p:nvSpPr>
        <p:spPr>
          <a:xfrm>
            <a:off x="257175" y="2484869"/>
            <a:ext cx="930909" cy="3180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3525" y="2478519"/>
            <a:ext cx="9652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视频部：</a:t>
            </a:r>
          </a:p>
        </p:txBody>
      </p:sp>
      <p:sp>
        <p:nvSpPr>
          <p:cNvPr id="22" name="Rectangle 21"/>
          <p:cNvSpPr/>
          <p:nvPr/>
        </p:nvSpPr>
        <p:spPr>
          <a:xfrm>
            <a:off x="457200" y="2826195"/>
            <a:ext cx="46399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550" y="2819845"/>
            <a:ext cx="46742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①支撑产创中心</a:t>
            </a:r>
            <a:r>
              <a:rPr sz="1405" b="1" i="0">
                <a:solidFill>
                  <a:srgbClr val="C00000"/>
                </a:solidFill>
                <a:latin typeface="Microsoft YaHei"/>
              </a:rPr>
              <a:t>属地服务包规划，做好存量服务包划转计划</a:t>
            </a:r>
          </a:p>
        </p:txBody>
      </p:sp>
      <p:sp>
        <p:nvSpPr>
          <p:cNvPr id="24" name="Rectangle 23"/>
          <p:cNvSpPr/>
          <p:nvPr/>
        </p:nvSpPr>
        <p:spPr>
          <a:xfrm>
            <a:off x="457200" y="3146235"/>
            <a:ext cx="1617345"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3550" y="3139885"/>
            <a:ext cx="1651635"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②完成在途项目闭环</a:t>
            </a:r>
          </a:p>
        </p:txBody>
      </p:sp>
      <p:sp>
        <p:nvSpPr>
          <p:cNvPr id="26" name="Rectangle 25"/>
          <p:cNvSpPr/>
          <p:nvPr/>
        </p:nvSpPr>
        <p:spPr>
          <a:xfrm>
            <a:off x="457200" y="3466275"/>
            <a:ext cx="4995544" cy="251865"/>
          </a:xfrm>
          <a:prstGeom prst="rect">
            <a:avLst/>
          </a:prstGeom>
          <a:solidFill>
            <a:srgbClr val="9AD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550" y="3459925"/>
            <a:ext cx="50298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③支撑产创中心相关业支系统账号配置，按需推动业支系统改造</a:t>
            </a:r>
          </a:p>
        </p:txBody>
      </p:sp>
      <p:sp>
        <p:nvSpPr>
          <p:cNvPr id="28" name="Rectangle 27"/>
          <p:cNvSpPr/>
          <p:nvPr/>
        </p:nvSpPr>
        <p:spPr>
          <a:xfrm>
            <a:off x="257809" y="4184764"/>
            <a:ext cx="1388110" cy="3180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4159" y="4178414"/>
            <a:ext cx="1422400" cy="326923"/>
          </a:xfrm>
          <a:prstGeom prst="rect">
            <a:avLst/>
          </a:prstGeom>
          <a:noFill/>
        </p:spPr>
        <p:txBody>
          <a:bodyPr wrap="none" lIns="0" rIns="0" tIns="0" bIns="0">
            <a:spAutoFit/>
          </a:bodyPr>
          <a:lstStyle/>
          <a:p>
            <a:pPr>
              <a:lnSpc>
                <a:spcPct val="100000"/>
              </a:lnSpc>
              <a:spcBef>
                <a:spcPts val="0"/>
              </a:spcBef>
              <a:spcAft>
                <a:spcPts val="0"/>
              </a:spcAft>
            </a:pPr>
            <a:r>
              <a:rPr sz="1800" b="1" i="0">
                <a:solidFill>
                  <a:srgbClr val="008CFF"/>
                </a:solidFill>
                <a:latin typeface="Microsoft YaHei"/>
              </a:rPr>
              <a:t>市场运营部：</a:t>
            </a:r>
          </a:p>
        </p:txBody>
      </p:sp>
      <p:sp>
        <p:nvSpPr>
          <p:cNvPr id="30" name="Rectangle 29"/>
          <p:cNvSpPr/>
          <p:nvPr/>
        </p:nvSpPr>
        <p:spPr>
          <a:xfrm>
            <a:off x="457834" y="4526090"/>
            <a:ext cx="2150745" cy="251865"/>
          </a:xfrm>
          <a:prstGeom prst="rect">
            <a:avLst/>
          </a:prstGeom>
          <a:solidFill>
            <a:srgbClr val="63B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184" y="4519740"/>
            <a:ext cx="2185035"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①负责服务包规划整体规则</a:t>
            </a:r>
          </a:p>
        </p:txBody>
      </p:sp>
      <p:sp>
        <p:nvSpPr>
          <p:cNvPr id="32" name="Rectangle 31"/>
          <p:cNvSpPr/>
          <p:nvPr/>
        </p:nvSpPr>
        <p:spPr>
          <a:xfrm>
            <a:off x="457834" y="4846130"/>
            <a:ext cx="42843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184" y="4839780"/>
            <a:ext cx="4318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008CFF"/>
                </a:solidFill>
                <a:latin typeface="Microsoft YaHei"/>
              </a:rPr>
              <a:t>②支撑内部合同划转和物料划转（负责沟通数智化部）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33372"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6260" y="112204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84832" y="17510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8354" y="1744979"/>
            <a:ext cx="15436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99753" y="2079624"/>
            <a:ext cx="101523"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84832" y="2351532"/>
            <a:ext cx="1531620"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78354" y="23452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1035" y="267521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86355" y="29519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80260" y="2945282"/>
            <a:ext cx="1543685" cy="336549"/>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1226" y="3275317"/>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6355" y="3552444"/>
            <a:ext cx="153009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9624" y="354535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0159" y="3875379"/>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84832" y="41513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78354" y="414543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00184" y="44697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84832" y="47518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78989" y="47455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88223" y="5075554"/>
            <a:ext cx="869276" cy="30162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06652" y="5376671"/>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400175" y="5370829"/>
            <a:ext cx="12769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044951" y="5829300"/>
            <a:ext cx="12649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038475" y="5822950"/>
            <a:ext cx="1276984"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844800" y="5075554"/>
            <a:ext cx="883246" cy="75374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06652" y="6435852"/>
            <a:ext cx="2962656"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00175" y="6428740"/>
            <a:ext cx="297497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86546" y="5701017"/>
            <a:ext cx="101536" cy="74359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26954" y="6153137"/>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85432" y="118205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64037"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866888" y="1127760"/>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0665" y="112204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19837"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398442" y="118205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25184" y="1090930"/>
            <a:ext cx="12700" cy="514349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8535" y="1770888"/>
            <a:ext cx="167487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2440" y="1764664"/>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885580" y="2099310"/>
            <a:ext cx="101536"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98535" y="2371344"/>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092440" y="2364739"/>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886876" y="2694901"/>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00059" y="2971800"/>
            <a:ext cx="167487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94344" y="2964814"/>
            <a:ext cx="1686560"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87066" y="3295002"/>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00059" y="3570732"/>
            <a:ext cx="1673352"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93709" y="3564890"/>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885999" y="3895064"/>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98535" y="4171188"/>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092440" y="4164965"/>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885390" y="4489437"/>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100059" y="4771644"/>
            <a:ext cx="1673352"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93075" y="4765040"/>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098535" y="5376671"/>
            <a:ext cx="1674876"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092440" y="5370829"/>
            <a:ext cx="1686559"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885275" y="5100320"/>
            <a:ext cx="101524" cy="27685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mage.jpg"/>
          <p:cNvPicPr>
            <a:picLocks noChangeAspect="1"/>
          </p:cNvPicPr>
          <p:nvPr/>
        </p:nvPicPr>
        <p:blipFill>
          <a:blip r:embed="rId3"/>
          <a:stretch>
            <a:fillRect/>
          </a:stretch>
        </p:blipFill>
        <p:spPr>
          <a:xfrm>
            <a:off x="0" y="0"/>
            <a:ext cx="12192000" cy="6858000"/>
          </a:xfrm>
          <a:prstGeom prst="rect">
            <a:avLst/>
          </a:prstGeom>
        </p:spPr>
      </p:pic>
      <p:pic>
        <p:nvPicPr>
          <p:cNvPr id="61" name="Picture 60" descr="image.jpg"/>
          <p:cNvPicPr>
            <a:picLocks noChangeAspect="1"/>
          </p:cNvPicPr>
          <p:nvPr/>
        </p:nvPicPr>
        <p:blipFill>
          <a:blip r:embed="rId4"/>
          <a:stretch>
            <a:fillRect/>
          </a:stretch>
        </p:blipFill>
        <p:spPr>
          <a:xfrm>
            <a:off x="126492" y="277368"/>
            <a:ext cx="341376" cy="467868"/>
          </a:xfrm>
          <a:prstGeom prst="rect">
            <a:avLst/>
          </a:prstGeom>
        </p:spPr>
      </p:pic>
      <p:pic>
        <p:nvPicPr>
          <p:cNvPr id="62" name="Picture 61" descr="image.jpg"/>
          <p:cNvPicPr>
            <a:picLocks noChangeAspect="1"/>
          </p:cNvPicPr>
          <p:nvPr/>
        </p:nvPicPr>
        <p:blipFill>
          <a:blip r:embed="rId5"/>
          <a:stretch>
            <a:fillRect/>
          </a:stretch>
        </p:blipFill>
        <p:spPr>
          <a:xfrm>
            <a:off x="9610343" y="230124"/>
            <a:ext cx="2581656" cy="557783"/>
          </a:xfrm>
          <a:prstGeom prst="rect">
            <a:avLst/>
          </a:prstGeom>
        </p:spPr>
      </p:pic>
      <p:pic>
        <p:nvPicPr>
          <p:cNvPr id="63" name="Picture 62" descr="image.jpg"/>
          <p:cNvPicPr>
            <a:picLocks noChangeAspect="1"/>
          </p:cNvPicPr>
          <p:nvPr/>
        </p:nvPicPr>
        <p:blipFill>
          <a:blip r:embed="rId6"/>
          <a:stretch>
            <a:fillRect/>
          </a:stretch>
        </p:blipFill>
        <p:spPr>
          <a:xfrm>
            <a:off x="10216895" y="365759"/>
            <a:ext cx="1784604" cy="288036"/>
          </a:xfrm>
          <a:prstGeom prst="rect">
            <a:avLst/>
          </a:prstGeom>
        </p:spPr>
      </p:pic>
      <p:sp>
        <p:nvSpPr>
          <p:cNvPr id="64" name="Rectangle 63"/>
          <p:cNvSpPr/>
          <p:nvPr/>
        </p:nvSpPr>
        <p:spPr>
          <a:xfrm>
            <a:off x="11854421" y="6655904"/>
            <a:ext cx="80061" cy="180072"/>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7</a:t>
            </a:r>
          </a:p>
        </p:txBody>
      </p:sp>
      <p:sp>
        <p:nvSpPr>
          <p:cNvPr id="66" name="Rectangle 65"/>
          <p:cNvSpPr/>
          <p:nvPr/>
        </p:nvSpPr>
        <p:spPr>
          <a:xfrm>
            <a:off x="2201545" y="1166305"/>
            <a:ext cx="1261744" cy="25186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07895" y="115995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服务包上架流程</a:t>
            </a:r>
          </a:p>
        </p:txBody>
      </p:sp>
      <p:sp>
        <p:nvSpPr>
          <p:cNvPr id="68" name="Rectangle 67"/>
          <p:cNvSpPr/>
          <p:nvPr/>
        </p:nvSpPr>
        <p:spPr>
          <a:xfrm>
            <a:off x="2526029" y="1818535"/>
            <a:ext cx="650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532379" y="181218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设计服务包</a:t>
            </a:r>
          </a:p>
        </p:txBody>
      </p:sp>
      <p:sp>
        <p:nvSpPr>
          <p:cNvPr id="70" name="Rectangle 69"/>
          <p:cNvSpPr/>
          <p:nvPr/>
        </p:nvSpPr>
        <p:spPr>
          <a:xfrm>
            <a:off x="2208529" y="2343198"/>
            <a:ext cx="1285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14879" y="233684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市场部等职能部门审核</a:t>
            </a:r>
          </a:p>
        </p:txBody>
      </p:sp>
      <p:sp>
        <p:nvSpPr>
          <p:cNvPr id="72" name="Rectangle 71"/>
          <p:cNvSpPr/>
          <p:nvPr/>
        </p:nvSpPr>
        <p:spPr>
          <a:xfrm>
            <a:off x="2526029" y="2495598"/>
            <a:ext cx="650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532379" y="2489248"/>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服务包规划</a:t>
            </a:r>
          </a:p>
        </p:txBody>
      </p:sp>
      <p:sp>
        <p:nvSpPr>
          <p:cNvPr id="74" name="Rectangle 73"/>
          <p:cNvSpPr/>
          <p:nvPr/>
        </p:nvSpPr>
        <p:spPr>
          <a:xfrm>
            <a:off x="2400935" y="3018838"/>
            <a:ext cx="904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07285" y="301248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公司领导决策会</a:t>
            </a:r>
          </a:p>
        </p:txBody>
      </p:sp>
      <p:sp>
        <p:nvSpPr>
          <p:cNvPr id="76" name="Rectangle 75"/>
          <p:cNvSpPr/>
          <p:nvPr/>
        </p:nvSpPr>
        <p:spPr>
          <a:xfrm>
            <a:off x="2463800" y="3618913"/>
            <a:ext cx="777874" cy="179647"/>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470150" y="361256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甄选合作伙伴</a:t>
            </a:r>
          </a:p>
        </p:txBody>
      </p:sp>
      <p:sp>
        <p:nvSpPr>
          <p:cNvPr id="78" name="Rectangle 77"/>
          <p:cNvSpPr/>
          <p:nvPr/>
        </p:nvSpPr>
        <p:spPr>
          <a:xfrm>
            <a:off x="2208529" y="4143423"/>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214879" y="413707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上架需求及甄选结果报</a:t>
            </a:r>
          </a:p>
        </p:txBody>
      </p:sp>
      <p:sp>
        <p:nvSpPr>
          <p:cNvPr id="80" name="Rectangle 79"/>
          <p:cNvSpPr/>
          <p:nvPr/>
        </p:nvSpPr>
        <p:spPr>
          <a:xfrm>
            <a:off x="2462529" y="4295823"/>
            <a:ext cx="777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468879" y="428947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集团政企审核</a:t>
            </a:r>
          </a:p>
        </p:txBody>
      </p:sp>
      <p:sp>
        <p:nvSpPr>
          <p:cNvPr id="82" name="Rectangle 81"/>
          <p:cNvSpPr/>
          <p:nvPr/>
        </p:nvSpPr>
        <p:spPr>
          <a:xfrm>
            <a:off x="2272664" y="4743498"/>
            <a:ext cx="1158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279014" y="4737148"/>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甄选结果及政企意见</a:t>
            </a:r>
          </a:p>
        </p:txBody>
      </p:sp>
      <p:sp>
        <p:nvSpPr>
          <p:cNvPr id="84" name="Rectangle 83"/>
          <p:cNvSpPr/>
          <p:nvPr/>
        </p:nvSpPr>
        <p:spPr>
          <a:xfrm>
            <a:off x="2399664" y="4895898"/>
            <a:ext cx="904874" cy="179647"/>
          </a:xfrm>
          <a:prstGeom prst="rect">
            <a:avLst/>
          </a:prstGeom>
          <a:solidFill>
            <a:srgbClr val="484D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406014" y="488954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报公司领导决策</a:t>
            </a:r>
          </a:p>
        </p:txBody>
      </p:sp>
      <p:sp>
        <p:nvSpPr>
          <p:cNvPr id="86" name="Rectangle 85"/>
          <p:cNvSpPr/>
          <p:nvPr/>
        </p:nvSpPr>
        <p:spPr>
          <a:xfrm>
            <a:off x="1651000" y="5444385"/>
            <a:ext cx="777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657350" y="543803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签署结算合同</a:t>
            </a:r>
          </a:p>
        </p:txBody>
      </p:sp>
      <p:sp>
        <p:nvSpPr>
          <p:cNvPr id="88" name="Rectangle 87"/>
          <p:cNvSpPr/>
          <p:nvPr/>
        </p:nvSpPr>
        <p:spPr>
          <a:xfrm>
            <a:off x="3162300" y="5820940"/>
            <a:ext cx="1031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168650" y="5814590"/>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业支改造，服务包</a:t>
            </a:r>
          </a:p>
        </p:txBody>
      </p:sp>
      <p:sp>
        <p:nvSpPr>
          <p:cNvPr id="90" name="Rectangle 89"/>
          <p:cNvSpPr/>
          <p:nvPr/>
        </p:nvSpPr>
        <p:spPr>
          <a:xfrm>
            <a:off x="3416300" y="5973340"/>
            <a:ext cx="523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422650" y="5966990"/>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资费上架</a:t>
            </a:r>
          </a:p>
        </p:txBody>
      </p:sp>
      <p:sp>
        <p:nvSpPr>
          <p:cNvPr id="92" name="Rectangle 91"/>
          <p:cNvSpPr/>
          <p:nvPr/>
        </p:nvSpPr>
        <p:spPr>
          <a:xfrm>
            <a:off x="2309495" y="6502295"/>
            <a:ext cx="1158875" cy="179647"/>
          </a:xfrm>
          <a:prstGeom prst="rect">
            <a:avLst/>
          </a:prstGeom>
          <a:solidFill>
            <a:srgbClr val="A5A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315845" y="6495945"/>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服务包具备销售条件</a:t>
            </a:r>
          </a:p>
        </p:txBody>
      </p:sp>
      <p:sp>
        <p:nvSpPr>
          <p:cNvPr id="94" name="Rectangle 93"/>
          <p:cNvSpPr/>
          <p:nvPr/>
        </p:nvSpPr>
        <p:spPr>
          <a:xfrm>
            <a:off x="699935" y="326073"/>
            <a:ext cx="4081144" cy="352373"/>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96" name="Rectangle 95"/>
          <p:cNvSpPr/>
          <p:nvPr/>
        </p:nvSpPr>
        <p:spPr>
          <a:xfrm>
            <a:off x="473709" y="185282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80059" y="184647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98" name="Rectangle 97"/>
          <p:cNvSpPr/>
          <p:nvPr/>
        </p:nvSpPr>
        <p:spPr>
          <a:xfrm>
            <a:off x="4541520" y="1726220"/>
            <a:ext cx="904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47870" y="1719870"/>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00" name="Rectangle 99"/>
          <p:cNvSpPr/>
          <p:nvPr/>
        </p:nvSpPr>
        <p:spPr>
          <a:xfrm>
            <a:off x="4668520" y="1878620"/>
            <a:ext cx="650875" cy="18318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674870" y="1872270"/>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视频部支撑</a:t>
            </a:r>
          </a:p>
        </p:txBody>
      </p:sp>
      <p:sp>
        <p:nvSpPr>
          <p:cNvPr id="102" name="Rectangle 101"/>
          <p:cNvSpPr/>
          <p:nvPr/>
        </p:nvSpPr>
        <p:spPr>
          <a:xfrm>
            <a:off x="4541520" y="2981615"/>
            <a:ext cx="904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47870" y="2975265"/>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04" name="Rectangle 103"/>
          <p:cNvSpPr/>
          <p:nvPr/>
        </p:nvSpPr>
        <p:spPr>
          <a:xfrm>
            <a:off x="4668520" y="3134015"/>
            <a:ext cx="650875" cy="18318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74870" y="3127665"/>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106" name="Rectangle 105"/>
          <p:cNvSpPr/>
          <p:nvPr/>
        </p:nvSpPr>
        <p:spPr>
          <a:xfrm>
            <a:off x="473709" y="302376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80059" y="301741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08" name="Rectangle 107"/>
          <p:cNvSpPr/>
          <p:nvPr/>
        </p:nvSpPr>
        <p:spPr>
          <a:xfrm>
            <a:off x="473709" y="419470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80059" y="41883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10" name="Rectangle 109"/>
          <p:cNvSpPr/>
          <p:nvPr/>
        </p:nvSpPr>
        <p:spPr>
          <a:xfrm>
            <a:off x="473709" y="4836690"/>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80059" y="483034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12" name="Rectangle 111"/>
          <p:cNvSpPr/>
          <p:nvPr/>
        </p:nvSpPr>
        <p:spPr>
          <a:xfrm>
            <a:off x="4617084" y="419470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623434" y="41883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14" name="Rectangle 113"/>
          <p:cNvSpPr/>
          <p:nvPr/>
        </p:nvSpPr>
        <p:spPr>
          <a:xfrm>
            <a:off x="4541520" y="4757075"/>
            <a:ext cx="904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547870" y="4750725"/>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16" name="Rectangle 115"/>
          <p:cNvSpPr/>
          <p:nvPr/>
        </p:nvSpPr>
        <p:spPr>
          <a:xfrm>
            <a:off x="4668520" y="4909475"/>
            <a:ext cx="650875" cy="183185"/>
          </a:xfrm>
          <a:prstGeom prst="rect">
            <a:avLst/>
          </a:prstGeom>
          <a:solidFill>
            <a:srgbClr val="C9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674870" y="4903125"/>
            <a:ext cx="685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视频部列席</a:t>
            </a:r>
          </a:p>
        </p:txBody>
      </p:sp>
      <p:sp>
        <p:nvSpPr>
          <p:cNvPr id="118" name="Rectangle 117"/>
          <p:cNvSpPr/>
          <p:nvPr/>
        </p:nvSpPr>
        <p:spPr>
          <a:xfrm>
            <a:off x="473709" y="5422160"/>
            <a:ext cx="650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80059" y="541581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20" name="Rectangle 119"/>
          <p:cNvSpPr/>
          <p:nvPr/>
        </p:nvSpPr>
        <p:spPr>
          <a:xfrm>
            <a:off x="473709" y="5876820"/>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80059" y="587047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22" name="Rectangle 121"/>
          <p:cNvSpPr/>
          <p:nvPr/>
        </p:nvSpPr>
        <p:spPr>
          <a:xfrm>
            <a:off x="431165" y="1217523"/>
            <a:ext cx="9309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37515" y="121117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124" name="Rectangle 123"/>
          <p:cNvSpPr/>
          <p:nvPr/>
        </p:nvSpPr>
        <p:spPr>
          <a:xfrm>
            <a:off x="4585970" y="1217523"/>
            <a:ext cx="778510"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92320" y="121117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126" name="Rectangle 125"/>
          <p:cNvSpPr/>
          <p:nvPr/>
        </p:nvSpPr>
        <p:spPr>
          <a:xfrm>
            <a:off x="7969250" y="1166305"/>
            <a:ext cx="17951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975599" y="1159955"/>
            <a:ext cx="18294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集客大厅订单受理流程</a:t>
            </a:r>
          </a:p>
        </p:txBody>
      </p:sp>
      <p:sp>
        <p:nvSpPr>
          <p:cNvPr id="128" name="Rectangle 127"/>
          <p:cNvSpPr/>
          <p:nvPr/>
        </p:nvSpPr>
        <p:spPr>
          <a:xfrm>
            <a:off x="6465570" y="1217523"/>
            <a:ext cx="9309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471920" y="121117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130" name="Rectangle 129"/>
          <p:cNvSpPr/>
          <p:nvPr/>
        </p:nvSpPr>
        <p:spPr>
          <a:xfrm>
            <a:off x="10620375" y="1217523"/>
            <a:ext cx="7785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0626725" y="121117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132" name="Rectangle 131"/>
          <p:cNvSpPr/>
          <p:nvPr/>
        </p:nvSpPr>
        <p:spPr>
          <a:xfrm>
            <a:off x="8294369" y="1762655"/>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300719" y="1756305"/>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网格售前：客户商机获</a:t>
            </a:r>
          </a:p>
        </p:txBody>
      </p:sp>
      <p:sp>
        <p:nvSpPr>
          <p:cNvPr id="134" name="Rectangle 133"/>
          <p:cNvSpPr/>
          <p:nvPr/>
        </p:nvSpPr>
        <p:spPr>
          <a:xfrm>
            <a:off x="8865869" y="1915055"/>
            <a:ext cx="142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872219" y="1908705"/>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取</a:t>
            </a:r>
          </a:p>
        </p:txBody>
      </p:sp>
      <p:sp>
        <p:nvSpPr>
          <p:cNvPr id="136" name="Rectangle 135"/>
          <p:cNvSpPr/>
          <p:nvPr/>
        </p:nvSpPr>
        <p:spPr>
          <a:xfrm>
            <a:off x="8230869" y="2362730"/>
            <a:ext cx="1412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237219" y="2356380"/>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网格销售经理和产品售前</a:t>
            </a:r>
          </a:p>
        </p:txBody>
      </p:sp>
      <p:sp>
        <p:nvSpPr>
          <p:cNvPr id="138" name="Rectangle 137"/>
          <p:cNvSpPr/>
          <p:nvPr/>
        </p:nvSpPr>
        <p:spPr>
          <a:xfrm>
            <a:off x="8421369" y="2515130"/>
            <a:ext cx="1031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8427719" y="2508780"/>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经理进行售前支撑</a:t>
            </a:r>
          </a:p>
        </p:txBody>
      </p:sp>
      <p:sp>
        <p:nvSpPr>
          <p:cNvPr id="140" name="Rectangle 139"/>
          <p:cNvSpPr/>
          <p:nvPr/>
        </p:nvSpPr>
        <p:spPr>
          <a:xfrm>
            <a:off x="8359775" y="3038370"/>
            <a:ext cx="1158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8366125" y="3032020"/>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签署售前沟通确认书</a:t>
            </a:r>
          </a:p>
        </p:txBody>
      </p:sp>
      <p:sp>
        <p:nvSpPr>
          <p:cNvPr id="142" name="Rectangle 141"/>
          <p:cNvSpPr/>
          <p:nvPr/>
        </p:nvSpPr>
        <p:spPr>
          <a:xfrm>
            <a:off x="8194675" y="3562880"/>
            <a:ext cx="148780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201025" y="3556530"/>
            <a:ext cx="152209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客户经理订购标品资费和</a:t>
            </a:r>
          </a:p>
        </p:txBody>
      </p:sp>
      <p:sp>
        <p:nvSpPr>
          <p:cNvPr id="144" name="Rectangle 143"/>
          <p:cNvSpPr/>
          <p:nvPr/>
        </p:nvSpPr>
        <p:spPr>
          <a:xfrm>
            <a:off x="8232140" y="3715280"/>
            <a:ext cx="1412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8238490" y="3708930"/>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服务包资费（集客大厅）</a:t>
            </a:r>
          </a:p>
        </p:txBody>
      </p:sp>
      <p:sp>
        <p:nvSpPr>
          <p:cNvPr id="146" name="Rectangle 145"/>
          <p:cNvSpPr/>
          <p:nvPr/>
        </p:nvSpPr>
        <p:spPr>
          <a:xfrm>
            <a:off x="8230869" y="4162955"/>
            <a:ext cx="1412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8237219" y="4156605"/>
            <a:ext cx="144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合作伙伴、地市业管、省</a:t>
            </a:r>
          </a:p>
        </p:txBody>
      </p:sp>
      <p:sp>
        <p:nvSpPr>
          <p:cNvPr id="148" name="Rectangle 147"/>
          <p:cNvSpPr/>
          <p:nvPr/>
        </p:nvSpPr>
        <p:spPr>
          <a:xfrm>
            <a:off x="8611869" y="4315355"/>
            <a:ext cx="650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8618219" y="430900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侧业管审批</a:t>
            </a:r>
          </a:p>
        </p:txBody>
      </p:sp>
      <p:sp>
        <p:nvSpPr>
          <p:cNvPr id="150" name="Rectangle 149"/>
          <p:cNvSpPr/>
          <p:nvPr/>
        </p:nvSpPr>
        <p:spPr>
          <a:xfrm>
            <a:off x="8485505" y="4838595"/>
            <a:ext cx="904875" cy="179647"/>
          </a:xfrm>
          <a:prstGeom prst="rect">
            <a:avLst/>
          </a:prstGeom>
          <a:solidFill>
            <a:srgbClr val="D9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8491855" y="4832245"/>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152" name="Rectangle 151"/>
          <p:cNvSpPr/>
          <p:nvPr/>
        </p:nvSpPr>
        <p:spPr>
          <a:xfrm>
            <a:off x="8675369" y="5444385"/>
            <a:ext cx="523875" cy="179647"/>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681719" y="543803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订单生效</a:t>
            </a:r>
          </a:p>
        </p:txBody>
      </p:sp>
      <p:sp>
        <p:nvSpPr>
          <p:cNvPr id="154" name="Rectangle 153"/>
          <p:cNvSpPr/>
          <p:nvPr/>
        </p:nvSpPr>
        <p:spPr>
          <a:xfrm>
            <a:off x="6605269" y="4836690"/>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11619" y="483034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56" name="Rectangle 155"/>
          <p:cNvSpPr/>
          <p:nvPr/>
        </p:nvSpPr>
        <p:spPr>
          <a:xfrm>
            <a:off x="6541769" y="185282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548119" y="184647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58" name="Rectangle 157"/>
          <p:cNvSpPr/>
          <p:nvPr/>
        </p:nvSpPr>
        <p:spPr>
          <a:xfrm>
            <a:off x="6478270" y="2404005"/>
            <a:ext cx="904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484620" y="2397655"/>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60" name="Rectangle 159"/>
          <p:cNvSpPr/>
          <p:nvPr/>
        </p:nvSpPr>
        <p:spPr>
          <a:xfrm>
            <a:off x="6605269" y="255640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611619" y="25500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视频部支撑</a:t>
            </a:r>
          </a:p>
        </p:txBody>
      </p:sp>
      <p:sp>
        <p:nvSpPr>
          <p:cNvPr id="162" name="Rectangle 161"/>
          <p:cNvSpPr/>
          <p:nvPr/>
        </p:nvSpPr>
        <p:spPr>
          <a:xfrm>
            <a:off x="6541769" y="300408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548119" y="299773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64" name="Rectangle 163"/>
          <p:cNvSpPr/>
          <p:nvPr/>
        </p:nvSpPr>
        <p:spPr>
          <a:xfrm>
            <a:off x="10620375" y="185282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0626725" y="184647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66" name="Rectangle 165"/>
          <p:cNvSpPr/>
          <p:nvPr/>
        </p:nvSpPr>
        <p:spPr>
          <a:xfrm>
            <a:off x="10620375" y="246028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0626725" y="24539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68" name="Rectangle 167"/>
          <p:cNvSpPr/>
          <p:nvPr/>
        </p:nvSpPr>
        <p:spPr>
          <a:xfrm>
            <a:off x="10620375" y="300408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0626725" y="299773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70" name="Rectangle 169"/>
          <p:cNvSpPr/>
          <p:nvPr/>
        </p:nvSpPr>
        <p:spPr>
          <a:xfrm>
            <a:off x="10658475" y="4757075"/>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0664825" y="475072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72" name="Rectangle 171"/>
          <p:cNvSpPr/>
          <p:nvPr/>
        </p:nvSpPr>
        <p:spPr>
          <a:xfrm>
            <a:off x="10277475" y="4909475"/>
            <a:ext cx="1539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283825" y="4903125"/>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（由于业支系统改造流程停</a:t>
            </a:r>
          </a:p>
        </p:txBody>
      </p:sp>
      <p:sp>
        <p:nvSpPr>
          <p:cNvPr id="174" name="Rectangle 173"/>
          <p:cNvSpPr/>
          <p:nvPr/>
        </p:nvSpPr>
        <p:spPr>
          <a:xfrm>
            <a:off x="10277475" y="5061875"/>
            <a:ext cx="1539875" cy="183185"/>
          </a:xfrm>
          <a:prstGeom prst="rect">
            <a:avLst/>
          </a:prstGeom>
          <a:solidFill>
            <a:srgbClr val="FB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283825" y="5055525"/>
            <a:ext cx="1574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滞，存量包划转初期，新订</a:t>
            </a:r>
          </a:p>
        </p:txBody>
      </p:sp>
      <p:sp>
        <p:nvSpPr>
          <p:cNvPr id="176" name="Rectangle 175"/>
          <p:cNvSpPr/>
          <p:nvPr/>
        </p:nvSpPr>
        <p:spPr>
          <a:xfrm>
            <a:off x="10213975" y="5214275"/>
            <a:ext cx="1666875" cy="18318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10220325" y="5207925"/>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单由视频部代产创中心接单）</a:t>
            </a:r>
          </a:p>
        </p:txBody>
      </p:sp>
      <p:sp>
        <p:nvSpPr>
          <p:cNvPr id="178" name="Rectangle 177"/>
          <p:cNvSpPr/>
          <p:nvPr/>
        </p:nvSpPr>
        <p:spPr>
          <a:xfrm>
            <a:off x="4617084" y="5876820"/>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623434" y="587047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80" name="Rectangle 179"/>
          <p:cNvSpPr/>
          <p:nvPr/>
        </p:nvSpPr>
        <p:spPr>
          <a:xfrm>
            <a:off x="4553584" y="541938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4559934" y="54130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33372"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6260" y="98869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84832" y="1618488"/>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8354" y="1611630"/>
            <a:ext cx="1543685"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99753" y="1946275"/>
            <a:ext cx="101523"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84832" y="22189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78354" y="221185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1035" y="254186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86355" y="2817876"/>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80260" y="281193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1226" y="3141967"/>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6355" y="3418332"/>
            <a:ext cx="1530096"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79624" y="341200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0159" y="3742029"/>
            <a:ext cx="101536"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8354" y="401208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00184" y="433640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84832" y="4619244"/>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78989" y="461215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5432"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403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6888" y="995172"/>
            <a:ext cx="1994916" cy="345947"/>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860665" y="988694"/>
            <a:ext cx="2007869" cy="359410"/>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1983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398442"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8535" y="19050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1898014"/>
            <a:ext cx="1543684" cy="336702"/>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13825" y="2232660"/>
            <a:ext cx="101536" cy="27177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249824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15120" y="2828251"/>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4344" y="309831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15311" y="3428352"/>
            <a:ext cx="101536" cy="276237"/>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0059" y="3704844"/>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3709" y="369839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14244" y="4028414"/>
            <a:ext cx="101537"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98535" y="4305300"/>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92440" y="429846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99549" y="49523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84832" y="5234940"/>
            <a:ext cx="1531620"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078354" y="52281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799549" y="5574652"/>
            <a:ext cx="101536" cy="2819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84832" y="5856732"/>
            <a:ext cx="1531620"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078354" y="5850407"/>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844164" y="1659585"/>
            <a:ext cx="6071197" cy="476501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814244" y="4665954"/>
            <a:ext cx="101537" cy="276250"/>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92440" y="493600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30009" y="3648709"/>
            <a:ext cx="1113790" cy="104330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08615" y="3648709"/>
            <a:ext cx="1056640" cy="104330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jpg"/>
          <p:cNvPicPr>
            <a:picLocks noChangeAspect="1"/>
          </p:cNvPicPr>
          <p:nvPr/>
        </p:nvPicPr>
        <p:blipFill>
          <a:blip r:embed="rId3"/>
          <a:stretch>
            <a:fillRect/>
          </a:stretch>
        </p:blipFill>
        <p:spPr>
          <a:xfrm>
            <a:off x="0" y="0"/>
            <a:ext cx="12192000" cy="6858000"/>
          </a:xfrm>
          <a:prstGeom prst="rect">
            <a:avLst/>
          </a:prstGeom>
        </p:spPr>
      </p:pic>
      <p:pic>
        <p:nvPicPr>
          <p:cNvPr id="52" name="Picture 51" descr="image.jpg"/>
          <p:cNvPicPr>
            <a:picLocks noChangeAspect="1"/>
          </p:cNvPicPr>
          <p:nvPr/>
        </p:nvPicPr>
        <p:blipFill>
          <a:blip r:embed="rId4"/>
          <a:stretch>
            <a:fillRect/>
          </a:stretch>
        </p:blipFill>
        <p:spPr>
          <a:xfrm>
            <a:off x="126492" y="277368"/>
            <a:ext cx="341376" cy="467868"/>
          </a:xfrm>
          <a:prstGeom prst="rect">
            <a:avLst/>
          </a:prstGeom>
        </p:spPr>
      </p:pic>
      <p:pic>
        <p:nvPicPr>
          <p:cNvPr id="53" name="Picture 52" descr="image.jpg"/>
          <p:cNvPicPr>
            <a:picLocks noChangeAspect="1"/>
          </p:cNvPicPr>
          <p:nvPr/>
        </p:nvPicPr>
        <p:blipFill>
          <a:blip r:embed="rId5"/>
          <a:stretch>
            <a:fillRect/>
          </a:stretch>
        </p:blipFill>
        <p:spPr>
          <a:xfrm>
            <a:off x="9610343" y="230124"/>
            <a:ext cx="2581656" cy="557783"/>
          </a:xfrm>
          <a:prstGeom prst="rect">
            <a:avLst/>
          </a:prstGeom>
        </p:spPr>
      </p:pic>
      <p:pic>
        <p:nvPicPr>
          <p:cNvPr id="54" name="Picture 53" descr="image.jpg"/>
          <p:cNvPicPr>
            <a:picLocks noChangeAspect="1"/>
          </p:cNvPicPr>
          <p:nvPr/>
        </p:nvPicPr>
        <p:blipFill>
          <a:blip r:embed="rId6"/>
          <a:stretch>
            <a:fillRect/>
          </a:stretch>
        </p:blipFill>
        <p:spPr>
          <a:xfrm>
            <a:off x="10216895" y="365759"/>
            <a:ext cx="1784604" cy="288036"/>
          </a:xfrm>
          <a:prstGeom prst="rect">
            <a:avLst/>
          </a:prstGeom>
        </p:spPr>
      </p:pic>
      <p:sp>
        <p:nvSpPr>
          <p:cNvPr id="55" name="Rectangle 54"/>
          <p:cNvSpPr/>
          <p:nvPr/>
        </p:nvSpPr>
        <p:spPr>
          <a:xfrm>
            <a:off x="11854421" y="6655904"/>
            <a:ext cx="80061" cy="180072"/>
          </a:xfrm>
          <a:prstGeom prst="rect">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8</a:t>
            </a:r>
          </a:p>
        </p:txBody>
      </p:sp>
      <p:sp>
        <p:nvSpPr>
          <p:cNvPr id="57" name="Rectangle 56"/>
          <p:cNvSpPr/>
          <p:nvPr/>
        </p:nvSpPr>
        <p:spPr>
          <a:xfrm>
            <a:off x="2201545" y="1032955"/>
            <a:ext cx="12617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07895" y="102660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59" name="Rectangle 58"/>
          <p:cNvSpPr/>
          <p:nvPr/>
        </p:nvSpPr>
        <p:spPr>
          <a:xfrm>
            <a:off x="2208529" y="1609620"/>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214879" y="1603270"/>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下销售订单（市场销售</a:t>
            </a:r>
          </a:p>
        </p:txBody>
      </p:sp>
      <p:sp>
        <p:nvSpPr>
          <p:cNvPr id="61" name="Rectangle 60"/>
          <p:cNvSpPr/>
          <p:nvPr/>
        </p:nvSpPr>
        <p:spPr>
          <a:xfrm>
            <a:off x="2526029" y="1762020"/>
            <a:ext cx="650874" cy="179647"/>
          </a:xfrm>
          <a:prstGeom prst="rect">
            <a:avLst/>
          </a:prstGeom>
          <a:solidFill>
            <a:srgbClr val="78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32379" y="175567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支撑系统）</a:t>
            </a:r>
          </a:p>
        </p:txBody>
      </p:sp>
      <p:sp>
        <p:nvSpPr>
          <p:cNvPr id="63" name="Rectangle 62"/>
          <p:cNvSpPr/>
          <p:nvPr/>
        </p:nvSpPr>
        <p:spPr>
          <a:xfrm>
            <a:off x="2462529" y="2285413"/>
            <a:ext cx="777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468879" y="2279063"/>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订单报价封装</a:t>
            </a:r>
          </a:p>
        </p:txBody>
      </p:sp>
      <p:sp>
        <p:nvSpPr>
          <p:cNvPr id="65" name="Rectangle 64"/>
          <p:cNvSpPr/>
          <p:nvPr/>
        </p:nvSpPr>
        <p:spPr>
          <a:xfrm>
            <a:off x="2400935" y="2885488"/>
            <a:ext cx="904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407285" y="2879138"/>
            <a:ext cx="939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发起甄选委托单</a:t>
            </a:r>
          </a:p>
        </p:txBody>
      </p:sp>
      <p:sp>
        <p:nvSpPr>
          <p:cNvPr id="67" name="Rectangle 66"/>
          <p:cNvSpPr/>
          <p:nvPr/>
        </p:nvSpPr>
        <p:spPr>
          <a:xfrm>
            <a:off x="2400300" y="3485563"/>
            <a:ext cx="904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06650" y="347921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甄选委托单审批</a:t>
            </a:r>
          </a:p>
        </p:txBody>
      </p:sp>
      <p:sp>
        <p:nvSpPr>
          <p:cNvPr id="69" name="Rectangle 68"/>
          <p:cNvSpPr/>
          <p:nvPr/>
        </p:nvSpPr>
        <p:spPr>
          <a:xfrm>
            <a:off x="2208529" y="4010073"/>
            <a:ext cx="1285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214879" y="400372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交付支撑部、采购部审</a:t>
            </a:r>
          </a:p>
        </p:txBody>
      </p:sp>
      <p:sp>
        <p:nvSpPr>
          <p:cNvPr id="71" name="Rectangle 70"/>
          <p:cNvSpPr/>
          <p:nvPr/>
        </p:nvSpPr>
        <p:spPr>
          <a:xfrm>
            <a:off x="2780029" y="4162473"/>
            <a:ext cx="142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86379" y="4156123"/>
            <a:ext cx="177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73" name="Rectangle 72"/>
          <p:cNvSpPr/>
          <p:nvPr/>
        </p:nvSpPr>
        <p:spPr>
          <a:xfrm>
            <a:off x="2209164" y="4610148"/>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215514" y="460379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订单审批完成，下发合</a:t>
            </a:r>
          </a:p>
        </p:txBody>
      </p:sp>
      <p:sp>
        <p:nvSpPr>
          <p:cNvPr id="75" name="Rectangle 74"/>
          <p:cNvSpPr/>
          <p:nvPr/>
        </p:nvSpPr>
        <p:spPr>
          <a:xfrm>
            <a:off x="2653664" y="4762548"/>
            <a:ext cx="396874" cy="179647"/>
          </a:xfrm>
          <a:prstGeom prst="rect">
            <a:avLst/>
          </a:prstGeom>
          <a:solidFill>
            <a:srgbClr val="B0BA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660014" y="4756198"/>
            <a:ext cx="431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作伙伴</a:t>
            </a:r>
          </a:p>
        </p:txBody>
      </p:sp>
      <p:sp>
        <p:nvSpPr>
          <p:cNvPr id="77" name="Rectangle 76"/>
          <p:cNvSpPr/>
          <p:nvPr/>
        </p:nvSpPr>
        <p:spPr>
          <a:xfrm>
            <a:off x="570865" y="2890415"/>
            <a:ext cx="650874"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77215" y="288406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79" name="Rectangle 78"/>
          <p:cNvSpPr/>
          <p:nvPr/>
        </p:nvSpPr>
        <p:spPr>
          <a:xfrm>
            <a:off x="570865" y="4703340"/>
            <a:ext cx="650874"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77215" y="469699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81" name="Rectangle 80"/>
          <p:cNvSpPr/>
          <p:nvPr/>
        </p:nvSpPr>
        <p:spPr>
          <a:xfrm>
            <a:off x="431165" y="1084173"/>
            <a:ext cx="930909" cy="213258"/>
          </a:xfrm>
          <a:prstGeom prst="rect">
            <a:avLst/>
          </a:prstGeom>
          <a:solidFill>
            <a:srgbClr val="F5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7515"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83" name="Rectangle 82"/>
          <p:cNvSpPr/>
          <p:nvPr/>
        </p:nvSpPr>
        <p:spPr>
          <a:xfrm>
            <a:off x="4585970" y="1084173"/>
            <a:ext cx="778510"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592320"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85" name="Rectangle 84"/>
          <p:cNvSpPr/>
          <p:nvPr/>
        </p:nvSpPr>
        <p:spPr>
          <a:xfrm>
            <a:off x="8235950" y="1032955"/>
            <a:ext cx="12617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242300" y="1026605"/>
            <a:ext cx="12960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订单及交付流程</a:t>
            </a:r>
          </a:p>
        </p:txBody>
      </p:sp>
      <p:sp>
        <p:nvSpPr>
          <p:cNvPr id="87" name="Rectangle 86"/>
          <p:cNvSpPr/>
          <p:nvPr/>
        </p:nvSpPr>
        <p:spPr>
          <a:xfrm>
            <a:off x="6465570" y="1084173"/>
            <a:ext cx="9309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71920"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89" name="Rectangle 88"/>
          <p:cNvSpPr/>
          <p:nvPr/>
        </p:nvSpPr>
        <p:spPr>
          <a:xfrm>
            <a:off x="10620375" y="1084173"/>
            <a:ext cx="7785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626725"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91" name="Rectangle 90"/>
          <p:cNvSpPr/>
          <p:nvPr/>
        </p:nvSpPr>
        <p:spPr>
          <a:xfrm>
            <a:off x="8540115" y="1971570"/>
            <a:ext cx="650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546465" y="196522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客户侧验收</a:t>
            </a:r>
          </a:p>
        </p:txBody>
      </p:sp>
      <p:sp>
        <p:nvSpPr>
          <p:cNvPr id="93" name="Rectangle 92"/>
          <p:cNvSpPr/>
          <p:nvPr/>
        </p:nvSpPr>
        <p:spPr>
          <a:xfrm>
            <a:off x="8222615" y="2496233"/>
            <a:ext cx="1285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228965" y="2489883"/>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地市移动发起交付确认</a:t>
            </a:r>
          </a:p>
        </p:txBody>
      </p:sp>
      <p:sp>
        <p:nvSpPr>
          <p:cNvPr id="95" name="Rectangle 94"/>
          <p:cNvSpPr/>
          <p:nvPr/>
        </p:nvSpPr>
        <p:spPr>
          <a:xfrm>
            <a:off x="8476615" y="2648633"/>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482965" y="2642283"/>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（集客大厅）</a:t>
            </a:r>
          </a:p>
        </p:txBody>
      </p:sp>
      <p:sp>
        <p:nvSpPr>
          <p:cNvPr id="97" name="Rectangle 96"/>
          <p:cNvSpPr/>
          <p:nvPr/>
        </p:nvSpPr>
        <p:spPr>
          <a:xfrm>
            <a:off x="8224519" y="3096308"/>
            <a:ext cx="1285875" cy="179647"/>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230869" y="308995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地市业管、省侧业管审</a:t>
            </a:r>
          </a:p>
        </p:txBody>
      </p:sp>
      <p:sp>
        <p:nvSpPr>
          <p:cNvPr id="99" name="Rectangle 98"/>
          <p:cNvSpPr/>
          <p:nvPr/>
        </p:nvSpPr>
        <p:spPr>
          <a:xfrm>
            <a:off x="8796019" y="3248708"/>
            <a:ext cx="142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02369" y="3242358"/>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批</a:t>
            </a:r>
          </a:p>
        </p:txBody>
      </p:sp>
      <p:sp>
        <p:nvSpPr>
          <p:cNvPr id="101" name="Rectangle 100"/>
          <p:cNvSpPr/>
          <p:nvPr/>
        </p:nvSpPr>
        <p:spPr>
          <a:xfrm>
            <a:off x="8249919" y="3771948"/>
            <a:ext cx="123380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256269" y="3765598"/>
            <a:ext cx="126809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  物联网公司审核材料</a:t>
            </a:r>
          </a:p>
        </p:txBody>
      </p:sp>
      <p:sp>
        <p:nvSpPr>
          <p:cNvPr id="103" name="Rectangle 102"/>
          <p:cNvSpPr/>
          <p:nvPr/>
        </p:nvSpPr>
        <p:spPr>
          <a:xfrm>
            <a:off x="8413115" y="4372023"/>
            <a:ext cx="904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419465" y="436567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物联网公司审批</a:t>
            </a:r>
          </a:p>
        </p:txBody>
      </p:sp>
      <p:sp>
        <p:nvSpPr>
          <p:cNvPr id="105" name="Rectangle 104"/>
          <p:cNvSpPr/>
          <p:nvPr/>
        </p:nvSpPr>
        <p:spPr>
          <a:xfrm>
            <a:off x="6541769" y="198617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548119" y="197982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07" name="Rectangle 106"/>
          <p:cNvSpPr/>
          <p:nvPr/>
        </p:nvSpPr>
        <p:spPr>
          <a:xfrm>
            <a:off x="507365" y="2270655"/>
            <a:ext cx="777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13715" y="226430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09" name="Rectangle 108"/>
          <p:cNvSpPr/>
          <p:nvPr/>
        </p:nvSpPr>
        <p:spPr>
          <a:xfrm>
            <a:off x="507365" y="1650895"/>
            <a:ext cx="777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13715" y="164454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1" name="Rectangle 110"/>
          <p:cNvSpPr/>
          <p:nvPr/>
        </p:nvSpPr>
        <p:spPr>
          <a:xfrm>
            <a:off x="570865" y="3479060"/>
            <a:ext cx="650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577215" y="347271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13" name="Rectangle 112"/>
          <p:cNvSpPr/>
          <p:nvPr/>
        </p:nvSpPr>
        <p:spPr>
          <a:xfrm>
            <a:off x="4585970" y="227065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592320" y="226430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5" name="Rectangle 114"/>
          <p:cNvSpPr/>
          <p:nvPr/>
        </p:nvSpPr>
        <p:spPr>
          <a:xfrm>
            <a:off x="4585970" y="165089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592320" y="164454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7" name="Rectangle 116"/>
          <p:cNvSpPr/>
          <p:nvPr/>
        </p:nvSpPr>
        <p:spPr>
          <a:xfrm>
            <a:off x="4585970" y="2887635"/>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592320" y="288128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19" name="Rectangle 118"/>
          <p:cNvSpPr/>
          <p:nvPr/>
        </p:nvSpPr>
        <p:spPr>
          <a:xfrm>
            <a:off x="4585970" y="470056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592320" y="469421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21" name="Rectangle 120"/>
          <p:cNvSpPr/>
          <p:nvPr/>
        </p:nvSpPr>
        <p:spPr>
          <a:xfrm>
            <a:off x="2399029" y="5301663"/>
            <a:ext cx="904875" cy="179647"/>
          </a:xfrm>
          <a:prstGeom prst="rect">
            <a:avLst/>
          </a:prstGeom>
          <a:solidFill>
            <a:srgbClr val="BDC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405379" y="5295313"/>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组织供应商交付</a:t>
            </a:r>
          </a:p>
        </p:txBody>
      </p:sp>
      <p:sp>
        <p:nvSpPr>
          <p:cNvPr id="123" name="Rectangle 122"/>
          <p:cNvSpPr/>
          <p:nvPr/>
        </p:nvSpPr>
        <p:spPr>
          <a:xfrm>
            <a:off x="570865" y="5276745"/>
            <a:ext cx="650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77215" y="527039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25" name="Rectangle 124"/>
          <p:cNvSpPr/>
          <p:nvPr/>
        </p:nvSpPr>
        <p:spPr>
          <a:xfrm>
            <a:off x="4585970" y="5273965"/>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592320" y="526761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27" name="Rectangle 126"/>
          <p:cNvSpPr/>
          <p:nvPr/>
        </p:nvSpPr>
        <p:spPr>
          <a:xfrm>
            <a:off x="2335529" y="5923963"/>
            <a:ext cx="1031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341879" y="5917613"/>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交付过程材料管理</a:t>
            </a:r>
          </a:p>
        </p:txBody>
      </p:sp>
      <p:sp>
        <p:nvSpPr>
          <p:cNvPr id="129" name="Rectangle 128"/>
          <p:cNvSpPr/>
          <p:nvPr/>
        </p:nvSpPr>
        <p:spPr>
          <a:xfrm>
            <a:off x="570865" y="5888885"/>
            <a:ext cx="650874"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77215" y="5882535"/>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31" name="Rectangle 130"/>
          <p:cNvSpPr/>
          <p:nvPr/>
        </p:nvSpPr>
        <p:spPr>
          <a:xfrm>
            <a:off x="4585970" y="5886105"/>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592320" y="5879755"/>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33" name="Rectangle 132"/>
          <p:cNvSpPr/>
          <p:nvPr/>
        </p:nvSpPr>
        <p:spPr>
          <a:xfrm>
            <a:off x="10620375" y="198617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626725" y="197982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35" name="Rectangle 134"/>
          <p:cNvSpPr/>
          <p:nvPr/>
        </p:nvSpPr>
        <p:spPr>
          <a:xfrm>
            <a:off x="6605269" y="3737505"/>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611619" y="3731155"/>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37" name="Rectangle 136"/>
          <p:cNvSpPr/>
          <p:nvPr/>
        </p:nvSpPr>
        <p:spPr>
          <a:xfrm>
            <a:off x="10620375" y="441632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626725" y="440997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视频部再审核</a:t>
            </a:r>
          </a:p>
        </p:txBody>
      </p:sp>
      <p:sp>
        <p:nvSpPr>
          <p:cNvPr id="139" name="Rectangle 138"/>
          <p:cNvSpPr/>
          <p:nvPr/>
        </p:nvSpPr>
        <p:spPr>
          <a:xfrm>
            <a:off x="10557509" y="3772190"/>
            <a:ext cx="904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563859" y="3765840"/>
            <a:ext cx="939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产创中心先审核</a:t>
            </a:r>
          </a:p>
        </p:txBody>
      </p:sp>
      <p:sp>
        <p:nvSpPr>
          <p:cNvPr id="141" name="Rectangle 140"/>
          <p:cNvSpPr/>
          <p:nvPr/>
        </p:nvSpPr>
        <p:spPr>
          <a:xfrm>
            <a:off x="8286115" y="5009563"/>
            <a:ext cx="1158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292465" y="5003213"/>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流程完结，次月出账</a:t>
            </a:r>
          </a:p>
        </p:txBody>
      </p:sp>
      <p:sp>
        <p:nvSpPr>
          <p:cNvPr id="143" name="Rectangle 142"/>
          <p:cNvSpPr/>
          <p:nvPr/>
        </p:nvSpPr>
        <p:spPr>
          <a:xfrm>
            <a:off x="6605269" y="4406160"/>
            <a:ext cx="650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6611619" y="439981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45" name="Rectangle 144"/>
          <p:cNvSpPr/>
          <p:nvPr/>
        </p:nvSpPr>
        <p:spPr>
          <a:xfrm>
            <a:off x="10055225" y="4727230"/>
            <a:ext cx="204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061575" y="4720880"/>
            <a:ext cx="208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（业支系统改造完成前，由产创中心</a:t>
            </a:r>
          </a:p>
        </p:txBody>
      </p:sp>
      <p:sp>
        <p:nvSpPr>
          <p:cNvPr id="147" name="Rectangle 146"/>
          <p:cNvSpPr/>
          <p:nvPr/>
        </p:nvSpPr>
        <p:spPr>
          <a:xfrm>
            <a:off x="10245725" y="4879630"/>
            <a:ext cx="1666875" cy="183185"/>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252075" y="4873280"/>
            <a:ext cx="1701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和视频部协同进行材料审核）</a:t>
            </a:r>
          </a:p>
        </p:txBody>
      </p:sp>
      <p:sp>
        <p:nvSpPr>
          <p:cNvPr id="149" name="Rectangle 148"/>
          <p:cNvSpPr/>
          <p:nvPr/>
        </p:nvSpPr>
        <p:spPr>
          <a:xfrm>
            <a:off x="699935" y="326073"/>
            <a:ext cx="4081144" cy="352373"/>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151" name="Rectangle 150"/>
          <p:cNvSpPr/>
          <p:nvPr/>
        </p:nvSpPr>
        <p:spPr>
          <a:xfrm>
            <a:off x="4585970" y="347628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592320" y="346993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9119" y="232409"/>
            <a:ext cx="9493249" cy="554355"/>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14007"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306887"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97379" y="1024127"/>
            <a:ext cx="1996439"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1664" y="1017905"/>
            <a:ext cx="2007869" cy="359409"/>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30551" y="1632204"/>
            <a:ext cx="1530095"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23439" y="1625752"/>
            <a:ext cx="1543685"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46120" y="1955761"/>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32076" y="2232660"/>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25345" y="2225827"/>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46120" y="256853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32076" y="2845307"/>
            <a:ext cx="1530096"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25345" y="283860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46120" y="318067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25345" y="345074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46120" y="3792816"/>
            <a:ext cx="101536" cy="27626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25345" y="406288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46120" y="4404956"/>
            <a:ext cx="101536" cy="276263"/>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125345" y="4675022"/>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59495" y="2901695"/>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53501" y="289554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75103" y="3225800"/>
            <a:ext cx="101536" cy="30035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59495" y="3526535"/>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53501" y="351975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75103" y="3850004"/>
            <a:ext cx="101536" cy="30035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59495" y="4149852"/>
            <a:ext cx="1531619" cy="324611"/>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53501" y="414395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71978" y="4474121"/>
            <a:ext cx="101536" cy="30234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59495" y="4774691"/>
            <a:ext cx="1531619" cy="3230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53501" y="476816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73782" y="5100230"/>
            <a:ext cx="101523" cy="29853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59495" y="5398008"/>
            <a:ext cx="1531619" cy="32461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53501" y="539236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872525" y="2572283"/>
            <a:ext cx="101523" cy="332155"/>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59495" y="165353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53501" y="1647139"/>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73629" y="1977237"/>
            <a:ext cx="101524" cy="300456"/>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59495" y="2278379"/>
            <a:ext cx="1531619" cy="323088"/>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53501" y="2271344"/>
            <a:ext cx="1543684" cy="336550"/>
          </a:xfrm>
          <a:prstGeom prst="rect">
            <a:avLst/>
          </a:prstGeom>
          <a:solidFill>
            <a:srgbClr val="417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927847" y="1024127"/>
            <a:ext cx="1994916" cy="347472"/>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921625" y="1017905"/>
            <a:ext cx="2007869" cy="359409"/>
          </a:xfrm>
          <a:prstGeom prst="rect">
            <a:avLst/>
          </a:prstGeom>
          <a:solidFill>
            <a:srgbClr val="00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76657" y="1048702"/>
            <a:ext cx="1219199"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355262" y="1048702"/>
            <a:ext cx="1219200" cy="2851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25184" y="1090930"/>
            <a:ext cx="12700" cy="4700269"/>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ge.jpg"/>
          <p:cNvPicPr>
            <a:picLocks noChangeAspect="1"/>
          </p:cNvPicPr>
          <p:nvPr/>
        </p:nvPicPr>
        <p:blipFill>
          <a:blip r:embed="rId3"/>
          <a:stretch>
            <a:fillRect/>
          </a:stretch>
        </p:blipFill>
        <p:spPr>
          <a:xfrm>
            <a:off x="0" y="0"/>
            <a:ext cx="12192000" cy="6858000"/>
          </a:xfrm>
          <a:prstGeom prst="rect">
            <a:avLst/>
          </a:prstGeom>
        </p:spPr>
      </p:pic>
      <p:pic>
        <p:nvPicPr>
          <p:cNvPr id="48" name="Picture 47" descr="image.jpg"/>
          <p:cNvPicPr>
            <a:picLocks noChangeAspect="1"/>
          </p:cNvPicPr>
          <p:nvPr/>
        </p:nvPicPr>
        <p:blipFill>
          <a:blip r:embed="rId4"/>
          <a:stretch>
            <a:fillRect/>
          </a:stretch>
        </p:blipFill>
        <p:spPr>
          <a:xfrm>
            <a:off x="126492" y="277368"/>
            <a:ext cx="341376" cy="467868"/>
          </a:xfrm>
          <a:prstGeom prst="rect">
            <a:avLst/>
          </a:prstGeom>
        </p:spPr>
      </p:pic>
      <p:pic>
        <p:nvPicPr>
          <p:cNvPr id="49" name="Picture 48" descr="image.jpg"/>
          <p:cNvPicPr>
            <a:picLocks noChangeAspect="1"/>
          </p:cNvPicPr>
          <p:nvPr/>
        </p:nvPicPr>
        <p:blipFill>
          <a:blip r:embed="rId5"/>
          <a:stretch>
            <a:fillRect/>
          </a:stretch>
        </p:blipFill>
        <p:spPr>
          <a:xfrm>
            <a:off x="9610343" y="230124"/>
            <a:ext cx="2581656" cy="557783"/>
          </a:xfrm>
          <a:prstGeom prst="rect">
            <a:avLst/>
          </a:prstGeom>
        </p:spPr>
      </p:pic>
      <p:pic>
        <p:nvPicPr>
          <p:cNvPr id="50" name="Picture 49" descr="image.jpg"/>
          <p:cNvPicPr>
            <a:picLocks noChangeAspect="1"/>
          </p:cNvPicPr>
          <p:nvPr/>
        </p:nvPicPr>
        <p:blipFill>
          <a:blip r:embed="rId6"/>
          <a:stretch>
            <a:fillRect/>
          </a:stretch>
        </p:blipFill>
        <p:spPr>
          <a:xfrm>
            <a:off x="10216895" y="365759"/>
            <a:ext cx="1784604" cy="288036"/>
          </a:xfrm>
          <a:prstGeom prst="rect">
            <a:avLst/>
          </a:prstGeom>
        </p:spPr>
      </p:pic>
      <p:sp>
        <p:nvSpPr>
          <p:cNvPr id="51" name="Rectangle 50"/>
          <p:cNvSpPr/>
          <p:nvPr/>
        </p:nvSpPr>
        <p:spPr>
          <a:xfrm>
            <a:off x="11854421" y="6655904"/>
            <a:ext cx="80061" cy="180072"/>
          </a:xfrm>
          <a:prstGeom prst="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860771" y="6649554"/>
            <a:ext cx="114351" cy="188962"/>
          </a:xfrm>
          <a:prstGeom prst="rect">
            <a:avLst/>
          </a:prstGeom>
          <a:noFill/>
        </p:spPr>
        <p:txBody>
          <a:bodyPr wrap="none" lIns="0" rIns="0" tIns="0" bIns="0">
            <a:spAutoFit/>
          </a:bodyPr>
          <a:lstStyle/>
          <a:p>
            <a:pPr>
              <a:lnSpc>
                <a:spcPct val="100000"/>
              </a:lnSpc>
              <a:spcBef>
                <a:spcPts val="0"/>
              </a:spcBef>
              <a:spcAft>
                <a:spcPts val="0"/>
              </a:spcAft>
            </a:pPr>
            <a:r>
              <a:rPr sz="900" b="1" i="0">
                <a:solidFill>
                  <a:srgbClr val="808080"/>
                </a:solidFill>
                <a:latin typeface="Microsoft YaHei"/>
              </a:rPr>
              <a:t>9</a:t>
            </a:r>
          </a:p>
        </p:txBody>
      </p:sp>
      <p:sp>
        <p:nvSpPr>
          <p:cNvPr id="53" name="Rectangle 52"/>
          <p:cNvSpPr/>
          <p:nvPr/>
        </p:nvSpPr>
        <p:spPr>
          <a:xfrm>
            <a:off x="459740" y="1084173"/>
            <a:ext cx="930909" cy="213258"/>
          </a:xfrm>
          <a:prstGeom prst="rect">
            <a:avLst/>
          </a:prstGeom>
          <a:solidFill>
            <a:srgbClr val="E8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6090" y="1077823"/>
            <a:ext cx="965199"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55" name="Rectangle 54"/>
          <p:cNvSpPr/>
          <p:nvPr/>
        </p:nvSpPr>
        <p:spPr>
          <a:xfrm>
            <a:off x="4528820" y="1084173"/>
            <a:ext cx="778510"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35170"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57" name="Rectangle 56"/>
          <p:cNvSpPr/>
          <p:nvPr/>
        </p:nvSpPr>
        <p:spPr>
          <a:xfrm>
            <a:off x="2533650" y="1062165"/>
            <a:ext cx="7283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40000" y="1055815"/>
            <a:ext cx="762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计收流程</a:t>
            </a:r>
          </a:p>
        </p:txBody>
      </p:sp>
      <p:sp>
        <p:nvSpPr>
          <p:cNvPr id="59" name="Rectangle 58"/>
          <p:cNvSpPr/>
          <p:nvPr/>
        </p:nvSpPr>
        <p:spPr>
          <a:xfrm>
            <a:off x="2507614" y="1699308"/>
            <a:ext cx="777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513964" y="1692958"/>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发起订单计收</a:t>
            </a:r>
          </a:p>
        </p:txBody>
      </p:sp>
      <p:sp>
        <p:nvSpPr>
          <p:cNvPr id="61" name="Rectangle 60"/>
          <p:cNvSpPr/>
          <p:nvPr/>
        </p:nvSpPr>
        <p:spPr>
          <a:xfrm>
            <a:off x="2255520" y="2223818"/>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61870" y="2217468"/>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订单所属部门审批（核</a:t>
            </a:r>
          </a:p>
        </p:txBody>
      </p:sp>
      <p:sp>
        <p:nvSpPr>
          <p:cNvPr id="63" name="Rectangle 62"/>
          <p:cNvSpPr/>
          <p:nvPr/>
        </p:nvSpPr>
        <p:spPr>
          <a:xfrm>
            <a:off x="2636520" y="2376218"/>
            <a:ext cx="523874"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42870" y="2369868"/>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算系统）</a:t>
            </a:r>
          </a:p>
        </p:txBody>
      </p:sp>
      <p:sp>
        <p:nvSpPr>
          <p:cNvPr id="65" name="Rectangle 64"/>
          <p:cNvSpPr/>
          <p:nvPr/>
        </p:nvSpPr>
        <p:spPr>
          <a:xfrm>
            <a:off x="2382520" y="2912158"/>
            <a:ext cx="1031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388870" y="2905808"/>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产品合规专员审批</a:t>
            </a:r>
          </a:p>
        </p:txBody>
      </p:sp>
      <p:sp>
        <p:nvSpPr>
          <p:cNvPr id="67" name="Rectangle 66"/>
          <p:cNvSpPr/>
          <p:nvPr/>
        </p:nvSpPr>
        <p:spPr>
          <a:xfrm>
            <a:off x="2446020" y="3524298"/>
            <a:ext cx="904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52370" y="3517948"/>
            <a:ext cx="939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交付支撑部审批</a:t>
            </a:r>
          </a:p>
        </p:txBody>
      </p:sp>
      <p:sp>
        <p:nvSpPr>
          <p:cNvPr id="69" name="Rectangle 68"/>
          <p:cNvSpPr/>
          <p:nvPr/>
        </p:nvSpPr>
        <p:spPr>
          <a:xfrm>
            <a:off x="2573020" y="4136438"/>
            <a:ext cx="650874"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579370" y="4130088"/>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财务部审批</a:t>
            </a:r>
          </a:p>
        </p:txBody>
      </p:sp>
      <p:sp>
        <p:nvSpPr>
          <p:cNvPr id="71" name="Rectangle 70"/>
          <p:cNvSpPr/>
          <p:nvPr/>
        </p:nvSpPr>
        <p:spPr>
          <a:xfrm>
            <a:off x="599440" y="2905020"/>
            <a:ext cx="650874"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05790" y="2898670"/>
            <a:ext cx="685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73" name="Rectangle 72"/>
          <p:cNvSpPr/>
          <p:nvPr/>
        </p:nvSpPr>
        <p:spPr>
          <a:xfrm>
            <a:off x="2636520" y="4748578"/>
            <a:ext cx="523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42870" y="4742228"/>
            <a:ext cx="558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计收完成</a:t>
            </a:r>
          </a:p>
        </p:txBody>
      </p:sp>
      <p:sp>
        <p:nvSpPr>
          <p:cNvPr id="75" name="Rectangle 74"/>
          <p:cNvSpPr/>
          <p:nvPr/>
        </p:nvSpPr>
        <p:spPr>
          <a:xfrm>
            <a:off x="535940" y="1743605"/>
            <a:ext cx="777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2290" y="1737255"/>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7" name="Rectangle 76"/>
          <p:cNvSpPr/>
          <p:nvPr/>
        </p:nvSpPr>
        <p:spPr>
          <a:xfrm>
            <a:off x="535940" y="2299230"/>
            <a:ext cx="777874"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2290" y="2292880"/>
            <a:ext cx="812164"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79" name="Rectangle 78"/>
          <p:cNvSpPr/>
          <p:nvPr/>
        </p:nvSpPr>
        <p:spPr>
          <a:xfrm>
            <a:off x="4528820" y="174360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35170"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1" name="Rectangle 80"/>
          <p:cNvSpPr/>
          <p:nvPr/>
        </p:nvSpPr>
        <p:spPr>
          <a:xfrm>
            <a:off x="4528820" y="229923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35170" y="229288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83" name="Rectangle 82"/>
          <p:cNvSpPr/>
          <p:nvPr/>
        </p:nvSpPr>
        <p:spPr>
          <a:xfrm>
            <a:off x="8410676" y="2969105"/>
            <a:ext cx="1031875" cy="179647"/>
          </a:xfrm>
          <a:prstGeom prst="rect">
            <a:avLst/>
          </a:prstGeom>
          <a:solidFill>
            <a:srgbClr val="E9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17026" y="2962755"/>
            <a:ext cx="1066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客户财务部门打款</a:t>
            </a:r>
          </a:p>
        </p:txBody>
      </p:sp>
      <p:sp>
        <p:nvSpPr>
          <p:cNvPr id="85" name="Rectangle 84"/>
          <p:cNvSpPr/>
          <p:nvPr/>
        </p:nvSpPr>
        <p:spPr>
          <a:xfrm>
            <a:off x="8347176" y="3593310"/>
            <a:ext cx="1158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353526" y="3586960"/>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业务部门核销应收单</a:t>
            </a:r>
          </a:p>
        </p:txBody>
      </p:sp>
      <p:sp>
        <p:nvSpPr>
          <p:cNvPr id="87" name="Rectangle 86"/>
          <p:cNvSpPr/>
          <p:nvPr/>
        </p:nvSpPr>
        <p:spPr>
          <a:xfrm>
            <a:off x="8283676" y="4141950"/>
            <a:ext cx="1285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290026" y="4135600"/>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根据回款情况向供应商</a:t>
            </a:r>
          </a:p>
        </p:txBody>
      </p:sp>
      <p:sp>
        <p:nvSpPr>
          <p:cNvPr id="89" name="Rectangle 88"/>
          <p:cNvSpPr/>
          <p:nvPr/>
        </p:nvSpPr>
        <p:spPr>
          <a:xfrm>
            <a:off x="8791676" y="4294350"/>
            <a:ext cx="269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798026" y="4288000"/>
            <a:ext cx="304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报账</a:t>
            </a:r>
          </a:p>
        </p:txBody>
      </p:sp>
      <p:sp>
        <p:nvSpPr>
          <p:cNvPr id="91" name="Rectangle 90"/>
          <p:cNvSpPr/>
          <p:nvPr/>
        </p:nvSpPr>
        <p:spPr>
          <a:xfrm>
            <a:off x="8347176" y="4841719"/>
            <a:ext cx="1158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53526" y="4835369"/>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财务部付款给供应商</a:t>
            </a:r>
          </a:p>
        </p:txBody>
      </p:sp>
      <p:sp>
        <p:nvSpPr>
          <p:cNvPr id="93" name="Rectangle 92"/>
          <p:cNvSpPr/>
          <p:nvPr/>
        </p:nvSpPr>
        <p:spPr>
          <a:xfrm>
            <a:off x="8664676" y="5465925"/>
            <a:ext cx="523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671026" y="5459575"/>
            <a:ext cx="558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流程结束</a:t>
            </a:r>
          </a:p>
        </p:txBody>
      </p:sp>
      <p:sp>
        <p:nvSpPr>
          <p:cNvPr id="95" name="Rectangle 94"/>
          <p:cNvSpPr/>
          <p:nvPr/>
        </p:nvSpPr>
        <p:spPr>
          <a:xfrm>
            <a:off x="8347176" y="1720695"/>
            <a:ext cx="1158875" cy="179647"/>
          </a:xfrm>
          <a:prstGeom prst="rect">
            <a:avLst/>
          </a:prstGeom>
          <a:solidFill>
            <a:srgbClr val="9CA6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353526" y="1714345"/>
            <a:ext cx="1193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开票、准备报账材料</a:t>
            </a:r>
          </a:p>
        </p:txBody>
      </p:sp>
      <p:sp>
        <p:nvSpPr>
          <p:cNvPr id="97" name="Rectangle 96"/>
          <p:cNvSpPr/>
          <p:nvPr/>
        </p:nvSpPr>
        <p:spPr>
          <a:xfrm>
            <a:off x="8283676" y="2269335"/>
            <a:ext cx="1285875" cy="179647"/>
          </a:xfrm>
          <a:prstGeom prst="rect">
            <a:avLst/>
          </a:prstGeom>
          <a:solidFill>
            <a:srgbClr val="DCE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290026" y="2262985"/>
            <a:ext cx="1320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递交报账材料，发起报</a:t>
            </a:r>
          </a:p>
        </p:txBody>
      </p:sp>
      <p:sp>
        <p:nvSpPr>
          <p:cNvPr id="99" name="Rectangle 98"/>
          <p:cNvSpPr/>
          <p:nvPr/>
        </p:nvSpPr>
        <p:spPr>
          <a:xfrm>
            <a:off x="8855176" y="2421735"/>
            <a:ext cx="142875" cy="179647"/>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861526" y="2415385"/>
            <a:ext cx="177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账</a:t>
            </a:r>
          </a:p>
        </p:txBody>
      </p:sp>
      <p:sp>
        <p:nvSpPr>
          <p:cNvPr id="101" name="Rectangle 100"/>
          <p:cNvSpPr/>
          <p:nvPr/>
        </p:nvSpPr>
        <p:spPr>
          <a:xfrm>
            <a:off x="8563609" y="1062165"/>
            <a:ext cx="728344" cy="251865"/>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569959" y="1055815"/>
            <a:ext cx="762634" cy="260755"/>
          </a:xfrm>
          <a:prstGeom prst="rect">
            <a:avLst/>
          </a:prstGeom>
          <a:noFill/>
        </p:spPr>
        <p:txBody>
          <a:bodyPr wrap="none" lIns="0" rIns="0" tIns="0" bIns="0">
            <a:spAutoFit/>
          </a:bodyPr>
          <a:lstStyle/>
          <a:p>
            <a:pPr>
              <a:lnSpc>
                <a:spcPct val="100000"/>
              </a:lnSpc>
              <a:spcBef>
                <a:spcPts val="0"/>
              </a:spcBef>
              <a:spcAft>
                <a:spcPts val="0"/>
              </a:spcAft>
            </a:pPr>
            <a:r>
              <a:rPr sz="1405" b="1" i="0">
                <a:solidFill>
                  <a:srgbClr val="FFFFFF"/>
                </a:solidFill>
                <a:latin typeface="Microsoft YaHei"/>
              </a:rPr>
              <a:t>结算流程</a:t>
            </a:r>
          </a:p>
        </p:txBody>
      </p:sp>
      <p:sp>
        <p:nvSpPr>
          <p:cNvPr id="103" name="Rectangle 102"/>
          <p:cNvSpPr/>
          <p:nvPr/>
        </p:nvSpPr>
        <p:spPr>
          <a:xfrm>
            <a:off x="6422390" y="1084173"/>
            <a:ext cx="9309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428740" y="1077823"/>
            <a:ext cx="9652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视频部服务包</a:t>
            </a:r>
          </a:p>
        </p:txBody>
      </p:sp>
      <p:sp>
        <p:nvSpPr>
          <p:cNvPr id="105" name="Rectangle 104"/>
          <p:cNvSpPr/>
          <p:nvPr/>
        </p:nvSpPr>
        <p:spPr>
          <a:xfrm>
            <a:off x="10577194" y="1084173"/>
            <a:ext cx="778509" cy="2132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583544" y="1077823"/>
            <a:ext cx="812800" cy="222148"/>
          </a:xfrm>
          <a:prstGeom prst="rect">
            <a:avLst/>
          </a:prstGeom>
          <a:noFill/>
        </p:spPr>
        <p:txBody>
          <a:bodyPr wrap="none" lIns="0" rIns="0" tIns="0" bIns="0">
            <a:spAutoFit/>
          </a:bodyPr>
          <a:lstStyle/>
          <a:p>
            <a:pPr>
              <a:lnSpc>
                <a:spcPct val="100000"/>
              </a:lnSpc>
              <a:spcBef>
                <a:spcPts val="0"/>
              </a:spcBef>
              <a:spcAft>
                <a:spcPts val="0"/>
              </a:spcAft>
            </a:pPr>
            <a:r>
              <a:rPr sz="1200" b="0" i="0">
                <a:solidFill>
                  <a:srgbClr val="000000"/>
                </a:solidFill>
                <a:latin typeface="Microsoft YaHei"/>
              </a:rPr>
              <a:t>属地服务包</a:t>
            </a:r>
          </a:p>
        </p:txBody>
      </p:sp>
      <p:sp>
        <p:nvSpPr>
          <p:cNvPr id="107" name="Rectangle 106"/>
          <p:cNvSpPr/>
          <p:nvPr/>
        </p:nvSpPr>
        <p:spPr>
          <a:xfrm>
            <a:off x="6657975" y="174360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664325"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09" name="Rectangle 108"/>
          <p:cNvSpPr/>
          <p:nvPr/>
        </p:nvSpPr>
        <p:spPr>
          <a:xfrm>
            <a:off x="6657975" y="231510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6664325" y="23087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1" name="Rectangle 110"/>
          <p:cNvSpPr/>
          <p:nvPr/>
        </p:nvSpPr>
        <p:spPr>
          <a:xfrm>
            <a:off x="6657975" y="358066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664325" y="357431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3" name="Rectangle 112"/>
          <p:cNvSpPr/>
          <p:nvPr/>
        </p:nvSpPr>
        <p:spPr>
          <a:xfrm>
            <a:off x="10577194" y="174360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83544" y="17372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5" name="Rectangle 114"/>
          <p:cNvSpPr/>
          <p:nvPr/>
        </p:nvSpPr>
        <p:spPr>
          <a:xfrm>
            <a:off x="10577194" y="2315105"/>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583544" y="2308755"/>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7" name="Rectangle 116"/>
          <p:cNvSpPr/>
          <p:nvPr/>
        </p:nvSpPr>
        <p:spPr>
          <a:xfrm>
            <a:off x="10577194" y="3580660"/>
            <a:ext cx="777875" cy="1796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0583544" y="3574310"/>
            <a:ext cx="812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产创中心负责</a:t>
            </a:r>
          </a:p>
        </p:txBody>
      </p:sp>
      <p:sp>
        <p:nvSpPr>
          <p:cNvPr id="119" name="Rectangle 118"/>
          <p:cNvSpPr/>
          <p:nvPr/>
        </p:nvSpPr>
        <p:spPr>
          <a:xfrm>
            <a:off x="6710680" y="4233440"/>
            <a:ext cx="650875" cy="179647"/>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6717030" y="4227090"/>
            <a:ext cx="685165" cy="188537"/>
          </a:xfrm>
          <a:prstGeom prst="rect">
            <a:avLst/>
          </a:prstGeom>
          <a:noFill/>
        </p:spPr>
        <p:txBody>
          <a:bodyPr wrap="none" lIns="0" rIns="0" tIns="0" bIns="0">
            <a:spAutoFit/>
          </a:bodyPr>
          <a:lstStyle/>
          <a:p>
            <a:pPr>
              <a:lnSpc>
                <a:spcPct val="100000"/>
              </a:lnSpc>
              <a:spcBef>
                <a:spcPts val="0"/>
              </a:spcBef>
              <a:spcAft>
                <a:spcPts val="0"/>
              </a:spcAft>
            </a:pPr>
            <a:r>
              <a:rPr sz="994" b="0" i="0">
                <a:solidFill>
                  <a:srgbClr val="000000"/>
                </a:solidFill>
                <a:latin typeface="Microsoft YaHei"/>
              </a:rPr>
              <a:t>视频部负责</a:t>
            </a:r>
          </a:p>
        </p:txBody>
      </p:sp>
      <p:sp>
        <p:nvSpPr>
          <p:cNvPr id="121" name="Rectangle 120"/>
          <p:cNvSpPr/>
          <p:nvPr/>
        </p:nvSpPr>
        <p:spPr>
          <a:xfrm>
            <a:off x="699935" y="326073"/>
            <a:ext cx="4081144" cy="352373"/>
          </a:xfrm>
          <a:prstGeom prst="rect">
            <a:avLst/>
          </a:prstGeom>
          <a:solidFill>
            <a:srgbClr val="008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706285" y="319723"/>
            <a:ext cx="4115434" cy="361263"/>
          </a:xfrm>
          <a:prstGeom prst="rect">
            <a:avLst/>
          </a:prstGeom>
          <a:noFill/>
        </p:spPr>
        <p:txBody>
          <a:bodyPr wrap="none" lIns="0" rIns="0" tIns="0" bIns="0">
            <a:spAutoFit/>
          </a:bodyPr>
          <a:lstStyle/>
          <a:p>
            <a:pPr>
              <a:lnSpc>
                <a:spcPct val="100000"/>
              </a:lnSpc>
              <a:spcBef>
                <a:spcPts val="0"/>
              </a:spcBef>
              <a:spcAft>
                <a:spcPts val="0"/>
              </a:spcAft>
            </a:pPr>
            <a:r>
              <a:rPr sz="2005" b="1" i="0">
                <a:solidFill>
                  <a:srgbClr val="FFFFFF"/>
                </a:solidFill>
                <a:latin typeface="Microsoft YaHei"/>
              </a:rPr>
              <a:t>附件：千里眼服务包业务责任对照表</a:t>
            </a:r>
          </a:p>
        </p:txBody>
      </p:sp>
      <p:sp>
        <p:nvSpPr>
          <p:cNvPr id="123" name="Rectangle 122"/>
          <p:cNvSpPr/>
          <p:nvPr/>
        </p:nvSpPr>
        <p:spPr>
          <a:xfrm>
            <a:off x="4528820" y="290224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535170" y="289589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
        <p:nvSpPr>
          <p:cNvPr id="125" name="Rectangle 124"/>
          <p:cNvSpPr/>
          <p:nvPr/>
        </p:nvSpPr>
        <p:spPr>
          <a:xfrm>
            <a:off x="10577194" y="4230660"/>
            <a:ext cx="777875" cy="18318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0583544" y="4224310"/>
            <a:ext cx="812165" cy="192075"/>
          </a:xfrm>
          <a:prstGeom prst="rect">
            <a:avLst/>
          </a:prstGeom>
          <a:noFill/>
        </p:spPr>
        <p:txBody>
          <a:bodyPr wrap="none" lIns="0" rIns="0" tIns="0" bIns="0">
            <a:spAutoFit/>
          </a:bodyPr>
          <a:lstStyle/>
          <a:p>
            <a:pPr>
              <a:lnSpc>
                <a:spcPct val="100000"/>
              </a:lnSpc>
              <a:spcBef>
                <a:spcPts val="0"/>
              </a:spcBef>
              <a:spcAft>
                <a:spcPts val="0"/>
              </a:spcAft>
            </a:pPr>
            <a:r>
              <a:rPr sz="994" b="1" i="0">
                <a:solidFill>
                  <a:srgbClr val="C00000"/>
                </a:solidFill>
                <a:latin typeface="Microsoft YaHei"/>
              </a:rPr>
              <a:t>产创中心负责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